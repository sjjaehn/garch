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3A934A1-0ABE-447B-9D28-3A02A5DD8A76}">
  <a:tblStyle styleId="{D3A934A1-0ABE-447B-9D28-3A02A5DD8A76}"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et.al"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t>Hierarchical Risk Parity</a:t>
            </a:r>
            <a:endParaRPr/>
          </a:p>
          <a:p>
            <a:pPr indent="0" lvl="0" marL="0" rtl="0" algn="l">
              <a:spcBef>
                <a:spcPts val="0"/>
              </a:spcBef>
              <a:spcAft>
                <a:spcPts val="0"/>
              </a:spcAft>
              <a:buNone/>
            </a:pPr>
            <a:r>
              <a:t/>
            </a:r>
            <a:endParaRPr/>
          </a:p>
        </p:txBody>
      </p:sp>
      <p:sp>
        <p:nvSpPr>
          <p:cNvPr id="91" name="Google Shape;9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90000"/>
              </a:lnSpc>
              <a:spcBef>
                <a:spcPts val="1000"/>
              </a:spcBef>
              <a:spcAft>
                <a:spcPts val="0"/>
              </a:spcAft>
              <a:buClr>
                <a:schemeClr val="dk1"/>
              </a:buClr>
              <a:buSzPts val="1100"/>
              <a:buFont typeface="Arial"/>
              <a:buNone/>
            </a:pPr>
            <a:r>
              <a:rPr lang="en-US">
                <a:solidFill>
                  <a:schemeClr val="dk1"/>
                </a:solidFill>
              </a:rPr>
              <a:t>das Ziel der risikobaiserten Portfoliooptimierung ist es Portfolios zu entwickeln, die das Risiko minimieren, indem sie hauptsächlich Risikokennzahlen verwenden und dabei auf konkrete Renditeschätzungen verzichten. </a:t>
            </a:r>
            <a:r>
              <a:rPr lang="en-US">
                <a:solidFill>
                  <a:srgbClr val="1F272E"/>
                </a:solidFill>
              </a:rPr>
              <a:t>Fol. </a:t>
            </a:r>
            <a:endParaRPr>
              <a:solidFill>
                <a:srgbClr val="1F272E"/>
              </a:solidFill>
            </a:endParaRPr>
          </a:p>
          <a:p>
            <a:pPr indent="0" lvl="0" marL="0" rtl="0" algn="l">
              <a:lnSpc>
                <a:spcPct val="90000"/>
              </a:lnSpc>
              <a:spcBef>
                <a:spcPts val="1000"/>
              </a:spcBef>
              <a:spcAft>
                <a:spcPts val="0"/>
              </a:spcAft>
              <a:buClr>
                <a:schemeClr val="dk1"/>
              </a:buClr>
              <a:buSzPts val="1100"/>
              <a:buFont typeface="Arial"/>
              <a:buNone/>
            </a:pPr>
            <a:r>
              <a:rPr lang="en-US"/>
              <a:t>risikobasierte Portfolioplanungsmodelle erleben gerade in der neueren </a:t>
            </a:r>
            <a:r>
              <a:rPr lang="en-US" sz="1000"/>
              <a:t>Zeit</a:t>
            </a:r>
            <a:r>
              <a:rPr lang="en-US"/>
              <a:t> eine große Verbreitung.  Die Motivation für diese Vorgehensweise liegt in der allgemein anerkannten Schwierigkeit Erwartungswerte, in einer ausreichenden Präzision zu schätzen, während risikobasierte Kennzahlen in der Regel weniger von der Schätzfehlerproblematik betroffen sind. </a:t>
            </a:r>
            <a:endParaRPr/>
          </a:p>
        </p:txBody>
      </p:sp>
      <p:sp>
        <p:nvSpPr>
          <p:cNvPr id="142" name="Google Shape;14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MVP: </a:t>
            </a:r>
            <a:endParaRPr/>
          </a:p>
          <a:p>
            <a:pPr indent="0" lvl="0" marL="0" rtl="0" algn="l">
              <a:spcBef>
                <a:spcPts val="0"/>
              </a:spcBef>
              <a:spcAft>
                <a:spcPts val="0"/>
              </a:spcAft>
              <a:buClr>
                <a:schemeClr val="dk1"/>
              </a:buClr>
              <a:buSzPts val="1100"/>
              <a:buFont typeface="Arial"/>
              <a:buNone/>
            </a:pPr>
            <a:r>
              <a:rPr lang="en-US"/>
              <a:t>Das Portfolio wird so strukturiert, dass die Gesamtvarianz, also das Gesamtrisiko des Portfolios, minimiert wird. Die Optimierung erfolgt über marginale Risikobeiträge. Behr </a:t>
            </a:r>
            <a:r>
              <a:rPr lang="en-US" u="sng">
                <a:solidFill>
                  <a:schemeClr val="hlink"/>
                </a:solidFill>
                <a:hlinkClick r:id="rId2"/>
              </a:rPr>
              <a:t>et.al</a:t>
            </a:r>
            <a:r>
              <a:rPr lang="en-US"/>
              <a:t>. haben bei ihrer empirischen Analyse festgestellt, dass das MVP i</a:t>
            </a:r>
            <a:r>
              <a:rPr lang="en-US">
                <a:solidFill>
                  <a:srgbClr val="1F272E"/>
                </a:solidFill>
              </a:rPr>
              <a:t>nsbesondere in volatilen Phasen positive Ergebnisse erzielen. </a:t>
            </a:r>
            <a:endParaRPr>
              <a:solidFill>
                <a:srgbClr val="1F272E"/>
              </a:solidFill>
            </a:endParaRPr>
          </a:p>
          <a:p>
            <a:pPr indent="0" lvl="0" marL="0" rtl="0" algn="l">
              <a:spcBef>
                <a:spcPts val="0"/>
              </a:spcBef>
              <a:spcAft>
                <a:spcPts val="0"/>
              </a:spcAft>
              <a:buClr>
                <a:schemeClr val="dk1"/>
              </a:buClr>
              <a:buSzPts val="1100"/>
              <a:buFont typeface="Arial"/>
              <a:buNone/>
            </a:pPr>
            <a:r>
              <a:t/>
            </a:r>
            <a:endParaRPr>
              <a:solidFill>
                <a:srgbClr val="1F272E"/>
              </a:solidFill>
            </a:endParaRPr>
          </a:p>
          <a:p>
            <a:pPr indent="0" lvl="0" marL="0" rtl="0" algn="l">
              <a:spcBef>
                <a:spcPts val="0"/>
              </a:spcBef>
              <a:spcAft>
                <a:spcPts val="0"/>
              </a:spcAft>
              <a:buClr>
                <a:schemeClr val="dk1"/>
              </a:buClr>
              <a:buSzPts val="1100"/>
              <a:buFont typeface="Arial"/>
              <a:buNone/>
            </a:pPr>
            <a:r>
              <a:rPr lang="en-US">
                <a:solidFill>
                  <a:srgbClr val="1F272E"/>
                </a:solidFill>
              </a:rPr>
              <a:t>Lee (2011) stellen fest, das dieses Portfolio im Vergleich zu anderen Portfolios am wenigsten diversifiziert und sehr konzentriert ist, und dass das MVP optimal ist, wenn die erwarteten Überschussrenditen aller Vermögenswerte identisch sind</a:t>
            </a:r>
            <a:endParaRPr/>
          </a:p>
          <a:p>
            <a:pPr indent="0" lvl="0" marL="0" rtl="0" algn="l">
              <a:spcBef>
                <a:spcPts val="0"/>
              </a:spcBef>
              <a:spcAft>
                <a:spcPts val="0"/>
              </a:spcAft>
              <a:buClr>
                <a:schemeClr val="dk1"/>
              </a:buClr>
              <a:buSzPts val="1100"/>
              <a:buFont typeface="Arial"/>
              <a:buNone/>
            </a:pPr>
            <a:r>
              <a:t/>
            </a:r>
            <a:endParaRPr sz="600"/>
          </a:p>
          <a:p>
            <a:pPr indent="0" lvl="0" marL="0" rtl="0" algn="l">
              <a:spcBef>
                <a:spcPts val="0"/>
              </a:spcBef>
              <a:spcAft>
                <a:spcPts val="0"/>
              </a:spcAft>
              <a:buClr>
                <a:schemeClr val="dk1"/>
              </a:buClr>
              <a:buSzPts val="1100"/>
              <a:buFont typeface="Arial"/>
              <a:buNone/>
            </a:pPr>
            <a:r>
              <a:rPr lang="en-US"/>
              <a:t>ERC:.</a:t>
            </a:r>
            <a:endParaRPr/>
          </a:p>
          <a:p>
            <a:pPr indent="0" lvl="0" marL="0" rtl="0" algn="l">
              <a:spcBef>
                <a:spcPts val="0"/>
              </a:spcBef>
              <a:spcAft>
                <a:spcPts val="0"/>
              </a:spcAft>
              <a:buClr>
                <a:schemeClr val="dk1"/>
              </a:buClr>
              <a:buSzPts val="1100"/>
              <a:buFont typeface="Arial"/>
              <a:buNone/>
            </a:pPr>
            <a:r>
              <a:rPr lang="en-US"/>
              <a:t>das Ziel, der ERC ist es, dass alle Assets gleich viel zum Gesamtrisiko beitragen. </a:t>
            </a:r>
            <a:r>
              <a:rPr lang="en-US">
                <a:solidFill>
                  <a:srgbClr val="1F272E"/>
                </a:solidFill>
              </a:rPr>
              <a:t>Optimierung über absolute Risikobeiträge</a:t>
            </a:r>
            <a:endParaRPr>
              <a:solidFill>
                <a:srgbClr val="1F272E"/>
              </a:solidFill>
            </a:endParaRPr>
          </a:p>
          <a:p>
            <a:pPr indent="0" lvl="0" marL="0" rtl="0" algn="l">
              <a:lnSpc>
                <a:spcPct val="105000"/>
              </a:lnSpc>
              <a:spcBef>
                <a:spcPts val="1200"/>
              </a:spcBef>
              <a:spcAft>
                <a:spcPts val="0"/>
              </a:spcAft>
              <a:buClr>
                <a:schemeClr val="dk1"/>
              </a:buClr>
              <a:buFont typeface="Arial"/>
              <a:buNone/>
            </a:pPr>
            <a:r>
              <a:rPr lang="en-US">
                <a:solidFill>
                  <a:srgbClr val="1F272E"/>
                </a:solidFill>
              </a:rPr>
              <a:t>Laut Chaves et al. bietet das ERC </a:t>
            </a:r>
            <a:r>
              <a:rPr lang="en-US">
                <a:solidFill>
                  <a:schemeClr val="dk1"/>
                </a:solidFill>
              </a:rPr>
              <a:t>eine bessere Diversifizierung in Bezug auf die Risikoallokation</a:t>
            </a:r>
            <a:r>
              <a:rPr lang="en-US">
                <a:solidFill>
                  <a:srgbClr val="1F272E"/>
                </a:solidFill>
              </a:rPr>
              <a:t>,  schlägt 1/N aber nicht immer</a:t>
            </a:r>
            <a:endParaRPr>
              <a:solidFill>
                <a:srgbClr val="1F272E"/>
              </a:solidFill>
            </a:endParaRPr>
          </a:p>
          <a:p>
            <a:pPr indent="0" lvl="0" marL="0" rtl="0" algn="l">
              <a:spcBef>
                <a:spcPts val="0"/>
              </a:spcBef>
              <a:spcAft>
                <a:spcPts val="0"/>
              </a:spcAft>
              <a:buClr>
                <a:schemeClr val="dk1"/>
              </a:buClr>
              <a:buSzPts val="1100"/>
              <a:buFont typeface="Arial"/>
              <a:buNone/>
            </a:pPr>
            <a:r>
              <a:rPr lang="en-US">
                <a:solidFill>
                  <a:schemeClr val="dk1"/>
                </a:solidFill>
              </a:rPr>
              <a:t>übertrifft jedoch deutlich MVP.</a:t>
            </a:r>
            <a:endParaRPr>
              <a:solidFill>
                <a:schemeClr val="dk1"/>
              </a:solidFill>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1/N: </a:t>
            </a:r>
            <a:endParaRPr/>
          </a:p>
          <a:p>
            <a:pPr indent="0" lvl="0" marL="0" rtl="0" algn="l">
              <a:spcBef>
                <a:spcPts val="0"/>
              </a:spcBef>
              <a:spcAft>
                <a:spcPts val="0"/>
              </a:spcAft>
              <a:buNone/>
            </a:pPr>
            <a:r>
              <a:rPr lang="en-US"/>
              <a:t>Das 1/N-Portfolio, auch bekannt als gleichgewichtete Portfoliostrategie, ist eine einfache Anlagestrategie, bei der jedes der n risikoreichen Vermögenswerte im Portfolio mit einem gleichmäßigen Gewicht gehalten wird. Wir nutzten diese Methode als Benchmark zu den anderen drei Methoden. </a:t>
            </a:r>
            <a:endParaRPr/>
          </a:p>
        </p:txBody>
      </p:sp>
      <p:sp>
        <p:nvSpPr>
          <p:cNvPr id="162" name="Google Shape;16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US"/>
              <a:t>HRP gruppiert Assets nach ihrer Ähnlichkeit bzw. Korrelation. Assets, die sich ähnlich bewegen, werden in Gruppen zusammengefasst. </a:t>
            </a:r>
            <a:endParaRPr/>
          </a:p>
          <a:p>
            <a:pPr indent="-298450" lvl="0" marL="457200" rtl="0" algn="l">
              <a:spcBef>
                <a:spcPts val="0"/>
              </a:spcBef>
              <a:spcAft>
                <a:spcPts val="0"/>
              </a:spcAft>
              <a:buSzPts val="1100"/>
              <a:buChar char="●"/>
            </a:pPr>
            <a:r>
              <a:rPr lang="en-US"/>
              <a:t>Danach wird das Kapital so verteilt, dass stark zusammenhängende Assets nicht zu viel gemeinsames Risiko im Portfolio erzeugen.</a:t>
            </a:r>
            <a:endParaRPr/>
          </a:p>
          <a:p>
            <a:pPr indent="-298450" lvl="0" marL="457200" rtl="0" algn="l">
              <a:spcBef>
                <a:spcPts val="0"/>
              </a:spcBef>
              <a:spcAft>
                <a:spcPts val="0"/>
              </a:spcAft>
              <a:buSzPts val="1100"/>
              <a:buChar char="●"/>
            </a:pPr>
            <a:r>
              <a:rPr lang="en-US"/>
              <a:t>Abbildung</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US"/>
              <a:t>Diese kleinen Gruppen werden später auf höheren Ebenen zu größeren Clustern zusammengeführt durch die blauen Linien. Je höher die Verbindung liegt, desto geringer ist die Ähnlichkeit zwischen den Gruppen. </a:t>
            </a:r>
            <a:r>
              <a:rPr lang="en-US">
                <a:solidFill>
                  <a:srgbClr val="1F272E"/>
                </a:solidFill>
              </a:rPr>
              <a:t>Gewichte werden invers zum Risiko der Cluster bestimmt.</a:t>
            </a:r>
            <a:endParaRPr>
              <a:solidFill>
                <a:srgbClr val="1F272E"/>
              </a:solidFill>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t>HRP ist  robuster, und besser diversifiziert als klassische Optimierungen. </a:t>
            </a:r>
            <a:r>
              <a:rPr lang="en-US">
                <a:solidFill>
                  <a:schemeClr val="dk1"/>
                </a:solidFill>
              </a:rPr>
              <a:t>de Prado</a:t>
            </a:r>
            <a:r>
              <a:rPr lang="en-US">
                <a:solidFill>
                  <a:schemeClr val="dk1"/>
                </a:solidFill>
              </a:rPr>
              <a:t> stellt fest, dass HRP häufig stabilere Portfoliogewichte erzeugt und in der Praxis eine höhere risikoadjustierte Rendite erzielen kann. Sen et al. (2022) zeigen beispielsweise, dass HRP das Minimum-Varianz-Portfolio hinsichtlich der Sharpe Ratio unter bestimmten Marktbedingungen übertreffen kann.</a:t>
            </a:r>
            <a:endParaRPr>
              <a:solidFill>
                <a:schemeClr val="dk1"/>
              </a:solidFill>
            </a:endParaRPr>
          </a:p>
          <a:p>
            <a:pPr indent="0" lvl="0" marL="0" rtl="0" algn="l">
              <a:spcBef>
                <a:spcPts val="0"/>
              </a:spcBef>
              <a:spcAft>
                <a:spcPts val="0"/>
              </a:spcAft>
              <a:buNone/>
            </a:pPr>
            <a:r>
              <a:t/>
            </a:r>
            <a:endParaRPr/>
          </a:p>
        </p:txBody>
      </p:sp>
      <p:sp>
        <p:nvSpPr>
          <p:cNvPr id="190" name="Google Shape;19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Ein GARCH-Modell geht davon aus, dass Risiko nicht konstant ist, sondern sich über die Zeit verändert. In Finanzmärkten gibt es oft Phasen mit niedriger Volatilität und Phasen mit hoher Volatilität. Genau das versucht GARCH abzubilden. Das Standard-GARCH-Modell betrachtet zunächst jeden Vermögenswert einzeln.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US"/>
              <a:t>DCC-GARCH ist ein multivariates GARCH-Modell, das zeitvariable Volatilitäten und zeitvariable Korrelationen schätzt. Dadurch eignet es sich besonders gut für dynamische Portfoliooptimierung und Risikoprognosen. </a:t>
            </a:r>
            <a:endParaRPr/>
          </a:p>
          <a:p>
            <a:pPr indent="0" lvl="0" marL="0" rtl="0" algn="l">
              <a:spcBef>
                <a:spcPts val="0"/>
              </a:spcBef>
              <a:spcAft>
                <a:spcPts val="0"/>
              </a:spcAft>
              <a:buClr>
                <a:schemeClr val="dk1"/>
              </a:buClr>
              <a:buSzPts val="1100"/>
              <a:buFont typeface="Arial"/>
              <a:buNone/>
            </a:pPr>
            <a:r>
              <a:rPr lang="en-US"/>
              <a:t>Das DCC-GARCH-Modell besteht aus zwei Stufen. </a:t>
            </a:r>
            <a:endParaRPr/>
          </a:p>
          <a:p>
            <a:pPr indent="-298450" lvl="0" marL="457200" rtl="0" algn="l">
              <a:spcBef>
                <a:spcPts val="0"/>
              </a:spcBef>
              <a:spcAft>
                <a:spcPts val="0"/>
              </a:spcAft>
              <a:buSzPts val="1100"/>
              <a:buAutoNum type="arabicParenR"/>
            </a:pPr>
            <a:r>
              <a:rPr lang="en-US"/>
              <a:t>Zunächst wird für jeden Vermögenswert mit einem Standard-GARCH-Modell eine zeitabhängige Varianz geschätzt. </a:t>
            </a:r>
            <a:endParaRPr/>
          </a:p>
          <a:p>
            <a:pPr indent="-298450" lvl="0" marL="457200" rtl="0" algn="l">
              <a:spcBef>
                <a:spcPts val="0"/>
              </a:spcBef>
              <a:spcAft>
                <a:spcPts val="0"/>
              </a:spcAft>
              <a:buSzPts val="1100"/>
              <a:buAutoNum type="arabicParenR"/>
            </a:pPr>
            <a:r>
              <a:rPr lang="en-US"/>
              <a:t>Anschließend werden die standardisierten Residuen verwendet, um die zeitabhängigen Korrelationen zu modellieren. </a:t>
            </a:r>
            <a:endParaRPr/>
          </a:p>
          <a:p>
            <a:pPr indent="-298450" lvl="0" marL="457200" rtl="0" algn="l">
              <a:spcBef>
                <a:spcPts val="0"/>
              </a:spcBef>
              <a:spcAft>
                <a:spcPts val="0"/>
              </a:spcAft>
              <a:buSzPts val="1100"/>
              <a:buAutoNum type="arabicParenR"/>
            </a:pPr>
            <a:r>
              <a:rPr lang="en-US"/>
              <a:t>Die DCC-Gleichung ist strukturell dem Standard-GARCH-Modell sehr ähnlich: </a:t>
            </a:r>
            <a:endParaRPr/>
          </a:p>
          <a:p>
            <a:pPr indent="-298450" lvl="1" marL="914400" rtl="0" algn="l">
              <a:spcBef>
                <a:spcPts val="0"/>
              </a:spcBef>
              <a:spcAft>
                <a:spcPts val="0"/>
              </a:spcAft>
              <a:buSzPts val="1100"/>
              <a:buAutoNum type="alphaLcParenR"/>
            </a:pPr>
            <a:r>
              <a:rPr lang="en-US"/>
              <a:t>Die aktuelle Korrelationsstruktur hängt von</a:t>
            </a:r>
            <a:endParaRPr/>
          </a:p>
          <a:p>
            <a:pPr indent="-298450" lvl="2" marL="1371600" rtl="0" algn="l">
              <a:spcBef>
                <a:spcPts val="0"/>
              </a:spcBef>
              <a:spcAft>
                <a:spcPts val="0"/>
              </a:spcAft>
              <a:buSzPts val="1100"/>
              <a:buAutoNum type="romanLcParenR"/>
            </a:pPr>
            <a:r>
              <a:rPr lang="en-US"/>
              <a:t> einem langfristigen Mittelwert, </a:t>
            </a:r>
            <a:endParaRPr/>
          </a:p>
          <a:p>
            <a:pPr indent="-298450" lvl="2" marL="1371600" rtl="0" algn="l">
              <a:spcBef>
                <a:spcPts val="0"/>
              </a:spcBef>
              <a:spcAft>
                <a:spcPts val="0"/>
              </a:spcAft>
              <a:buSzPts val="1100"/>
              <a:buAutoNum type="romanLcParenR"/>
            </a:pPr>
            <a:r>
              <a:rPr lang="en-US"/>
              <a:t>neuen gemeinsamen Schocks und </a:t>
            </a:r>
            <a:endParaRPr/>
          </a:p>
          <a:p>
            <a:pPr indent="-298450" lvl="2" marL="1371600" rtl="0" algn="l">
              <a:spcBef>
                <a:spcPts val="0"/>
              </a:spcBef>
              <a:spcAft>
                <a:spcPts val="0"/>
              </a:spcAft>
              <a:buSzPts val="1100"/>
              <a:buAutoNum type="romanLcParenR"/>
            </a:pPr>
            <a:r>
              <a:rPr lang="en-US"/>
              <a:t>der Korrelationsstruktur der Vorperiode ab. </a:t>
            </a:r>
            <a:endParaRPr/>
          </a:p>
          <a:p>
            <a:pPr indent="-298450" lvl="2" marL="1371600" rtl="0" algn="l">
              <a:spcBef>
                <a:spcPts val="0"/>
              </a:spcBef>
              <a:spcAft>
                <a:spcPts val="0"/>
              </a:spcAft>
              <a:buSzPts val="1100"/>
              <a:buAutoNum type="romanLcParenR"/>
            </a:pPr>
            <a:r>
              <a:rPr lang="en-US"/>
              <a:t>Der Parameter a misst die kurzfristige Reaktion auf neue Informationen, während b die Persistenz der Korrelationen beschreibt.“ </a:t>
            </a:r>
            <a:endParaRPr/>
          </a:p>
          <a:p>
            <a:pPr indent="0" lvl="0" marL="1371600" rtl="0" algn="l">
              <a:spcBef>
                <a:spcPts val="0"/>
              </a:spcBef>
              <a:spcAft>
                <a:spcPts val="0"/>
              </a:spcAft>
              <a:buNone/>
            </a:pPr>
            <a:r>
              <a:t/>
            </a:r>
            <a:endParaRPr/>
          </a:p>
          <a:p>
            <a:pPr indent="-298450" lvl="0" marL="457200" rtl="0" algn="l">
              <a:spcBef>
                <a:spcPts val="0"/>
              </a:spcBef>
              <a:spcAft>
                <a:spcPts val="0"/>
              </a:spcAft>
              <a:buSzPts val="1100"/>
              <a:buAutoNum type="arabicParenR"/>
            </a:pPr>
            <a:r>
              <a:rPr lang="en-US"/>
              <a:t>Aus der Korrelationsmatrix wird zusammen mit den Varianzen die Kovarianzmatrix berechnet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US">
                <a:solidFill>
                  <a:schemeClr val="dk1"/>
                </a:solidFill>
              </a:rPr>
              <a:t>Ardia et al. (2016) zeigen, dass die GARCH Modelle zu präziseren Risikoschätzungen und geringeren Fehlern bei der Bestimmung der Portfoliogewichte führen können. Allerdings bedeutet eine bessere statistische Modellierung nicht automatisch eine bessere wirtschaftliche Performance, wie beispielsweise Moura (2020) zeigen kann.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Falls Fragen: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(Qt​ ist eine zeitabhängige Matrix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Daraus entsteht eine dynamische Kovarianzmatrix Ht</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Residuen der einzelnen GARCH-Modelle standardisiert: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Die Matrix Qt wird anschließend normiert, um die tatsächliche Korrelationsmatrix RtR zu erhalten.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Diese wird mit den durch GARCH geschätzten Volatilitäten kombiniert: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Ht=Dt Rt Dt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Ht ist somit die zeitabhängige Kovarianzmatrix der Renditen, während Dt die einzelnen geschätzten Volatilitäten enthält.)</a:t>
            </a:r>
            <a:endParaRPr>
              <a:solidFill>
                <a:schemeClr val="dk1"/>
              </a:solidFill>
            </a:endParaRPr>
          </a:p>
        </p:txBody>
      </p:sp>
      <p:sp>
        <p:nvSpPr>
          <p:cNvPr id="210" name="Google Shape;21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Für unsere empirische Analyse verwenden wir tägliche Daten des US-amerikanischen Aktienmarktes, die wir über Datastream beziehen.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Dabei beziehen wir die TRBC-Sektorindizes für 28 Wirtschaftssektoren. Zu diesen Sektoren gehören beispielsweise </a:t>
            </a:r>
            <a:r>
              <a:rPr lang="en-US">
                <a:solidFill>
                  <a:schemeClr val="dk1"/>
                </a:solidFill>
              </a:rPr>
              <a:t>die Bereiche Utilities, Technology Equipment und Insurance.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Für die Berechnung der Sharpe-Ratio verwenden wir die Fed-Funds-Rate als risikofreien Zinssatz.</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Zur zusätzlichen Validierung unserer Modelle nutzen wir drei künstlich erzeugte Datensätze. Diese generieren wir mithilfe von Monte-Carlo-Simulationen sowie auf Grundlage von GARCH- und DCC-GARCH-Modellen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Dadurch überprüfen wir, wie zuverlässig unsere Modelle unter unterschiedlichen simulierten Marktbedingungen funktionieren.</a:t>
            </a:r>
            <a:endParaRPr/>
          </a:p>
        </p:txBody>
      </p:sp>
      <p:sp>
        <p:nvSpPr>
          <p:cNvPr id="236" name="Google Shape;23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Für unsere Analyse verwenden wir einen Rolling-Window-Ansatz. Dabei variieren wir die Länge des Trainingsfensters zwischen einem und zehn Jahren. Auf Grundlage dieser Daten erstellen wir Prognosen für einen Zeitraum von einem bis 21 Handelstagen.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Innerhalb jedes Zeitfensters schätzen wir die Kovarianzmatrix auf drei unterschiedliche Arten</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US"/>
              <a:t>Anschließend bestimmen wir für jede Kombination aus Portfoliomodell und Methode zur Schätzung der Kovarianzmatrix die jeweiligen Portfoliogewichte.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Die Ergebnisse vergleichen wir sowohl anhand ökonomischer als auch statistischer Kennzahlen. Zu den zentralen Bewertungsgrößen gehören die Sharpe-Ratio, die realisierte Volatilität und der QLIKE-Loss. Dadurch können wir sowohl die tatsächliche Portfolio-Performance als auch die Prognosegenauigkeit der verschiedenen Modelle bewerten.</a:t>
            </a:r>
            <a:endParaRPr/>
          </a:p>
        </p:txBody>
      </p:sp>
      <p:sp>
        <p:nvSpPr>
          <p:cNvPr id="280" name="Google Shape;28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2700" rtl="0" algn="l">
              <a:lnSpc>
                <a:spcPct val="115000"/>
              </a:lnSpc>
              <a:spcBef>
                <a:spcPts val="0"/>
              </a:spcBef>
              <a:spcAft>
                <a:spcPts val="0"/>
              </a:spcAft>
              <a:buClr>
                <a:schemeClr val="dk1"/>
              </a:buClr>
              <a:buSzPts val="1100"/>
              <a:buFont typeface="Arial"/>
              <a:buNone/>
            </a:pPr>
            <a:r>
              <a:rPr lang="en-US"/>
              <a:t>1.Ergebnisse für einen Durchlauf</a:t>
            </a:r>
            <a:endParaRPr/>
          </a:p>
          <a:p>
            <a:pPr indent="0" lvl="0" marL="12700" rtl="0" algn="l">
              <a:lnSpc>
                <a:spcPct val="115000"/>
              </a:lnSpc>
              <a:spcBef>
                <a:spcPts val="0"/>
              </a:spcBef>
              <a:spcAft>
                <a:spcPts val="0"/>
              </a:spcAft>
              <a:buClr>
                <a:schemeClr val="dk1"/>
              </a:buClr>
              <a:buSzPts val="1100"/>
              <a:buFont typeface="Arial"/>
              <a:buNone/>
            </a:pPr>
            <a:r>
              <a:rPr lang="en-US"/>
              <a:t>2.Überprüfung der Robustheit</a:t>
            </a:r>
            <a:endParaRPr/>
          </a:p>
          <a:p>
            <a:pPr indent="0" lvl="0" marL="0" rtl="0" algn="l">
              <a:spcBef>
                <a:spcPts val="0"/>
              </a:spcBef>
              <a:spcAft>
                <a:spcPts val="0"/>
              </a:spcAft>
              <a:buNone/>
            </a:pPr>
            <a:r>
              <a:t/>
            </a:r>
            <a:endParaRPr/>
          </a:p>
        </p:txBody>
      </p:sp>
      <p:sp>
        <p:nvSpPr>
          <p:cNvPr id="321" name="Google Shape;32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1. Einzelner Durchlauf (1260 Trainingstage ≈ 5J, 1 Tag Prognose)</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Sharpe Ratio</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Alle 3 Modelle schlagen 1/N-Portfolio</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MVP &gt; HRP/ERC</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Garch &amp; DCC-Garch schlechter als historische Schätzung (kontraintuitiv)</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Turnover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Dynamische Verfahren → höherer Turnover (schnellere Anpassung an Schocks)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MVP: +23 Prozentpunkte, HRP: +6 Pp., ERC: +3 Pp. </a:t>
            </a:r>
            <a:r>
              <a:rPr i="1" lang="en-US">
                <a:solidFill>
                  <a:schemeClr val="dk1"/>
                </a:solidFill>
              </a:rPr>
              <a:t>[GEÄNDERT: Folie 12 schreibt durchgängig „Pp." – bei dir stand teils „%", teils „%-Punkte"; einheitlich Prozentpunkte sagen]</a:t>
            </a:r>
            <a:endParaRPr i="1">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 unter Transaktionskosten würde ökonomische Performance noch schlechter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Geringer Turnover-Anstieg bei HRP/ERC zeigt: diese Modelle sind auch auf Robustheit ausgelegt</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457200" rtl="0" algn="l">
              <a:lnSpc>
                <a:spcPct val="115000"/>
              </a:lnSpc>
              <a:spcBef>
                <a:spcPts val="120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332" name="Google Shape;33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Diagramm-Befund (F13)</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MVP &gt; HRP/ERC (HRP leicht besser als ERC, Unterschied gering) — ✓ vom Chart bestätigt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Dynamische &lt; historische Schätzung (durchgängig; bei ERC nur minimal) </a:t>
            </a:r>
            <a:r>
              <a:rPr i="1" lang="en-US">
                <a:solidFill>
                  <a:schemeClr val="dk1"/>
                </a:solidFill>
              </a:rPr>
              <a:t>[GEÄNDERT: Speaker Notes F13 sagen „für fast jedes Portfolio" – beim ERC sind die Balken fast gleichauf, ggf. so relativieren]</a:t>
            </a:r>
            <a:endParaRPr i="1">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Zwischen dynamischen: DCC-Garch leicht besser als Garch</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Jobson–Korkie Test zeigt keine Signifikanz</a:t>
            </a:r>
            <a:endParaRPr>
              <a:solidFill>
                <a:schemeClr val="dk1"/>
              </a:solidFill>
            </a:endParaRPr>
          </a:p>
          <a:p>
            <a:pPr indent="0" lvl="0" marL="12700" rtl="0" algn="l">
              <a:lnSpc>
                <a:spcPct val="115000"/>
              </a:lnSpc>
              <a:spcBef>
                <a:spcPts val="120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352" name="Google Shape;35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2. Problem: Sharpe Ratio als Metrik</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Gut für Modellvergleich, ungeeignet zur Bewertung der Kovarianzmatrix-Qualität (Rendite dominiert)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US">
                <a:solidFill>
                  <a:schemeClr val="dk1"/>
                </a:solidFill>
              </a:rPr>
              <a:t>Kovarianzmatrix hat nur indirekt Einfluss auf Rendite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Engle &amp; Colacito (2006): Sharpe Ratio kann irreführend sein (Zitat steht auf F14) → alternative Metriken nötig</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US">
                <a:solidFill>
                  <a:schemeClr val="dk1"/>
                </a:solidFill>
              </a:rPr>
              <a:t>Realisierte Volatilität (Engle &amp; Colacito)</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US">
                <a:solidFill>
                  <a:schemeClr val="dk1"/>
                </a:solidFill>
              </a:rPr>
              <a:t>MSE und Q-Like Loss </a:t>
            </a:r>
            <a:r>
              <a:rPr b="1" lang="en-US">
                <a:solidFill>
                  <a:schemeClr val="dk1"/>
                </a:solidFill>
              </a:rPr>
              <a:t>nach Patton (2011)</a:t>
            </a:r>
            <a:r>
              <a:rPr lang="en-US">
                <a:solidFill>
                  <a:schemeClr val="dk1"/>
                </a:solidFill>
              </a:rPr>
              <a:t> </a:t>
            </a:r>
            <a:endParaRPr i="1">
              <a:solidFill>
                <a:schemeClr val="dk1"/>
              </a:solidFill>
            </a:endParaRPr>
          </a:p>
          <a:p>
            <a:pPr indent="-298450" lvl="1" marL="914400" rtl="0" algn="l">
              <a:lnSpc>
                <a:spcPct val="115000"/>
              </a:lnSpc>
              <a:spcBef>
                <a:spcPts val="0"/>
              </a:spcBef>
              <a:spcAft>
                <a:spcPts val="0"/>
              </a:spcAft>
              <a:buClr>
                <a:schemeClr val="dk1"/>
              </a:buClr>
              <a:buSzPts val="1100"/>
              <a:buChar char="○"/>
            </a:pPr>
            <a:r>
              <a:rPr lang="en-US">
                <a:solidFill>
                  <a:schemeClr val="dk1"/>
                </a:solidFill>
              </a:rPr>
              <a:t>Q-Like Loss asymmetrisch, gewichtet Unterschätzung stärker – ökonomisch relevanter</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US">
                <a:solidFill>
                  <a:schemeClr val="dk1"/>
                </a:solidFill>
              </a:rPr>
              <a:t>DMW-Test übernommen (diebold mariano west)</a:t>
            </a:r>
            <a:endParaRPr>
              <a:solidFill>
                <a:schemeClr val="dk1"/>
              </a:solidFill>
            </a:endParaRPr>
          </a:p>
          <a:p>
            <a:pPr indent="0" lvl="0" marL="939800" rtl="0" algn="l">
              <a:lnSpc>
                <a:spcPct val="115000"/>
              </a:lnSpc>
              <a:spcBef>
                <a:spcPts val="120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368" name="Google Shape;36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Realisierte Volatilität (F15)</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Dynamische Verfahren → geringere Volatilität; Unterschiede klein, DCC leicht besser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MVP hat die niedrigste realisierte Volatilität – logisch, da das explizit sein Optimierungsziel ist; alle Portfolios liegen unter 1/N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Kein direkter Methodenvergleich zwischen Portfolios sinnvoll (unterschiedliche Optimierungsziele)</a:t>
            </a:r>
            <a:endParaRPr/>
          </a:p>
          <a:p>
            <a:pPr indent="0" lvl="0" marL="0" rtl="0" algn="l">
              <a:spcBef>
                <a:spcPts val="1200"/>
              </a:spcBef>
              <a:spcAft>
                <a:spcPts val="0"/>
              </a:spcAft>
              <a:buNone/>
            </a:pPr>
            <a:r>
              <a:t/>
            </a:r>
            <a:endParaRPr/>
          </a:p>
        </p:txBody>
      </p:sp>
      <p:sp>
        <p:nvSpPr>
          <p:cNvPr id="388" name="Google Shape;388;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Q-Like Loss &amp; MSE (F16)</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Reihenfolge: DCC-Garch &gt; Garch &gt; historisch (statistisch beste Prognosegüte)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QLIKE: historisch −149,07 / GARCH −152,76 / DCC −153,62; MSE (×10⁻⁷): 4,46 / 3,64 / 3,56; niedriger = besser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DMW-Test: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US">
                <a:solidFill>
                  <a:schemeClr val="dk1"/>
                </a:solidFill>
              </a:rPr>
              <a:t>Q-Like: alle Unterschiede signifikant (Garch &amp; DCC sig. besser als historisch; DCC sig. besser als Garch)</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US">
                <a:solidFill>
                  <a:schemeClr val="dk1"/>
                </a:solidFill>
              </a:rPr>
              <a:t>MSE: DCC vs. Garch nicht signifikant; nur Unterschied zur historischen Schätzung signifikant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 statistische Prognosequalität ≠ ökonomische Performance</a:t>
            </a:r>
            <a:endParaRPr/>
          </a:p>
          <a:p>
            <a:pPr indent="0" lvl="0" marL="0" rtl="0" algn="l">
              <a:spcBef>
                <a:spcPts val="1200"/>
              </a:spcBef>
              <a:spcAft>
                <a:spcPts val="0"/>
              </a:spcAft>
              <a:buNone/>
            </a:pPr>
            <a:r>
              <a:t/>
            </a:r>
            <a:endParaRPr/>
          </a:p>
        </p:txBody>
      </p:sp>
      <p:sp>
        <p:nvSpPr>
          <p:cNvPr id="404" name="Google Shape;40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4. Robustheitsprüfung (variierende Trainings-/Prognoseperioden)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Grundmuster bleibt stabil</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HRP/ERC schlagen 1/N nahezu durchgängig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MVP: teils unter 1/N, teils Garch-Modelle vorteilhaft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US">
                <a:solidFill>
                  <a:schemeClr val="dk1"/>
                </a:solidFill>
              </a:rPr>
              <a:t>Vorteil Garch ↑ mit längerem Training</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US">
                <a:solidFill>
                  <a:schemeClr val="dk1"/>
                </a:solidFill>
              </a:rPr>
              <a:t>Vorteil Garch ↓ mit längerem Prognosehorizont</a:t>
            </a:r>
            <a:endParaRPr i="1">
              <a:solidFill>
                <a:schemeClr val="dk1"/>
              </a:solidFill>
            </a:endParaRPr>
          </a:p>
          <a:p>
            <a:pPr indent="-298450" lvl="1" marL="914400" rtl="0" algn="l">
              <a:lnSpc>
                <a:spcPct val="115000"/>
              </a:lnSpc>
              <a:spcBef>
                <a:spcPts val="0"/>
              </a:spcBef>
              <a:spcAft>
                <a:spcPts val="0"/>
              </a:spcAft>
              <a:buClr>
                <a:schemeClr val="dk1"/>
              </a:buClr>
              <a:buSzPts val="1100"/>
              <a:buChar char="○"/>
            </a:pPr>
            <a:r>
              <a:rPr lang="en-US">
                <a:solidFill>
                  <a:schemeClr val="dk1"/>
                </a:solidFill>
              </a:rPr>
              <a:t>Statistisch bleiben Garch/DCC-Garch aber präziser</a:t>
            </a:r>
            <a:endParaRPr>
              <a:solidFill>
                <a:schemeClr val="dk1"/>
              </a:solidFill>
            </a:endParaRPr>
          </a:p>
          <a:p>
            <a:pPr indent="0" lvl="0" marL="469900" rtl="0" algn="l">
              <a:lnSpc>
                <a:spcPct val="115000"/>
              </a:lnSpc>
              <a:spcBef>
                <a:spcPts val="120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423" name="Google Shape;423;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a:t>Sharpe Ratio über Trainingszeiträume (Plot F18)</a:t>
            </a:r>
            <a:endParaRPr/>
          </a:p>
          <a:p>
            <a:pPr indent="-298450" lvl="0" marL="457200" rtl="0" algn="l">
              <a:lnSpc>
                <a:spcPct val="115000"/>
              </a:lnSpc>
              <a:spcBef>
                <a:spcPts val="1200"/>
              </a:spcBef>
              <a:spcAft>
                <a:spcPts val="0"/>
              </a:spcAft>
              <a:buClr>
                <a:schemeClr val="dk1"/>
              </a:buClr>
              <a:buSzPts val="1100"/>
              <a:buChar char="●"/>
            </a:pPr>
            <a:r>
              <a:rPr lang="en-US"/>
              <a:t>HRP/ERC: historische Schätzung konstant über 1/N, HRP leicht besser</a:t>
            </a:r>
            <a:endParaRPr/>
          </a:p>
          <a:p>
            <a:pPr indent="-298450" lvl="0" marL="457200" rtl="0" algn="l">
              <a:lnSpc>
                <a:spcPct val="115000"/>
              </a:lnSpc>
              <a:spcBef>
                <a:spcPts val="0"/>
              </a:spcBef>
              <a:spcAft>
                <a:spcPts val="0"/>
              </a:spcAft>
              <a:buClr>
                <a:schemeClr val="dk1"/>
              </a:buClr>
              <a:buSzPts val="1100"/>
              <a:buChar char="●"/>
            </a:pPr>
            <a:r>
              <a:rPr lang="en-US"/>
              <a:t>MVP: stark schwankend/volatil; bei kurzen Trainingsperioden (großer Schätzfehler historisch) können Garch-Modelle den historischen Schätzer schlagen</a:t>
            </a:r>
            <a:endParaRPr/>
          </a:p>
          <a:p>
            <a:pPr indent="-298450" lvl="0" marL="457200" rtl="0" algn="l">
              <a:lnSpc>
                <a:spcPct val="115000"/>
              </a:lnSpc>
              <a:spcBef>
                <a:spcPts val="0"/>
              </a:spcBef>
              <a:spcAft>
                <a:spcPts val="0"/>
              </a:spcAft>
              <a:buClr>
                <a:schemeClr val="dk1"/>
              </a:buClr>
              <a:buSzPts val="1100"/>
              <a:buChar char="●"/>
            </a:pPr>
            <a:r>
              <a:rPr lang="en-US"/>
              <a:t>Erklärung: HRP/ERC auf Robustheit ausgelegt; MVP durch Fehlermaximierung/Konzentration instabiler</a:t>
            </a:r>
            <a:endParaRPr/>
          </a:p>
        </p:txBody>
      </p:sp>
      <p:sp>
        <p:nvSpPr>
          <p:cNvPr id="440" name="Google Shape;440;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a:solidFill>
                  <a:schemeClr val="dk1"/>
                </a:solidFill>
              </a:rPr>
              <a:t>Prognosehorizonte (Plot F19) – gleiches Bild</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HRP/ERC: kaum Unterschiede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MVP: historisch konstant unter 1/N; bei kurzen Horizonten (1, 5 Perioden) schlägt DCC-Garch 1/N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Historische Schätzung bleibt über den Horizont robust, da sie sich ohnehin kaum ändert; Garch/DCC nehmen beim MVP deutlich ab, HRP/ERC fangen das durch ihre Robustheit auf</a:t>
            </a:r>
            <a:endParaRPr/>
          </a:p>
        </p:txBody>
      </p:sp>
      <p:sp>
        <p:nvSpPr>
          <p:cNvPr id="454" name="Google Shape;454;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US">
                <a:solidFill>
                  <a:schemeClr val="dk1"/>
                </a:solidFill>
              </a:rPr>
              <a:t>Statistische Maße (QLIKE-Plots F20): DCC/Garch &gt; historisch, </a:t>
            </a:r>
            <a:endParaRPr>
              <a:solidFill>
                <a:schemeClr val="dk1"/>
              </a:solidFill>
            </a:endParaRPr>
          </a:p>
          <a:p>
            <a:pPr indent="-298450" lvl="1" marL="914400" rtl="0" algn="l">
              <a:lnSpc>
                <a:spcPct val="115000"/>
              </a:lnSpc>
              <a:spcBef>
                <a:spcPts val="0"/>
              </a:spcBef>
              <a:spcAft>
                <a:spcPts val="0"/>
              </a:spcAft>
              <a:buClr>
                <a:schemeClr val="dk1"/>
              </a:buClr>
              <a:buSzPts val="1100"/>
              <a:buAutoNum type="alphaLcPeriod"/>
            </a:pPr>
            <a:r>
              <a:rPr lang="en-US">
                <a:solidFill>
                  <a:schemeClr val="dk1"/>
                </a:solidFill>
              </a:rPr>
              <a:t>DCC meist am stärksten;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Unterschied wächst mit Trainingszeitraum, schrumpft mit Prognosehorizont</a:t>
            </a:r>
            <a:endParaRPr/>
          </a:p>
          <a:p>
            <a:pPr indent="0" lvl="0" marL="0" rtl="0" algn="l">
              <a:spcBef>
                <a:spcPts val="1200"/>
              </a:spcBef>
              <a:spcAft>
                <a:spcPts val="0"/>
              </a:spcAft>
              <a:buNone/>
            </a:pPr>
            <a:r>
              <a:t/>
            </a:r>
            <a:endParaRPr/>
          </a:p>
        </p:txBody>
      </p:sp>
      <p:sp>
        <p:nvSpPr>
          <p:cNvPr id="468" name="Google Shape;468;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US"/>
              <a:t>Frage 1:</a:t>
            </a:r>
            <a:endParaRPr/>
          </a:p>
          <a:p>
            <a:pPr indent="-298450" lvl="1" marL="914400" rtl="0" algn="l">
              <a:spcBef>
                <a:spcPts val="0"/>
              </a:spcBef>
              <a:spcAft>
                <a:spcPts val="0"/>
              </a:spcAft>
              <a:buSzPts val="1100"/>
              <a:buChar char="-"/>
            </a:pPr>
            <a:r>
              <a:rPr lang="en-US"/>
              <a:t>HRP und ERC sind sinnvolle Modelle</a:t>
            </a:r>
            <a:endParaRPr/>
          </a:p>
          <a:p>
            <a:pPr indent="-298450" lvl="2" marL="1371600" rtl="0" algn="l">
              <a:spcBef>
                <a:spcPts val="0"/>
              </a:spcBef>
              <a:spcAft>
                <a:spcPts val="0"/>
              </a:spcAft>
              <a:buSzPts val="1100"/>
              <a:buChar char="-"/>
            </a:pPr>
            <a:r>
              <a:rPr lang="en-US"/>
              <a:t>können fast immer 1/N schlagen</a:t>
            </a:r>
            <a:endParaRPr/>
          </a:p>
          <a:p>
            <a:pPr indent="-298450" lvl="2" marL="1371600" rtl="0" algn="l">
              <a:spcBef>
                <a:spcPts val="0"/>
              </a:spcBef>
              <a:spcAft>
                <a:spcPts val="0"/>
              </a:spcAft>
              <a:buSzPts val="1100"/>
              <a:buChar char="-"/>
            </a:pPr>
            <a:r>
              <a:rPr lang="en-US"/>
              <a:t>erweisen sich als robust gegenüber Ungenauigkeiten</a:t>
            </a:r>
            <a:endParaRPr/>
          </a:p>
          <a:p>
            <a:pPr indent="-298450" lvl="1" marL="914400" rtl="0" algn="l">
              <a:spcBef>
                <a:spcPts val="0"/>
              </a:spcBef>
              <a:spcAft>
                <a:spcPts val="0"/>
              </a:spcAft>
              <a:buSzPts val="1100"/>
              <a:buChar char="-"/>
            </a:pPr>
            <a:r>
              <a:rPr lang="en-US"/>
              <a:t>MVP nur teilweise sinnvoll</a:t>
            </a:r>
            <a:endParaRPr/>
          </a:p>
          <a:p>
            <a:pPr indent="-298450" lvl="2" marL="1371600" rtl="0" algn="l">
              <a:spcBef>
                <a:spcPts val="0"/>
              </a:spcBef>
              <a:spcAft>
                <a:spcPts val="0"/>
              </a:spcAft>
              <a:buSzPts val="1100"/>
              <a:buChar char="-"/>
            </a:pPr>
            <a:r>
              <a:rPr lang="en-US"/>
              <a:t>stärkere Anfälligkeit gegenüber Schätzfehlern</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US"/>
              <a:t>Frage 2:</a:t>
            </a:r>
            <a:endParaRPr/>
          </a:p>
          <a:p>
            <a:pPr indent="-298450" lvl="1" marL="914400" rtl="0" algn="l">
              <a:spcBef>
                <a:spcPts val="0"/>
              </a:spcBef>
              <a:spcAft>
                <a:spcPts val="0"/>
              </a:spcAft>
              <a:buSzPts val="1100"/>
              <a:buChar char="-"/>
            </a:pPr>
            <a:r>
              <a:rPr lang="en-US"/>
              <a:t>statistisch sinnvoll</a:t>
            </a:r>
            <a:endParaRPr/>
          </a:p>
          <a:p>
            <a:pPr indent="-298450" lvl="2" marL="1371600" rtl="0" algn="l">
              <a:spcBef>
                <a:spcPts val="0"/>
              </a:spcBef>
              <a:spcAft>
                <a:spcPts val="0"/>
              </a:spcAft>
              <a:buSzPts val="1100"/>
              <a:buChar char="-"/>
            </a:pPr>
            <a:r>
              <a:rPr lang="en-US"/>
              <a:t>insbesondere DCC nochmal besser als Garch</a:t>
            </a:r>
            <a:endParaRPr/>
          </a:p>
          <a:p>
            <a:pPr indent="-298450" lvl="1" marL="914400" rtl="0" algn="l">
              <a:spcBef>
                <a:spcPts val="0"/>
              </a:spcBef>
              <a:spcAft>
                <a:spcPts val="0"/>
              </a:spcAft>
              <a:buSzPts val="1100"/>
              <a:buChar char="-"/>
            </a:pPr>
            <a:r>
              <a:rPr lang="en-US"/>
              <a:t>ökonomisch ist dieser Vorteil jedoch nur selten relevant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US"/>
              <a:t>Ergebnisse lassen sich auch in der Literatur wiederfinden</a:t>
            </a:r>
            <a:endParaRPr/>
          </a:p>
          <a:p>
            <a:pPr indent="-298450" lvl="1" marL="914400" rtl="0" algn="l">
              <a:spcBef>
                <a:spcPts val="0"/>
              </a:spcBef>
              <a:spcAft>
                <a:spcPts val="0"/>
              </a:spcAft>
              <a:buSzPts val="1100"/>
              <a:buChar char="-"/>
            </a:pPr>
            <a:r>
              <a:rPr lang="en-US"/>
              <a:t>Teilweise Outperformance von HRP und ERC</a:t>
            </a:r>
            <a:endParaRPr/>
          </a:p>
          <a:p>
            <a:pPr indent="-298450" lvl="1" marL="914400" rtl="0" algn="l">
              <a:spcBef>
                <a:spcPts val="0"/>
              </a:spcBef>
              <a:spcAft>
                <a:spcPts val="0"/>
              </a:spcAft>
              <a:buSzPts val="1100"/>
              <a:buChar char="-"/>
            </a:pPr>
            <a:r>
              <a:rPr lang="en-US"/>
              <a:t>statistische Vorteilhaftigkeit, die sich jedoch nicht in ökonomischen Nutzen abbildet, gibt es auch in einzelnen Studien</a:t>
            </a:r>
            <a:endParaRPr/>
          </a:p>
          <a:p>
            <a:pPr indent="-298450" lvl="1" marL="914400" rtl="0" algn="l">
              <a:spcBef>
                <a:spcPts val="0"/>
              </a:spcBef>
              <a:spcAft>
                <a:spcPts val="0"/>
              </a:spcAft>
              <a:buSzPts val="1100"/>
              <a:buChar char="-"/>
            </a:pPr>
            <a:r>
              <a:rPr lang="en-US"/>
              <a:t>jedoch nur relativ wenige Studien zur Kombination der beiden Themengebiete</a:t>
            </a:r>
            <a:endParaRPr/>
          </a:p>
        </p:txBody>
      </p:sp>
      <p:sp>
        <p:nvSpPr>
          <p:cNvPr id="487" name="Google Shape;487;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6. Weiterführende Forschung</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Andere Datensätze testen (volle S&amp;P-500-Bestandteile → Einfluss der Universumsgröße) </a:t>
            </a:r>
            <a:endParaRPr i="1">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Weitere Garch-Varianten: GARCH-MIDAS (Makrovariablen, kurz-/langfristige Komponente), GJR-Garch (Asymmetrie negativer Schocks), höhere Ordnung (Garch(5,5) etc.) </a:t>
            </a:r>
            <a:endParaRPr i="1">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Weitere Optimierungsmodelle: HERC (Hybrid HRP/ERC), NCO</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Reale Bedingungen: Transaktionskosten, realistische Restriktionen für Portfoliomanager</a:t>
            </a:r>
            <a:endParaRPr>
              <a:solidFill>
                <a:schemeClr val="dk1"/>
              </a:solidFill>
            </a:endParaRPr>
          </a:p>
          <a:p>
            <a:pPr indent="0" lvl="0" marL="0" rtl="0" algn="l">
              <a:spcBef>
                <a:spcPts val="1200"/>
              </a:spcBef>
              <a:spcAft>
                <a:spcPts val="0"/>
              </a:spcAft>
              <a:buNone/>
            </a:pPr>
            <a:r>
              <a:t/>
            </a:r>
            <a:endParaRPr/>
          </a:p>
        </p:txBody>
      </p:sp>
      <p:sp>
        <p:nvSpPr>
          <p:cNvPr id="507" name="Google Shape;507;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f4fc506fe5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g3f4fc506fe5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3f4fc506fe5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Realisierte Volatilität (F15)</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Dynamische Verfahren → geringere Volatilität; Unterschiede klein, DCC leicht besser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MVP hat die niedrigste realisierte Volatilität – logisch, da das explizit sein Optimierungsziel ist; alle Portfolios liegen unter 1/N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Kein direkter Methodenvergleich zwischen Portfolios sinnvoll (unterschiedliche Optimierungsziele)</a:t>
            </a:r>
            <a:endParaRPr/>
          </a:p>
          <a:p>
            <a:pPr indent="0" lvl="0" marL="0" rtl="0" algn="l">
              <a:spcBef>
                <a:spcPts val="1200"/>
              </a:spcBef>
              <a:spcAft>
                <a:spcPts val="0"/>
              </a:spcAft>
              <a:buNone/>
            </a:pPr>
            <a:r>
              <a:t/>
            </a:r>
            <a:endParaRPr/>
          </a:p>
        </p:txBody>
      </p:sp>
      <p:sp>
        <p:nvSpPr>
          <p:cNvPr id="542" name="Google Shape;542;g3f4fc506fe5_4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3f4fc506fe5_4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Realisierte Volatilität (F15)</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Dynamische Verfahren → geringere Volatilität; Unterschiede klein, DCC leicht besser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MVP hat die niedrigste realisierte Volatilität – logisch, da das explizit sein Optimierungsziel ist; alle Portfolios liegen unter 1/N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Kein direkter Methodenvergleich zwischen Portfolios sinnvoll (unterschiedliche Optimierungsziele)</a:t>
            </a:r>
            <a:endParaRPr/>
          </a:p>
          <a:p>
            <a:pPr indent="0" lvl="0" marL="0" rtl="0" algn="l">
              <a:spcBef>
                <a:spcPts val="1200"/>
              </a:spcBef>
              <a:spcAft>
                <a:spcPts val="0"/>
              </a:spcAft>
              <a:buNone/>
            </a:pPr>
            <a:r>
              <a:t/>
            </a:r>
            <a:endParaRPr/>
          </a:p>
        </p:txBody>
      </p:sp>
      <p:sp>
        <p:nvSpPr>
          <p:cNvPr id="555" name="Google Shape;555;g3f4fc506fe5_4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f4fc506fe5_4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Realisierte Volatilität (F15)</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Dynamische Verfahren → geringere Volatilität; Unterschiede klein, DCC leicht besser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MVP hat die niedrigste realisierte Volatilität – logisch, da das explizit sein Optimierungsziel ist; alle Portfolios liegen unter 1/N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Kein direkter Methodenvergleich zwischen Portfolios sinnvoll (unterschiedliche Optimierungsziele)</a:t>
            </a:r>
            <a:endParaRPr/>
          </a:p>
          <a:p>
            <a:pPr indent="0" lvl="0" marL="0" rtl="0" algn="l">
              <a:spcBef>
                <a:spcPts val="1200"/>
              </a:spcBef>
              <a:spcAft>
                <a:spcPts val="0"/>
              </a:spcAft>
              <a:buNone/>
            </a:pPr>
            <a:r>
              <a:t/>
            </a:r>
            <a:endParaRPr/>
          </a:p>
        </p:txBody>
      </p:sp>
      <p:sp>
        <p:nvSpPr>
          <p:cNvPr id="568" name="Google Shape;568;g3f4fc506fe5_4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png"/><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png"/><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txBox="1"/>
          <p:nvPr/>
        </p:nvSpPr>
        <p:spPr>
          <a:xfrm>
            <a:off x="2027238" y="1965561"/>
            <a:ext cx="8907063" cy="1406539"/>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0" i="0" lang="en-US" sz="3200" u="none" cap="none" strike="noStrike">
                <a:solidFill>
                  <a:srgbClr val="000000"/>
                </a:solidFill>
                <a:latin typeface="Arial"/>
                <a:ea typeface="Arial"/>
                <a:cs typeface="Arial"/>
                <a:sym typeface="Arial"/>
              </a:rPr>
              <a:t>Fallstudien zur Finanzwirtschaft</a:t>
            </a:r>
            <a:endParaRPr b="0" i="0" sz="3200" u="none" cap="none" strike="noStrike">
              <a:solidFill>
                <a:srgbClr val="000000"/>
              </a:solidFill>
              <a:latin typeface="Calibri"/>
              <a:ea typeface="Calibri"/>
              <a:cs typeface="Calibri"/>
              <a:sym typeface="Calibri"/>
            </a:endParaRPr>
          </a:p>
          <a:p>
            <a:pPr indent="0" lvl="0" marL="0" marR="0" rtl="0" algn="l">
              <a:lnSpc>
                <a:spcPct val="90000"/>
              </a:lnSpc>
              <a:spcBef>
                <a:spcPts val="600"/>
              </a:spcBef>
              <a:spcAft>
                <a:spcPts val="0"/>
              </a:spcAft>
              <a:buNone/>
            </a:pPr>
            <a:r>
              <a:rPr b="1" i="0" lang="en-US" sz="3200" u="none" cap="none" strike="noStrike">
                <a:solidFill>
                  <a:srgbClr val="000000"/>
                </a:solidFill>
                <a:latin typeface="Arial"/>
                <a:ea typeface="Arial"/>
                <a:cs typeface="Arial"/>
                <a:sym typeface="Arial"/>
              </a:rPr>
              <a:t>Risikomodellierung und Risikoprognose mit GARCH-Modellen</a:t>
            </a:r>
            <a:endParaRPr/>
          </a:p>
        </p:txBody>
      </p:sp>
      <p:sp>
        <p:nvSpPr>
          <p:cNvPr id="85" name="Google Shape;85;p13"/>
          <p:cNvSpPr txBox="1"/>
          <p:nvPr/>
        </p:nvSpPr>
        <p:spPr>
          <a:xfrm>
            <a:off x="2027237" y="4228319"/>
            <a:ext cx="4068764"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000000"/>
                </a:solidFill>
                <a:latin typeface="Arial"/>
                <a:ea typeface="Arial"/>
                <a:cs typeface="Arial"/>
                <a:sym typeface="Arial"/>
              </a:rPr>
              <a:t>Simon Jähn </a:t>
            </a:r>
            <a:endParaRPr/>
          </a:p>
          <a:p>
            <a:pPr indent="0" lvl="0" marL="0" marR="0" rtl="0" algn="l">
              <a:spcBef>
                <a:spcPts val="0"/>
              </a:spcBef>
              <a:spcAft>
                <a:spcPts val="0"/>
              </a:spcAft>
              <a:buNone/>
            </a:pPr>
            <a:r>
              <a:rPr b="0" i="0" lang="en-US" sz="1800" u="none" cap="none" strike="noStrike">
                <a:solidFill>
                  <a:srgbClr val="000000"/>
                </a:solidFill>
                <a:latin typeface="Arial"/>
                <a:ea typeface="Arial"/>
                <a:cs typeface="Arial"/>
                <a:sym typeface="Arial"/>
              </a:rPr>
              <a:t>Angela Nikoyan </a:t>
            </a:r>
            <a:endParaRPr/>
          </a:p>
        </p:txBody>
      </p:sp>
      <p:pic>
        <p:nvPicPr>
          <p:cNvPr id="86" name="Google Shape;86;p13"/>
          <p:cNvPicPr preferRelativeResize="0"/>
          <p:nvPr/>
        </p:nvPicPr>
        <p:blipFill rotWithShape="1">
          <a:blip r:embed="rId3">
            <a:alphaModFix/>
          </a:blip>
          <a:srcRect b="0" l="0" r="0" t="0"/>
          <a:stretch/>
        </p:blipFill>
        <p:spPr>
          <a:xfrm>
            <a:off x="0" y="2402108"/>
            <a:ext cx="1533656" cy="4455893"/>
          </a:xfrm>
          <a:prstGeom prst="rect">
            <a:avLst/>
          </a:prstGeom>
          <a:noFill/>
          <a:ln>
            <a:noFill/>
          </a:ln>
        </p:spPr>
      </p:pic>
      <p:pic>
        <p:nvPicPr>
          <p:cNvPr descr="image1.png" id="87" name="Google Shape;87;p13"/>
          <p:cNvPicPr preferRelativeResize="0"/>
          <p:nvPr/>
        </p:nvPicPr>
        <p:blipFill rotWithShape="1">
          <a:blip r:embed="rId4">
            <a:alphaModFix/>
          </a:blip>
          <a:srcRect b="0" l="0" r="0" t="0"/>
          <a:stretch/>
        </p:blipFill>
        <p:spPr>
          <a:xfrm>
            <a:off x="329184" y="182880"/>
            <a:ext cx="987552" cy="355661"/>
          </a:xfrm>
          <a:prstGeom prst="rect">
            <a:avLst/>
          </a:prstGeom>
          <a:noFill/>
          <a:ln>
            <a:noFill/>
          </a:ln>
        </p:spPr>
      </p:pic>
      <p:sp>
        <p:nvSpPr>
          <p:cNvPr id="88" name="Google Shape;88;p13"/>
          <p:cNvSpPr/>
          <p:nvPr/>
        </p:nvSpPr>
        <p:spPr>
          <a:xfrm>
            <a:off x="0" y="0"/>
            <a:ext cx="12191999" cy="64008"/>
          </a:xfrm>
          <a:prstGeom prst="rect">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p:nvPr/>
        </p:nvSpPr>
        <p:spPr>
          <a:xfrm>
            <a:off x="0" y="0"/>
            <a:ext cx="12191999" cy="6858000"/>
          </a:xfrm>
          <a:prstGeom prst="rect">
            <a:avLst/>
          </a:prstGeom>
          <a:solidFill>
            <a:srgbClr val="F9FA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4" name="Google Shape;94;p14"/>
          <p:cNvSpPr/>
          <p:nvPr/>
        </p:nvSpPr>
        <p:spPr>
          <a:xfrm>
            <a:off x="0" y="0"/>
            <a:ext cx="12191999" cy="64008"/>
          </a:xfrm>
          <a:prstGeom prst="rect">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image1.png" id="95" name="Google Shape;95;p14"/>
          <p:cNvPicPr preferRelativeResize="0"/>
          <p:nvPr/>
        </p:nvPicPr>
        <p:blipFill rotWithShape="1">
          <a:blip r:embed="rId3">
            <a:alphaModFix/>
          </a:blip>
          <a:srcRect b="0" l="0" r="0" t="0"/>
          <a:stretch/>
        </p:blipFill>
        <p:spPr>
          <a:xfrm>
            <a:off x="329184" y="182880"/>
            <a:ext cx="987552" cy="355661"/>
          </a:xfrm>
          <a:prstGeom prst="rect">
            <a:avLst/>
          </a:prstGeom>
          <a:noFill/>
          <a:ln>
            <a:noFill/>
          </a:ln>
        </p:spPr>
      </p:pic>
      <p:sp>
        <p:nvSpPr>
          <p:cNvPr id="96" name="Google Shape;96;p14"/>
          <p:cNvSpPr txBox="1"/>
          <p:nvPr/>
        </p:nvSpPr>
        <p:spPr>
          <a:xfrm>
            <a:off x="8641080" y="201168"/>
            <a:ext cx="3063240" cy="228600"/>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0" i="0" lang="en-US" sz="750" u="none" cap="none" strike="noStrike">
                <a:solidFill>
                  <a:srgbClr val="76808A"/>
                </a:solidFill>
                <a:latin typeface="Arial"/>
                <a:ea typeface="Arial"/>
                <a:cs typeface="Arial"/>
                <a:sym typeface="Arial"/>
              </a:rPr>
              <a:t>Risikobasierte Portfoliooptimierung mit GARCH-Modellen</a:t>
            </a:r>
            <a:endParaRPr/>
          </a:p>
        </p:txBody>
      </p:sp>
      <p:sp>
        <p:nvSpPr>
          <p:cNvPr id="97" name="Google Shape;97;p14"/>
          <p:cNvSpPr txBox="1"/>
          <p:nvPr/>
        </p:nvSpPr>
        <p:spPr>
          <a:xfrm>
            <a:off x="777240" y="786384"/>
            <a:ext cx="10287000" cy="438912"/>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2900" u="none" cap="none" strike="noStrike">
                <a:solidFill>
                  <a:srgbClr val="0F2D4B"/>
                </a:solidFill>
                <a:latin typeface="Arial"/>
                <a:ea typeface="Arial"/>
                <a:cs typeface="Arial"/>
                <a:sym typeface="Arial"/>
              </a:rPr>
              <a:t>Forschungsfrage</a:t>
            </a:r>
            <a:endParaRPr/>
          </a:p>
        </p:txBody>
      </p:sp>
      <p:sp>
        <p:nvSpPr>
          <p:cNvPr id="98" name="Google Shape;98;p14"/>
          <p:cNvSpPr/>
          <p:nvPr/>
        </p:nvSpPr>
        <p:spPr>
          <a:xfrm>
            <a:off x="777240" y="1307592"/>
            <a:ext cx="1005840" cy="45720"/>
          </a:xfrm>
          <a:prstGeom prst="rect">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9" name="Google Shape;99;p14"/>
          <p:cNvSpPr/>
          <p:nvPr/>
        </p:nvSpPr>
        <p:spPr>
          <a:xfrm>
            <a:off x="777240" y="6473952"/>
            <a:ext cx="10652760" cy="10972"/>
          </a:xfrm>
          <a:prstGeom prst="rect">
            <a:avLst/>
          </a:prstGeom>
          <a:solidFill>
            <a:srgbClr val="EEF1F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0" name="Google Shape;100;p14"/>
          <p:cNvSpPr txBox="1"/>
          <p:nvPr/>
        </p:nvSpPr>
        <p:spPr>
          <a:xfrm>
            <a:off x="11109960" y="6519672"/>
            <a:ext cx="320040" cy="164592"/>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0" i="0" lang="en-US" sz="800" u="none" cap="none" strike="noStrike">
                <a:solidFill>
                  <a:srgbClr val="76808A"/>
                </a:solidFill>
                <a:latin typeface="Arial"/>
                <a:ea typeface="Arial"/>
                <a:cs typeface="Arial"/>
                <a:sym typeface="Arial"/>
              </a:rPr>
              <a:t>2</a:t>
            </a:r>
            <a:endParaRPr/>
          </a:p>
        </p:txBody>
      </p:sp>
      <p:sp>
        <p:nvSpPr>
          <p:cNvPr id="101" name="Google Shape;101;p14"/>
          <p:cNvSpPr txBox="1"/>
          <p:nvPr/>
        </p:nvSpPr>
        <p:spPr>
          <a:xfrm>
            <a:off x="841248" y="1737360"/>
            <a:ext cx="9875520" cy="32004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0" i="0" lang="en-US" sz="1800" u="none" cap="none" strike="noStrike">
                <a:solidFill>
                  <a:srgbClr val="1F272E"/>
                </a:solidFill>
                <a:latin typeface="Arial"/>
                <a:ea typeface="Arial"/>
                <a:cs typeface="Arial"/>
                <a:sym typeface="Arial"/>
              </a:rPr>
              <a:t>• Zwei verbundene Forschungsfragen:</a:t>
            </a:r>
            <a:endParaRPr/>
          </a:p>
        </p:txBody>
      </p:sp>
      <p:sp>
        <p:nvSpPr>
          <p:cNvPr id="102" name="Google Shape;102;p14"/>
          <p:cNvSpPr/>
          <p:nvPr/>
        </p:nvSpPr>
        <p:spPr>
          <a:xfrm>
            <a:off x="960120" y="2331720"/>
            <a:ext cx="10058400" cy="1051560"/>
          </a:xfrm>
          <a:prstGeom prst="roundRect">
            <a:avLst>
              <a:gd fmla="val 16667" name="adj"/>
            </a:avLst>
          </a:prstGeom>
          <a:solidFill>
            <a:srgbClr val="E8F2FA"/>
          </a:solidFill>
          <a:ln cap="flat" cmpd="sng" w="10150">
            <a:solidFill>
              <a:srgbClr val="EEF1F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3" name="Google Shape;103;p14"/>
          <p:cNvSpPr txBox="1"/>
          <p:nvPr/>
        </p:nvSpPr>
        <p:spPr>
          <a:xfrm>
            <a:off x="1143000" y="2496312"/>
            <a:ext cx="9692640" cy="822959"/>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n-US" sz="1700" u="none" cap="none" strike="noStrike">
                <a:solidFill>
                  <a:srgbClr val="0F2D4B"/>
                </a:solidFill>
                <a:latin typeface="Arial"/>
                <a:ea typeface="Arial"/>
                <a:cs typeface="Arial"/>
                <a:sym typeface="Arial"/>
              </a:rPr>
              <a:t>• Forschungsfrage 1: Erzielen MVP, ERC und HRP eine höhere risikoadjustierte Out-of-Sample-Performance als das naive 1/N-Portfolio?</a:t>
            </a:r>
            <a:endParaRPr/>
          </a:p>
        </p:txBody>
      </p:sp>
      <p:sp>
        <p:nvSpPr>
          <p:cNvPr id="104" name="Google Shape;104;p14"/>
          <p:cNvSpPr/>
          <p:nvPr/>
        </p:nvSpPr>
        <p:spPr>
          <a:xfrm>
            <a:off x="960120" y="3703320"/>
            <a:ext cx="10058400" cy="1234440"/>
          </a:xfrm>
          <a:prstGeom prst="roundRect">
            <a:avLst>
              <a:gd fmla="val 16667" name="adj"/>
            </a:avLst>
          </a:prstGeom>
          <a:solidFill>
            <a:srgbClr val="FFEBF0"/>
          </a:solidFill>
          <a:ln cap="flat" cmpd="sng" w="10150">
            <a:solidFill>
              <a:srgbClr val="EEF1F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5" name="Google Shape;105;p14"/>
          <p:cNvSpPr txBox="1"/>
          <p:nvPr/>
        </p:nvSpPr>
        <p:spPr>
          <a:xfrm>
            <a:off x="1143000" y="3867911"/>
            <a:ext cx="9692640" cy="1005840"/>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n-US" sz="1700" u="none" cap="none" strike="noStrike">
                <a:solidFill>
                  <a:srgbClr val="0F2D4B"/>
                </a:solidFill>
                <a:latin typeface="Arial"/>
                <a:ea typeface="Arial"/>
                <a:cs typeface="Arial"/>
                <a:sym typeface="Arial"/>
              </a:rPr>
              <a:t>• Forschungsfrage 2: Verbessern GARCH- und DCC-GARCH-basierte Risiko- und Kovarianzprognosen die Performance gegenüber historischen Varianzen und Kovarianzen?</a:t>
            </a:r>
            <a:endParaRPr/>
          </a:p>
        </p:txBody>
      </p:sp>
      <p:sp>
        <p:nvSpPr>
          <p:cNvPr id="106" name="Google Shape;106;p14"/>
          <p:cNvSpPr txBox="1"/>
          <p:nvPr/>
        </p:nvSpPr>
        <p:spPr>
          <a:xfrm>
            <a:off x="960120" y="5349240"/>
            <a:ext cx="9875520" cy="298543"/>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0" i="0" lang="en-US" sz="1700" u="none" cap="none" strike="noStrike">
                <a:solidFill>
                  <a:srgbClr val="76808A"/>
                </a:solidFill>
                <a:latin typeface="Arial"/>
                <a:ea typeface="Arial"/>
                <a:cs typeface="Arial"/>
                <a:sym typeface="Arial"/>
              </a:rPr>
              <a:t>Ziel: Ökonomische Performance und statistische Prognosequalität getrennt betrachten.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5"/>
          <p:cNvSpPr/>
          <p:nvPr/>
        </p:nvSpPr>
        <p:spPr>
          <a:xfrm>
            <a:off x="0" y="0"/>
            <a:ext cx="12191999" cy="6858000"/>
          </a:xfrm>
          <a:prstGeom prst="rect">
            <a:avLst/>
          </a:prstGeom>
          <a:solidFill>
            <a:srgbClr val="F9FA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2" name="Google Shape;112;p15"/>
          <p:cNvSpPr/>
          <p:nvPr/>
        </p:nvSpPr>
        <p:spPr>
          <a:xfrm>
            <a:off x="0" y="0"/>
            <a:ext cx="12191999" cy="64008"/>
          </a:xfrm>
          <a:prstGeom prst="rect">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image1.png" id="113" name="Google Shape;113;p15"/>
          <p:cNvPicPr preferRelativeResize="0"/>
          <p:nvPr/>
        </p:nvPicPr>
        <p:blipFill rotWithShape="1">
          <a:blip r:embed="rId3">
            <a:alphaModFix/>
          </a:blip>
          <a:srcRect b="0" l="0" r="0" t="0"/>
          <a:stretch/>
        </p:blipFill>
        <p:spPr>
          <a:xfrm>
            <a:off x="329184" y="182880"/>
            <a:ext cx="987552" cy="355661"/>
          </a:xfrm>
          <a:prstGeom prst="rect">
            <a:avLst/>
          </a:prstGeom>
          <a:noFill/>
          <a:ln>
            <a:noFill/>
          </a:ln>
        </p:spPr>
      </p:pic>
      <p:sp>
        <p:nvSpPr>
          <p:cNvPr id="114" name="Google Shape;114;p15"/>
          <p:cNvSpPr txBox="1"/>
          <p:nvPr/>
        </p:nvSpPr>
        <p:spPr>
          <a:xfrm>
            <a:off x="8641080" y="201168"/>
            <a:ext cx="3063240" cy="228600"/>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0" i="0" lang="en-US" sz="750" u="none" cap="none" strike="noStrike">
                <a:solidFill>
                  <a:srgbClr val="76808A"/>
                </a:solidFill>
                <a:latin typeface="Arial"/>
                <a:ea typeface="Arial"/>
                <a:cs typeface="Arial"/>
                <a:sym typeface="Arial"/>
              </a:rPr>
              <a:t>Risikobasierte Portfoliooptimierung mit GARCH-Modellen</a:t>
            </a:r>
            <a:endParaRPr/>
          </a:p>
        </p:txBody>
      </p:sp>
      <p:sp>
        <p:nvSpPr>
          <p:cNvPr id="115" name="Google Shape;115;p15"/>
          <p:cNvSpPr txBox="1"/>
          <p:nvPr/>
        </p:nvSpPr>
        <p:spPr>
          <a:xfrm>
            <a:off x="777240" y="786384"/>
            <a:ext cx="10287000" cy="438912"/>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2900" u="none" cap="none" strike="noStrike">
                <a:solidFill>
                  <a:srgbClr val="0F2D4B"/>
                </a:solidFill>
                <a:latin typeface="Arial"/>
                <a:ea typeface="Arial"/>
                <a:cs typeface="Arial"/>
                <a:sym typeface="Arial"/>
              </a:rPr>
              <a:t>Agenda</a:t>
            </a:r>
            <a:endParaRPr/>
          </a:p>
        </p:txBody>
      </p:sp>
      <p:sp>
        <p:nvSpPr>
          <p:cNvPr id="116" name="Google Shape;116;p15"/>
          <p:cNvSpPr/>
          <p:nvPr/>
        </p:nvSpPr>
        <p:spPr>
          <a:xfrm>
            <a:off x="777240" y="1307592"/>
            <a:ext cx="1005840" cy="45720"/>
          </a:xfrm>
          <a:prstGeom prst="rect">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7" name="Google Shape;117;p15"/>
          <p:cNvSpPr/>
          <p:nvPr/>
        </p:nvSpPr>
        <p:spPr>
          <a:xfrm>
            <a:off x="777240" y="6473952"/>
            <a:ext cx="10652760" cy="10972"/>
          </a:xfrm>
          <a:prstGeom prst="rect">
            <a:avLst/>
          </a:prstGeom>
          <a:solidFill>
            <a:srgbClr val="EEF1F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8" name="Google Shape;118;p15"/>
          <p:cNvSpPr txBox="1"/>
          <p:nvPr/>
        </p:nvSpPr>
        <p:spPr>
          <a:xfrm>
            <a:off x="11109960" y="6519672"/>
            <a:ext cx="320040" cy="164592"/>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0" i="0" lang="en-US" sz="800" u="none" cap="none" strike="noStrike">
                <a:solidFill>
                  <a:srgbClr val="76808A"/>
                </a:solidFill>
                <a:latin typeface="Arial"/>
                <a:ea typeface="Arial"/>
                <a:cs typeface="Arial"/>
                <a:sym typeface="Arial"/>
              </a:rPr>
              <a:t>3</a:t>
            </a:r>
            <a:endParaRPr/>
          </a:p>
        </p:txBody>
      </p:sp>
      <p:sp>
        <p:nvSpPr>
          <p:cNvPr id="119" name="Google Shape;119;p15"/>
          <p:cNvSpPr/>
          <p:nvPr/>
        </p:nvSpPr>
        <p:spPr>
          <a:xfrm>
            <a:off x="1143000" y="1691640"/>
            <a:ext cx="4572000" cy="658368"/>
          </a:xfrm>
          <a:prstGeom prst="roundRect">
            <a:avLst>
              <a:gd fmla="val 16667" name="adj"/>
            </a:avLst>
          </a:prstGeom>
          <a:solidFill>
            <a:srgbClr val="FFFFFF"/>
          </a:solidFill>
          <a:ln cap="flat" cmpd="sng" w="10150">
            <a:solidFill>
              <a:srgbClr val="EEF1F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0" name="Google Shape;120;p15"/>
          <p:cNvSpPr txBox="1"/>
          <p:nvPr/>
        </p:nvSpPr>
        <p:spPr>
          <a:xfrm>
            <a:off x="1371600" y="1856232"/>
            <a:ext cx="457200" cy="27432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400" u="none" cap="none" strike="noStrike">
                <a:solidFill>
                  <a:srgbClr val="E2003C"/>
                </a:solidFill>
                <a:latin typeface="Arial"/>
                <a:ea typeface="Arial"/>
                <a:cs typeface="Arial"/>
                <a:sym typeface="Arial"/>
              </a:rPr>
              <a:t>01</a:t>
            </a:r>
            <a:endParaRPr/>
          </a:p>
        </p:txBody>
      </p:sp>
      <p:sp>
        <p:nvSpPr>
          <p:cNvPr id="121" name="Google Shape;121;p15"/>
          <p:cNvSpPr txBox="1"/>
          <p:nvPr/>
        </p:nvSpPr>
        <p:spPr>
          <a:xfrm>
            <a:off x="1892807" y="1847088"/>
            <a:ext cx="3566160" cy="292608"/>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600" u="none" cap="none" strike="noStrike">
                <a:solidFill>
                  <a:srgbClr val="1F272E"/>
                </a:solidFill>
                <a:latin typeface="Arial"/>
                <a:ea typeface="Arial"/>
                <a:cs typeface="Arial"/>
                <a:sym typeface="Arial"/>
              </a:rPr>
              <a:t>Motivation</a:t>
            </a:r>
            <a:endParaRPr/>
          </a:p>
        </p:txBody>
      </p:sp>
      <p:sp>
        <p:nvSpPr>
          <p:cNvPr id="122" name="Google Shape;122;p15"/>
          <p:cNvSpPr/>
          <p:nvPr/>
        </p:nvSpPr>
        <p:spPr>
          <a:xfrm>
            <a:off x="6309360" y="1691640"/>
            <a:ext cx="4572000" cy="658368"/>
          </a:xfrm>
          <a:prstGeom prst="roundRect">
            <a:avLst>
              <a:gd fmla="val 16667" name="adj"/>
            </a:avLst>
          </a:prstGeom>
          <a:solidFill>
            <a:srgbClr val="FFFFFF"/>
          </a:solidFill>
          <a:ln cap="flat" cmpd="sng" w="10150">
            <a:solidFill>
              <a:srgbClr val="EEF1F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3" name="Google Shape;123;p15"/>
          <p:cNvSpPr txBox="1"/>
          <p:nvPr/>
        </p:nvSpPr>
        <p:spPr>
          <a:xfrm>
            <a:off x="6537960" y="1856232"/>
            <a:ext cx="457200" cy="27432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400" u="none" cap="none" strike="noStrike">
                <a:solidFill>
                  <a:srgbClr val="E2003C"/>
                </a:solidFill>
                <a:latin typeface="Arial"/>
                <a:ea typeface="Arial"/>
                <a:cs typeface="Arial"/>
                <a:sym typeface="Arial"/>
              </a:rPr>
              <a:t>02</a:t>
            </a:r>
            <a:endParaRPr/>
          </a:p>
        </p:txBody>
      </p:sp>
      <p:sp>
        <p:nvSpPr>
          <p:cNvPr id="124" name="Google Shape;124;p15"/>
          <p:cNvSpPr txBox="1"/>
          <p:nvPr/>
        </p:nvSpPr>
        <p:spPr>
          <a:xfrm>
            <a:off x="7059168" y="1768432"/>
            <a:ext cx="3566160" cy="292608"/>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600" u="none" cap="none" strike="noStrike">
                <a:solidFill>
                  <a:srgbClr val="1F272E"/>
                </a:solidFill>
                <a:latin typeface="Arial"/>
                <a:ea typeface="Arial"/>
                <a:cs typeface="Arial"/>
                <a:sym typeface="Arial"/>
              </a:rPr>
              <a:t>Risikobasierte Portfolioplanungsmodelle</a:t>
            </a:r>
            <a:endParaRPr b="0" i="0" sz="1800" u="none" cap="none" strike="noStrike">
              <a:solidFill>
                <a:schemeClr val="dk1"/>
              </a:solidFill>
              <a:latin typeface="Calibri"/>
              <a:ea typeface="Calibri"/>
              <a:cs typeface="Calibri"/>
              <a:sym typeface="Calibri"/>
            </a:endParaRPr>
          </a:p>
        </p:txBody>
      </p:sp>
      <p:sp>
        <p:nvSpPr>
          <p:cNvPr id="125" name="Google Shape;125;p15"/>
          <p:cNvSpPr/>
          <p:nvPr/>
        </p:nvSpPr>
        <p:spPr>
          <a:xfrm>
            <a:off x="1143000" y="2679192"/>
            <a:ext cx="4572000" cy="658368"/>
          </a:xfrm>
          <a:prstGeom prst="roundRect">
            <a:avLst>
              <a:gd fmla="val 16667" name="adj"/>
            </a:avLst>
          </a:prstGeom>
          <a:solidFill>
            <a:srgbClr val="FFFFFF"/>
          </a:solidFill>
          <a:ln cap="flat" cmpd="sng" w="10150">
            <a:solidFill>
              <a:srgbClr val="EEF1F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6" name="Google Shape;126;p15"/>
          <p:cNvSpPr txBox="1"/>
          <p:nvPr/>
        </p:nvSpPr>
        <p:spPr>
          <a:xfrm>
            <a:off x="1371600" y="2843784"/>
            <a:ext cx="457200" cy="27432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400" u="none" cap="none" strike="noStrike">
                <a:solidFill>
                  <a:srgbClr val="E2003C"/>
                </a:solidFill>
                <a:latin typeface="Arial"/>
                <a:ea typeface="Arial"/>
                <a:cs typeface="Arial"/>
                <a:sym typeface="Arial"/>
              </a:rPr>
              <a:t>03</a:t>
            </a:r>
            <a:endParaRPr/>
          </a:p>
        </p:txBody>
      </p:sp>
      <p:sp>
        <p:nvSpPr>
          <p:cNvPr id="127" name="Google Shape;127;p15"/>
          <p:cNvSpPr txBox="1"/>
          <p:nvPr/>
        </p:nvSpPr>
        <p:spPr>
          <a:xfrm>
            <a:off x="1892807" y="2834640"/>
            <a:ext cx="3566160" cy="292608"/>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600" u="none" cap="none" strike="noStrike">
                <a:solidFill>
                  <a:srgbClr val="1F272E"/>
                </a:solidFill>
                <a:latin typeface="Arial"/>
                <a:ea typeface="Arial"/>
                <a:cs typeface="Arial"/>
                <a:sym typeface="Arial"/>
              </a:rPr>
              <a:t>GARCH und DCC-GARCH</a:t>
            </a:r>
            <a:endParaRPr/>
          </a:p>
        </p:txBody>
      </p:sp>
      <p:sp>
        <p:nvSpPr>
          <p:cNvPr id="128" name="Google Shape;128;p15"/>
          <p:cNvSpPr/>
          <p:nvPr/>
        </p:nvSpPr>
        <p:spPr>
          <a:xfrm>
            <a:off x="1143000" y="3666744"/>
            <a:ext cx="4572000" cy="658368"/>
          </a:xfrm>
          <a:prstGeom prst="roundRect">
            <a:avLst>
              <a:gd fmla="val 16667" name="adj"/>
            </a:avLst>
          </a:prstGeom>
          <a:solidFill>
            <a:srgbClr val="FFFFFF"/>
          </a:solidFill>
          <a:ln cap="flat" cmpd="sng" w="10150">
            <a:solidFill>
              <a:srgbClr val="EEF1F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9" name="Google Shape;129;p15"/>
          <p:cNvSpPr txBox="1"/>
          <p:nvPr/>
        </p:nvSpPr>
        <p:spPr>
          <a:xfrm>
            <a:off x="1371600" y="3831335"/>
            <a:ext cx="457200" cy="27432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400" u="none" cap="none" strike="noStrike">
                <a:solidFill>
                  <a:srgbClr val="E2003C"/>
                </a:solidFill>
                <a:latin typeface="Arial"/>
                <a:ea typeface="Arial"/>
                <a:cs typeface="Arial"/>
                <a:sym typeface="Arial"/>
              </a:rPr>
              <a:t>05</a:t>
            </a:r>
            <a:endParaRPr/>
          </a:p>
        </p:txBody>
      </p:sp>
      <p:sp>
        <p:nvSpPr>
          <p:cNvPr id="130" name="Google Shape;130;p15"/>
          <p:cNvSpPr/>
          <p:nvPr/>
        </p:nvSpPr>
        <p:spPr>
          <a:xfrm>
            <a:off x="6309360" y="2678863"/>
            <a:ext cx="4572000" cy="658500"/>
          </a:xfrm>
          <a:prstGeom prst="roundRect">
            <a:avLst>
              <a:gd fmla="val 16667" name="adj"/>
            </a:avLst>
          </a:prstGeom>
          <a:solidFill>
            <a:srgbClr val="FFFFFF"/>
          </a:solidFill>
          <a:ln cap="flat" cmpd="sng" w="10150">
            <a:solidFill>
              <a:srgbClr val="EEF1F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1" name="Google Shape;131;p15"/>
          <p:cNvSpPr txBox="1"/>
          <p:nvPr/>
        </p:nvSpPr>
        <p:spPr>
          <a:xfrm>
            <a:off x="6499107" y="2830734"/>
            <a:ext cx="457200" cy="25230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400" u="none" cap="none" strike="noStrike">
                <a:solidFill>
                  <a:srgbClr val="E2003C"/>
                </a:solidFill>
                <a:latin typeface="Arial"/>
                <a:ea typeface="Arial"/>
                <a:cs typeface="Arial"/>
                <a:sym typeface="Arial"/>
              </a:rPr>
              <a:t>0</a:t>
            </a:r>
            <a:r>
              <a:rPr b="1" lang="en-US">
                <a:solidFill>
                  <a:srgbClr val="E2003C"/>
                </a:solidFill>
              </a:rPr>
              <a:t>4</a:t>
            </a:r>
            <a:endParaRPr/>
          </a:p>
        </p:txBody>
      </p:sp>
      <p:sp>
        <p:nvSpPr>
          <p:cNvPr id="132" name="Google Shape;132;p15"/>
          <p:cNvSpPr/>
          <p:nvPr/>
        </p:nvSpPr>
        <p:spPr>
          <a:xfrm>
            <a:off x="1143000" y="4654296"/>
            <a:ext cx="4572000" cy="658368"/>
          </a:xfrm>
          <a:prstGeom prst="roundRect">
            <a:avLst>
              <a:gd fmla="val 16667" name="adj"/>
            </a:avLst>
          </a:prstGeom>
          <a:solidFill>
            <a:srgbClr val="FFFFFF"/>
          </a:solidFill>
          <a:ln cap="flat" cmpd="sng" w="10150">
            <a:solidFill>
              <a:srgbClr val="EEF1F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3" name="Google Shape;133;p15"/>
          <p:cNvSpPr txBox="1"/>
          <p:nvPr/>
        </p:nvSpPr>
        <p:spPr>
          <a:xfrm>
            <a:off x="1371600" y="4818888"/>
            <a:ext cx="457200" cy="27432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400" u="none" cap="none" strike="noStrike">
                <a:solidFill>
                  <a:srgbClr val="E2003C"/>
                </a:solidFill>
                <a:latin typeface="Arial"/>
                <a:ea typeface="Arial"/>
                <a:cs typeface="Arial"/>
                <a:sym typeface="Arial"/>
              </a:rPr>
              <a:t>07</a:t>
            </a:r>
            <a:endParaRPr/>
          </a:p>
        </p:txBody>
      </p:sp>
      <p:sp>
        <p:nvSpPr>
          <p:cNvPr id="134" name="Google Shape;134;p15"/>
          <p:cNvSpPr txBox="1"/>
          <p:nvPr/>
        </p:nvSpPr>
        <p:spPr>
          <a:xfrm>
            <a:off x="1892807" y="4809744"/>
            <a:ext cx="3566100" cy="28320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lang="en-US" sz="1600">
                <a:solidFill>
                  <a:srgbClr val="1F272E"/>
                </a:solidFill>
              </a:rPr>
              <a:t>Ausblick</a:t>
            </a:r>
            <a:endParaRPr/>
          </a:p>
        </p:txBody>
      </p:sp>
      <p:sp>
        <p:nvSpPr>
          <p:cNvPr id="135" name="Google Shape;135;p15"/>
          <p:cNvSpPr/>
          <p:nvPr/>
        </p:nvSpPr>
        <p:spPr>
          <a:xfrm>
            <a:off x="6309360" y="3692007"/>
            <a:ext cx="4572000" cy="658500"/>
          </a:xfrm>
          <a:prstGeom prst="roundRect">
            <a:avLst>
              <a:gd fmla="val 16667" name="adj"/>
            </a:avLst>
          </a:prstGeom>
          <a:solidFill>
            <a:srgbClr val="FFFFFF"/>
          </a:solidFill>
          <a:ln cap="flat" cmpd="sng" w="10150">
            <a:solidFill>
              <a:srgbClr val="EEF1F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6" name="Google Shape;136;p15"/>
          <p:cNvSpPr txBox="1"/>
          <p:nvPr/>
        </p:nvSpPr>
        <p:spPr>
          <a:xfrm>
            <a:off x="6510853" y="3843046"/>
            <a:ext cx="457200" cy="25230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400" u="none" cap="none" strike="noStrike">
                <a:solidFill>
                  <a:srgbClr val="E2003C"/>
                </a:solidFill>
                <a:latin typeface="Arial"/>
                <a:ea typeface="Arial"/>
                <a:cs typeface="Arial"/>
                <a:sym typeface="Arial"/>
              </a:rPr>
              <a:t>0</a:t>
            </a:r>
            <a:r>
              <a:rPr b="1" lang="en-US">
                <a:solidFill>
                  <a:srgbClr val="E2003C"/>
                </a:solidFill>
              </a:rPr>
              <a:t>6</a:t>
            </a:r>
            <a:endParaRPr/>
          </a:p>
        </p:txBody>
      </p:sp>
      <p:sp>
        <p:nvSpPr>
          <p:cNvPr id="137" name="Google Shape;137;p15"/>
          <p:cNvSpPr txBox="1"/>
          <p:nvPr/>
        </p:nvSpPr>
        <p:spPr>
          <a:xfrm>
            <a:off x="6998771" y="2829192"/>
            <a:ext cx="3566100" cy="28320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600" u="none" cap="none" strike="noStrike">
                <a:solidFill>
                  <a:srgbClr val="1F272E"/>
                </a:solidFill>
                <a:latin typeface="Arial"/>
                <a:ea typeface="Arial"/>
                <a:cs typeface="Arial"/>
                <a:sym typeface="Arial"/>
              </a:rPr>
              <a:t>Daten und Methodik</a:t>
            </a:r>
            <a:endParaRPr/>
          </a:p>
        </p:txBody>
      </p:sp>
      <p:sp>
        <p:nvSpPr>
          <p:cNvPr id="138" name="Google Shape;138;p15"/>
          <p:cNvSpPr txBox="1"/>
          <p:nvPr/>
        </p:nvSpPr>
        <p:spPr>
          <a:xfrm>
            <a:off x="1828803" y="3813660"/>
            <a:ext cx="3566100" cy="28320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600" u="none" cap="none" strike="noStrike">
                <a:solidFill>
                  <a:srgbClr val="1F272E"/>
                </a:solidFill>
                <a:latin typeface="Arial"/>
                <a:ea typeface="Arial"/>
                <a:cs typeface="Arial"/>
                <a:sym typeface="Arial"/>
              </a:rPr>
              <a:t>Ergebnisse</a:t>
            </a:r>
            <a:endParaRPr/>
          </a:p>
        </p:txBody>
      </p:sp>
      <p:sp>
        <p:nvSpPr>
          <p:cNvPr id="139" name="Google Shape;139;p15"/>
          <p:cNvSpPr txBox="1"/>
          <p:nvPr/>
        </p:nvSpPr>
        <p:spPr>
          <a:xfrm>
            <a:off x="7029161" y="3824044"/>
            <a:ext cx="3566100" cy="28320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600" u="none" cap="none" strike="noStrike">
                <a:solidFill>
                  <a:srgbClr val="1F272E"/>
                </a:solidFill>
                <a:latin typeface="Arial"/>
                <a:ea typeface="Arial"/>
                <a:cs typeface="Arial"/>
                <a:sym typeface="Arial"/>
              </a:rPr>
              <a:t>Fazit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6"/>
          <p:cNvSpPr/>
          <p:nvPr/>
        </p:nvSpPr>
        <p:spPr>
          <a:xfrm>
            <a:off x="0" y="0"/>
            <a:ext cx="12191999" cy="6858000"/>
          </a:xfrm>
          <a:prstGeom prst="rect">
            <a:avLst/>
          </a:prstGeom>
          <a:solidFill>
            <a:srgbClr val="F9FA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5" name="Google Shape;145;p16"/>
          <p:cNvSpPr/>
          <p:nvPr/>
        </p:nvSpPr>
        <p:spPr>
          <a:xfrm>
            <a:off x="0" y="0"/>
            <a:ext cx="12191999" cy="64008"/>
          </a:xfrm>
          <a:prstGeom prst="rect">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image1.png" id="146" name="Google Shape;146;p16"/>
          <p:cNvPicPr preferRelativeResize="0"/>
          <p:nvPr/>
        </p:nvPicPr>
        <p:blipFill rotWithShape="1">
          <a:blip r:embed="rId3">
            <a:alphaModFix/>
          </a:blip>
          <a:srcRect b="0" l="0" r="0" t="0"/>
          <a:stretch/>
        </p:blipFill>
        <p:spPr>
          <a:xfrm>
            <a:off x="329184" y="182880"/>
            <a:ext cx="987552" cy="355661"/>
          </a:xfrm>
          <a:prstGeom prst="rect">
            <a:avLst/>
          </a:prstGeom>
          <a:noFill/>
          <a:ln>
            <a:noFill/>
          </a:ln>
        </p:spPr>
      </p:pic>
      <p:sp>
        <p:nvSpPr>
          <p:cNvPr id="147" name="Google Shape;147;p16"/>
          <p:cNvSpPr txBox="1"/>
          <p:nvPr/>
        </p:nvSpPr>
        <p:spPr>
          <a:xfrm>
            <a:off x="8641080" y="201168"/>
            <a:ext cx="3063240" cy="228600"/>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0" i="0" lang="en-US" sz="750" u="none" cap="none" strike="noStrike">
                <a:solidFill>
                  <a:srgbClr val="76808A"/>
                </a:solidFill>
                <a:latin typeface="Arial"/>
                <a:ea typeface="Arial"/>
                <a:cs typeface="Arial"/>
                <a:sym typeface="Arial"/>
              </a:rPr>
              <a:t>Risikobasierte Portfoliooptimierung mit GARCH-Modellen</a:t>
            </a:r>
            <a:endParaRPr/>
          </a:p>
        </p:txBody>
      </p:sp>
      <p:sp>
        <p:nvSpPr>
          <p:cNvPr id="148" name="Google Shape;148;p16"/>
          <p:cNvSpPr txBox="1"/>
          <p:nvPr/>
        </p:nvSpPr>
        <p:spPr>
          <a:xfrm>
            <a:off x="777240" y="786384"/>
            <a:ext cx="10287000" cy="438912"/>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2900" u="none" cap="none" strike="noStrike">
                <a:solidFill>
                  <a:srgbClr val="0F2D4B"/>
                </a:solidFill>
                <a:latin typeface="Arial"/>
                <a:ea typeface="Arial"/>
                <a:cs typeface="Arial"/>
                <a:sym typeface="Arial"/>
              </a:rPr>
              <a:t>Motivation</a:t>
            </a:r>
            <a:endParaRPr/>
          </a:p>
        </p:txBody>
      </p:sp>
      <p:sp>
        <p:nvSpPr>
          <p:cNvPr id="149" name="Google Shape;149;p16"/>
          <p:cNvSpPr/>
          <p:nvPr/>
        </p:nvSpPr>
        <p:spPr>
          <a:xfrm>
            <a:off x="777240" y="1307592"/>
            <a:ext cx="1005840" cy="45720"/>
          </a:xfrm>
          <a:prstGeom prst="rect">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0" name="Google Shape;150;p16"/>
          <p:cNvSpPr/>
          <p:nvPr/>
        </p:nvSpPr>
        <p:spPr>
          <a:xfrm>
            <a:off x="777240" y="6473952"/>
            <a:ext cx="10652760" cy="10972"/>
          </a:xfrm>
          <a:prstGeom prst="rect">
            <a:avLst/>
          </a:prstGeom>
          <a:solidFill>
            <a:srgbClr val="EEF1F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1" name="Google Shape;151;p16"/>
          <p:cNvSpPr txBox="1"/>
          <p:nvPr/>
        </p:nvSpPr>
        <p:spPr>
          <a:xfrm>
            <a:off x="11109960" y="6519672"/>
            <a:ext cx="320040" cy="164592"/>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0" i="0" lang="en-US" sz="800" u="none" cap="none" strike="noStrike">
                <a:solidFill>
                  <a:srgbClr val="76808A"/>
                </a:solidFill>
                <a:latin typeface="Arial"/>
                <a:ea typeface="Arial"/>
                <a:cs typeface="Arial"/>
                <a:sym typeface="Arial"/>
              </a:rPr>
              <a:t>4</a:t>
            </a:r>
            <a:endParaRPr/>
          </a:p>
        </p:txBody>
      </p:sp>
      <p:sp>
        <p:nvSpPr>
          <p:cNvPr id="152" name="Google Shape;152;p16"/>
          <p:cNvSpPr/>
          <p:nvPr/>
        </p:nvSpPr>
        <p:spPr>
          <a:xfrm>
            <a:off x="868680" y="1737360"/>
            <a:ext cx="5257800" cy="3246120"/>
          </a:xfrm>
          <a:prstGeom prst="roundRect">
            <a:avLst>
              <a:gd fmla="val 16667" name="adj"/>
            </a:avLst>
          </a:prstGeom>
          <a:solidFill>
            <a:srgbClr val="FFFFFF"/>
          </a:solidFill>
          <a:ln cap="flat" cmpd="sng" w="10150">
            <a:solidFill>
              <a:srgbClr val="EEF1F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3" name="Google Shape;153;p16"/>
          <p:cNvSpPr txBox="1"/>
          <p:nvPr/>
        </p:nvSpPr>
        <p:spPr>
          <a:xfrm>
            <a:off x="1069848" y="1901952"/>
            <a:ext cx="4855464" cy="27432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500" u="none" cap="none" strike="noStrike">
                <a:solidFill>
                  <a:srgbClr val="0F2D4B"/>
                </a:solidFill>
                <a:latin typeface="Arial"/>
                <a:ea typeface="Arial"/>
                <a:cs typeface="Arial"/>
                <a:sym typeface="Arial"/>
              </a:rPr>
              <a:t>Warum risikobasierte Portfoliooptimierung?</a:t>
            </a:r>
            <a:endParaRPr/>
          </a:p>
        </p:txBody>
      </p:sp>
      <p:sp>
        <p:nvSpPr>
          <p:cNvPr id="154" name="Google Shape;154;p16"/>
          <p:cNvSpPr txBox="1"/>
          <p:nvPr/>
        </p:nvSpPr>
        <p:spPr>
          <a:xfrm>
            <a:off x="1078992" y="2240280"/>
            <a:ext cx="4800600" cy="1853100"/>
          </a:xfrm>
          <a:prstGeom prst="rect">
            <a:avLst/>
          </a:prstGeom>
          <a:noFill/>
          <a:ln>
            <a:noFill/>
          </a:ln>
        </p:spPr>
        <p:txBody>
          <a:bodyPr anchorCtr="0" anchor="t" bIns="18275" lIns="45700" spcFirstLastPara="1" rIns="45700" wrap="square" tIns="18275">
            <a:spAutoFit/>
          </a:bodyPr>
          <a:lstStyle/>
          <a:p>
            <a:pPr indent="0" lvl="0" marL="0" marR="0" rtl="0" algn="l">
              <a:lnSpc>
                <a:spcPct val="105000"/>
              </a:lnSpc>
              <a:spcBef>
                <a:spcPts val="0"/>
              </a:spcBef>
              <a:spcAft>
                <a:spcPts val="0"/>
              </a:spcAft>
              <a:buNone/>
            </a:pPr>
            <a:r>
              <a:rPr b="0" i="0" lang="en-US" sz="1600" u="none" cap="none" strike="noStrike">
                <a:solidFill>
                  <a:srgbClr val="1F272E"/>
                </a:solidFill>
                <a:latin typeface="Arial"/>
                <a:ea typeface="Arial"/>
                <a:cs typeface="Arial"/>
                <a:sym typeface="Arial"/>
              </a:rPr>
              <a:t>• Portfolios sollen das Risiko minimieren und dabei    ohne konkrete Renditeschätzungen auskommen.</a:t>
            </a:r>
            <a:endParaRPr/>
          </a:p>
          <a:p>
            <a:pPr indent="0" lvl="0" marL="0" marR="0" rtl="0" algn="l">
              <a:lnSpc>
                <a:spcPct val="105000"/>
              </a:lnSpc>
              <a:spcBef>
                <a:spcPts val="1200"/>
              </a:spcBef>
              <a:spcAft>
                <a:spcPts val="0"/>
              </a:spcAft>
              <a:buNone/>
            </a:pPr>
            <a:r>
              <a:rPr b="0" i="0" lang="en-US" sz="1600" u="none" cap="none" strike="noStrike">
                <a:solidFill>
                  <a:srgbClr val="1F272E"/>
                </a:solidFill>
                <a:latin typeface="Arial"/>
                <a:ea typeface="Arial"/>
                <a:cs typeface="Arial"/>
                <a:sym typeface="Arial"/>
              </a:rPr>
              <a:t>• Durch Kombination verschiedener Anlagen wird ein besseres Verhältnis von Rendite und Risiko angestrebt.</a:t>
            </a:r>
            <a:endParaRPr/>
          </a:p>
          <a:p>
            <a:pPr indent="0" lvl="0" marL="0" marR="0" rtl="0" algn="l">
              <a:lnSpc>
                <a:spcPct val="105000"/>
              </a:lnSpc>
              <a:spcBef>
                <a:spcPts val="1200"/>
              </a:spcBef>
              <a:spcAft>
                <a:spcPts val="0"/>
              </a:spcAft>
              <a:buNone/>
            </a:pPr>
            <a:r>
              <a:t/>
            </a:r>
            <a:endParaRPr/>
          </a:p>
        </p:txBody>
      </p:sp>
      <p:sp>
        <p:nvSpPr>
          <p:cNvPr id="155" name="Google Shape;155;p16"/>
          <p:cNvSpPr/>
          <p:nvPr/>
        </p:nvSpPr>
        <p:spPr>
          <a:xfrm>
            <a:off x="6446520" y="1737360"/>
            <a:ext cx="4663440" cy="3246120"/>
          </a:xfrm>
          <a:prstGeom prst="roundRect">
            <a:avLst>
              <a:gd fmla="val 16667" name="adj"/>
            </a:avLst>
          </a:prstGeom>
          <a:solidFill>
            <a:srgbClr val="FFFFFF"/>
          </a:solidFill>
          <a:ln cap="flat" cmpd="sng" w="10150">
            <a:solidFill>
              <a:srgbClr val="EEF1F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6" name="Google Shape;156;p16"/>
          <p:cNvSpPr txBox="1"/>
          <p:nvPr/>
        </p:nvSpPr>
        <p:spPr>
          <a:xfrm>
            <a:off x="6647688" y="1901952"/>
            <a:ext cx="4261103" cy="27432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500" u="none" cap="none" strike="noStrike">
                <a:solidFill>
                  <a:srgbClr val="0F2D4B"/>
                </a:solidFill>
                <a:latin typeface="Arial"/>
                <a:ea typeface="Arial"/>
                <a:cs typeface="Arial"/>
                <a:sym typeface="Arial"/>
              </a:rPr>
              <a:t>Zentrale Idee</a:t>
            </a:r>
            <a:endParaRPr/>
          </a:p>
        </p:txBody>
      </p:sp>
      <p:sp>
        <p:nvSpPr>
          <p:cNvPr id="157" name="Google Shape;157;p16"/>
          <p:cNvSpPr txBox="1"/>
          <p:nvPr/>
        </p:nvSpPr>
        <p:spPr>
          <a:xfrm>
            <a:off x="6656832" y="2240280"/>
            <a:ext cx="4160400" cy="2370300"/>
          </a:xfrm>
          <a:prstGeom prst="rect">
            <a:avLst/>
          </a:prstGeom>
          <a:noFill/>
          <a:ln>
            <a:noFill/>
          </a:ln>
        </p:spPr>
        <p:txBody>
          <a:bodyPr anchorCtr="0" anchor="t" bIns="18275" lIns="45700" spcFirstLastPara="1" rIns="45700" wrap="square" tIns="18275">
            <a:spAutoFit/>
          </a:bodyPr>
          <a:lstStyle/>
          <a:p>
            <a:pPr indent="0" lvl="0" marL="0" marR="0" rtl="0" algn="l">
              <a:lnSpc>
                <a:spcPct val="105000"/>
              </a:lnSpc>
              <a:spcBef>
                <a:spcPts val="0"/>
              </a:spcBef>
              <a:spcAft>
                <a:spcPts val="0"/>
              </a:spcAft>
              <a:buNone/>
            </a:pPr>
            <a:r>
              <a:rPr b="0" i="0" lang="en-US" sz="1600" u="none" cap="none" strike="noStrike">
                <a:solidFill>
                  <a:srgbClr val="1F272E"/>
                </a:solidFill>
                <a:latin typeface="Arial"/>
                <a:ea typeface="Arial"/>
                <a:cs typeface="Arial"/>
                <a:sym typeface="Arial"/>
              </a:rPr>
              <a:t>• </a:t>
            </a:r>
            <a:r>
              <a:rPr lang="en-US" sz="1600">
                <a:solidFill>
                  <a:srgbClr val="1F272E"/>
                </a:solidFill>
              </a:rPr>
              <a:t>Renditeparameter lassen sich häufig nur schwer präzise schätzen.</a:t>
            </a:r>
            <a:endParaRPr sz="1600">
              <a:solidFill>
                <a:srgbClr val="1F272E"/>
              </a:solidFill>
            </a:endParaRPr>
          </a:p>
          <a:p>
            <a:pPr indent="0" lvl="0" marL="0" marR="0" rtl="0" algn="l">
              <a:lnSpc>
                <a:spcPct val="105000"/>
              </a:lnSpc>
              <a:spcBef>
                <a:spcPts val="0"/>
              </a:spcBef>
              <a:spcAft>
                <a:spcPts val="0"/>
              </a:spcAft>
              <a:buNone/>
            </a:pPr>
            <a:r>
              <a:t/>
            </a:r>
            <a:endParaRPr sz="1600">
              <a:solidFill>
                <a:srgbClr val="1F272E"/>
              </a:solidFill>
            </a:endParaRPr>
          </a:p>
          <a:p>
            <a:pPr indent="0" lvl="0" marL="0" marR="0" rtl="0" algn="l">
              <a:lnSpc>
                <a:spcPct val="105000"/>
              </a:lnSpc>
              <a:spcBef>
                <a:spcPts val="0"/>
              </a:spcBef>
              <a:spcAft>
                <a:spcPts val="0"/>
              </a:spcAft>
              <a:buNone/>
            </a:pPr>
            <a:r>
              <a:rPr lang="en-US" sz="1600">
                <a:solidFill>
                  <a:srgbClr val="1F272E"/>
                </a:solidFill>
              </a:rPr>
              <a:t>• </a:t>
            </a:r>
            <a:r>
              <a:rPr b="0" i="0" lang="en-US" sz="1600" u="none" cap="none" strike="noStrike">
                <a:solidFill>
                  <a:srgbClr val="1F272E"/>
                </a:solidFill>
                <a:latin typeface="Arial"/>
                <a:ea typeface="Arial"/>
                <a:cs typeface="Arial"/>
                <a:sym typeface="Arial"/>
              </a:rPr>
              <a:t>Risikokennzahlen sind meist stabiler als erwartete Renditen.</a:t>
            </a:r>
            <a:endParaRPr/>
          </a:p>
          <a:p>
            <a:pPr indent="0" lvl="0" marL="0" marR="0" rtl="0" algn="l">
              <a:lnSpc>
                <a:spcPct val="105000"/>
              </a:lnSpc>
              <a:spcBef>
                <a:spcPts val="1200"/>
              </a:spcBef>
              <a:spcAft>
                <a:spcPts val="0"/>
              </a:spcAft>
              <a:buNone/>
            </a:pPr>
            <a:r>
              <a:rPr b="0" i="0" lang="en-US" sz="1600" u="none" cap="none" strike="noStrike">
                <a:solidFill>
                  <a:srgbClr val="1F272E"/>
                </a:solidFill>
                <a:latin typeface="Arial"/>
                <a:ea typeface="Arial"/>
                <a:cs typeface="Arial"/>
                <a:sym typeface="Arial"/>
              </a:rPr>
              <a:t>• Risikobasierte Modelle reduziere die Schätzfehlerproblematik.</a:t>
            </a:r>
            <a:endParaRPr/>
          </a:p>
          <a:p>
            <a:pPr indent="0" lvl="0" marL="0" marR="0" rtl="0" algn="l">
              <a:lnSpc>
                <a:spcPct val="105000"/>
              </a:lnSpc>
              <a:spcBef>
                <a:spcPts val="1200"/>
              </a:spcBef>
              <a:spcAft>
                <a:spcPts val="0"/>
              </a:spcAft>
              <a:buNone/>
            </a:pPr>
            <a:r>
              <a:t/>
            </a:r>
            <a:endParaRPr/>
          </a:p>
        </p:txBody>
      </p:sp>
      <p:sp>
        <p:nvSpPr>
          <p:cNvPr id="158" name="Google Shape;158;p16"/>
          <p:cNvSpPr/>
          <p:nvPr/>
        </p:nvSpPr>
        <p:spPr>
          <a:xfrm>
            <a:off x="1417320" y="5349240"/>
            <a:ext cx="9326880" cy="685800"/>
          </a:xfrm>
          <a:prstGeom prst="roundRect">
            <a:avLst>
              <a:gd fmla="val 16667" name="adj"/>
            </a:avLst>
          </a:prstGeom>
          <a:solidFill>
            <a:srgbClr val="E8F2FA"/>
          </a:solidFill>
          <a:ln cap="flat" cmpd="sng" w="10150">
            <a:solidFill>
              <a:srgbClr val="EEF1F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9" name="Google Shape;159;p16"/>
          <p:cNvSpPr txBox="1"/>
          <p:nvPr/>
        </p:nvSpPr>
        <p:spPr>
          <a:xfrm>
            <a:off x="1600200" y="5513831"/>
            <a:ext cx="8961119" cy="457200"/>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n-US" sz="1700" u="none" cap="none" strike="noStrike">
                <a:solidFill>
                  <a:srgbClr val="0F2D4B"/>
                </a:solidFill>
                <a:latin typeface="Arial"/>
                <a:ea typeface="Arial"/>
                <a:cs typeface="Arial"/>
                <a:sym typeface="Arial"/>
              </a:rPr>
              <a:t>• Risikobasierte Strategien nutzen primär Varianzen, Kovarianzen und Korrelationen – nicht erwartete Renditen.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7"/>
          <p:cNvSpPr/>
          <p:nvPr/>
        </p:nvSpPr>
        <p:spPr>
          <a:xfrm>
            <a:off x="0" y="0"/>
            <a:ext cx="12191999" cy="6858000"/>
          </a:xfrm>
          <a:prstGeom prst="rect">
            <a:avLst/>
          </a:prstGeom>
          <a:solidFill>
            <a:srgbClr val="F9FA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5" name="Google Shape;165;p17"/>
          <p:cNvSpPr/>
          <p:nvPr/>
        </p:nvSpPr>
        <p:spPr>
          <a:xfrm>
            <a:off x="0" y="0"/>
            <a:ext cx="12191999" cy="64008"/>
          </a:xfrm>
          <a:prstGeom prst="rect">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image1.png" id="166" name="Google Shape;166;p17"/>
          <p:cNvPicPr preferRelativeResize="0"/>
          <p:nvPr/>
        </p:nvPicPr>
        <p:blipFill rotWithShape="1">
          <a:blip r:embed="rId3">
            <a:alphaModFix/>
          </a:blip>
          <a:srcRect b="0" l="0" r="0" t="0"/>
          <a:stretch/>
        </p:blipFill>
        <p:spPr>
          <a:xfrm>
            <a:off x="329184" y="182880"/>
            <a:ext cx="987552" cy="355661"/>
          </a:xfrm>
          <a:prstGeom prst="rect">
            <a:avLst/>
          </a:prstGeom>
          <a:noFill/>
          <a:ln>
            <a:noFill/>
          </a:ln>
        </p:spPr>
      </p:pic>
      <p:sp>
        <p:nvSpPr>
          <p:cNvPr id="167" name="Google Shape;167;p17"/>
          <p:cNvSpPr txBox="1"/>
          <p:nvPr/>
        </p:nvSpPr>
        <p:spPr>
          <a:xfrm>
            <a:off x="8641080" y="201168"/>
            <a:ext cx="3063240" cy="228600"/>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0" i="0" lang="en-US" sz="750" u="none" cap="none" strike="noStrike">
                <a:solidFill>
                  <a:srgbClr val="76808A"/>
                </a:solidFill>
                <a:latin typeface="Arial"/>
                <a:ea typeface="Arial"/>
                <a:cs typeface="Arial"/>
                <a:sym typeface="Arial"/>
              </a:rPr>
              <a:t>Risikobasierte Portfoliooptimierung mit GARCH-Modellen</a:t>
            </a:r>
            <a:endParaRPr/>
          </a:p>
        </p:txBody>
      </p:sp>
      <p:sp>
        <p:nvSpPr>
          <p:cNvPr id="168" name="Google Shape;168;p17"/>
          <p:cNvSpPr txBox="1"/>
          <p:nvPr/>
        </p:nvSpPr>
        <p:spPr>
          <a:xfrm>
            <a:off x="777240" y="786384"/>
            <a:ext cx="10287000" cy="438912"/>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2900" u="none" cap="none" strike="noStrike">
                <a:solidFill>
                  <a:srgbClr val="0F2D4B"/>
                </a:solidFill>
                <a:latin typeface="Arial"/>
                <a:ea typeface="Arial"/>
                <a:cs typeface="Arial"/>
                <a:sym typeface="Arial"/>
              </a:rPr>
              <a:t>Risikobasierte Portfolioplanungsmodelle</a:t>
            </a:r>
            <a:endParaRPr/>
          </a:p>
        </p:txBody>
      </p:sp>
      <p:sp>
        <p:nvSpPr>
          <p:cNvPr id="169" name="Google Shape;169;p17"/>
          <p:cNvSpPr/>
          <p:nvPr/>
        </p:nvSpPr>
        <p:spPr>
          <a:xfrm>
            <a:off x="777240" y="1307592"/>
            <a:ext cx="1005840" cy="45720"/>
          </a:xfrm>
          <a:prstGeom prst="rect">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0" name="Google Shape;170;p17"/>
          <p:cNvSpPr/>
          <p:nvPr/>
        </p:nvSpPr>
        <p:spPr>
          <a:xfrm>
            <a:off x="777240" y="6473952"/>
            <a:ext cx="10652760" cy="10972"/>
          </a:xfrm>
          <a:prstGeom prst="rect">
            <a:avLst/>
          </a:prstGeom>
          <a:solidFill>
            <a:srgbClr val="EEF1F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1" name="Google Shape;171;p17"/>
          <p:cNvSpPr txBox="1"/>
          <p:nvPr/>
        </p:nvSpPr>
        <p:spPr>
          <a:xfrm>
            <a:off x="11109960" y="6519672"/>
            <a:ext cx="320040" cy="164592"/>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0" i="0" lang="en-US" sz="800" u="none" cap="none" strike="noStrike">
                <a:solidFill>
                  <a:srgbClr val="76808A"/>
                </a:solidFill>
                <a:latin typeface="Arial"/>
                <a:ea typeface="Arial"/>
                <a:cs typeface="Arial"/>
                <a:sym typeface="Arial"/>
              </a:rPr>
              <a:t>5</a:t>
            </a:r>
            <a:endParaRPr/>
          </a:p>
        </p:txBody>
      </p:sp>
      <p:sp>
        <p:nvSpPr>
          <p:cNvPr id="172" name="Google Shape;172;p17"/>
          <p:cNvSpPr/>
          <p:nvPr/>
        </p:nvSpPr>
        <p:spPr>
          <a:xfrm>
            <a:off x="777240" y="1691640"/>
            <a:ext cx="3337560" cy="3611880"/>
          </a:xfrm>
          <a:prstGeom prst="roundRect">
            <a:avLst>
              <a:gd fmla="val 16667" name="adj"/>
            </a:avLst>
          </a:prstGeom>
          <a:solidFill>
            <a:srgbClr val="FFFFFF"/>
          </a:solidFill>
          <a:ln cap="flat" cmpd="sng" w="10150">
            <a:solidFill>
              <a:srgbClr val="EEF1F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3" name="Google Shape;173;p17"/>
          <p:cNvSpPr/>
          <p:nvPr/>
        </p:nvSpPr>
        <p:spPr>
          <a:xfrm>
            <a:off x="978408" y="1764785"/>
            <a:ext cx="777300" cy="475500"/>
          </a:xfrm>
          <a:prstGeom prst="roundRect">
            <a:avLst>
              <a:gd fmla="val 16667" name="adj"/>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4" name="Google Shape;174;p17"/>
          <p:cNvSpPr txBox="1"/>
          <p:nvPr/>
        </p:nvSpPr>
        <p:spPr>
          <a:xfrm>
            <a:off x="978358" y="1853263"/>
            <a:ext cx="777300" cy="298500"/>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1700" u="none" cap="none" strike="noStrike">
                <a:solidFill>
                  <a:srgbClr val="FFFFFF"/>
                </a:solidFill>
                <a:latin typeface="Arial"/>
                <a:ea typeface="Arial"/>
                <a:cs typeface="Arial"/>
                <a:sym typeface="Arial"/>
              </a:rPr>
              <a:t>MVP</a:t>
            </a:r>
            <a:endParaRPr/>
          </a:p>
        </p:txBody>
      </p:sp>
      <p:sp>
        <p:nvSpPr>
          <p:cNvPr id="175" name="Google Shape;175;p17"/>
          <p:cNvSpPr txBox="1"/>
          <p:nvPr/>
        </p:nvSpPr>
        <p:spPr>
          <a:xfrm>
            <a:off x="1033320" y="2356360"/>
            <a:ext cx="2880300" cy="28320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600" u="none" cap="none" strike="noStrike">
                <a:solidFill>
                  <a:srgbClr val="0F2D4B"/>
                </a:solidFill>
                <a:latin typeface="Arial"/>
                <a:ea typeface="Arial"/>
                <a:cs typeface="Arial"/>
                <a:sym typeface="Arial"/>
              </a:rPr>
              <a:t>Minimum-Varianz-Portfolio</a:t>
            </a:r>
            <a:endParaRPr/>
          </a:p>
        </p:txBody>
      </p:sp>
      <p:sp>
        <p:nvSpPr>
          <p:cNvPr id="176" name="Google Shape;176;p17"/>
          <p:cNvSpPr txBox="1"/>
          <p:nvPr/>
        </p:nvSpPr>
        <p:spPr>
          <a:xfrm>
            <a:off x="1060711" y="2693473"/>
            <a:ext cx="2743200" cy="2813700"/>
          </a:xfrm>
          <a:prstGeom prst="rect">
            <a:avLst/>
          </a:prstGeom>
          <a:noFill/>
          <a:ln>
            <a:noFill/>
          </a:ln>
        </p:spPr>
        <p:txBody>
          <a:bodyPr anchorCtr="0" anchor="t" bIns="18275" lIns="45700" spcFirstLastPara="1" rIns="45700" wrap="square" tIns="18275">
            <a:spAutoFit/>
          </a:bodyPr>
          <a:lstStyle/>
          <a:p>
            <a:pPr indent="0" lvl="0" marL="0" marR="0" rtl="0" algn="l">
              <a:lnSpc>
                <a:spcPct val="105000"/>
              </a:lnSpc>
              <a:spcBef>
                <a:spcPts val="0"/>
              </a:spcBef>
              <a:spcAft>
                <a:spcPts val="0"/>
              </a:spcAft>
              <a:buNone/>
            </a:pPr>
            <a:r>
              <a:rPr b="0" i="0" lang="en-US" sz="1450" u="none" cap="none" strike="noStrike">
                <a:solidFill>
                  <a:srgbClr val="1F272E"/>
                </a:solidFill>
                <a:latin typeface="Arial"/>
                <a:ea typeface="Arial"/>
                <a:cs typeface="Arial"/>
                <a:sym typeface="Arial"/>
              </a:rPr>
              <a:t>• G</a:t>
            </a:r>
            <a:r>
              <a:rPr b="0" i="0" lang="en-US" sz="1600" u="none" cap="none" strike="noStrike">
                <a:solidFill>
                  <a:srgbClr val="1F272E"/>
                </a:solidFill>
                <a:latin typeface="Arial"/>
                <a:ea typeface="Arial"/>
                <a:cs typeface="Arial"/>
                <a:sym typeface="Arial"/>
              </a:rPr>
              <a:t>eringste mögliche Portfolio-Varianz</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1200"/>
              </a:spcBef>
              <a:spcAft>
                <a:spcPts val="0"/>
              </a:spcAft>
              <a:buNone/>
            </a:pPr>
            <a:r>
              <a:rPr b="0" i="0" lang="en-US" sz="1600" u="none" cap="none" strike="noStrike">
                <a:solidFill>
                  <a:srgbClr val="1F272E"/>
                </a:solidFill>
                <a:latin typeface="Arial"/>
                <a:ea typeface="Arial"/>
                <a:cs typeface="Arial"/>
                <a:sym typeface="Arial"/>
              </a:rPr>
              <a:t>• Optimierung über marginale Risikobeiträge</a:t>
            </a:r>
            <a:endParaRPr sz="1600">
              <a:solidFill>
                <a:srgbClr val="1F272E"/>
              </a:solidFill>
            </a:endParaRPr>
          </a:p>
          <a:p>
            <a:pPr indent="0" lvl="0" marL="0" rtl="0" algn="l">
              <a:lnSpc>
                <a:spcPct val="105000"/>
              </a:lnSpc>
              <a:spcBef>
                <a:spcPts val="1200"/>
              </a:spcBef>
              <a:spcAft>
                <a:spcPts val="0"/>
              </a:spcAft>
              <a:buClr>
                <a:schemeClr val="dk1"/>
              </a:buClr>
              <a:buFont typeface="Arial"/>
              <a:buNone/>
            </a:pPr>
            <a:r>
              <a:rPr lang="en-US" sz="1600">
                <a:solidFill>
                  <a:srgbClr val="1F272E"/>
                </a:solidFill>
              </a:rPr>
              <a:t>• MVP kann insbesondere in volatilen Phasen positive Ergebnisse erzielen (Behr et al., 2008).</a:t>
            </a:r>
            <a:endParaRPr sz="1600">
              <a:solidFill>
                <a:srgbClr val="1F272E"/>
              </a:solidFill>
            </a:endParaRPr>
          </a:p>
          <a:p>
            <a:pPr indent="0" lvl="0" marL="0" marR="0" rtl="0" algn="l">
              <a:lnSpc>
                <a:spcPct val="105000"/>
              </a:lnSpc>
              <a:spcBef>
                <a:spcPts val="1200"/>
              </a:spcBef>
              <a:spcAft>
                <a:spcPts val="0"/>
              </a:spcAft>
              <a:buClr>
                <a:srgbClr val="000000"/>
              </a:buClr>
              <a:buFont typeface="Arial"/>
              <a:buNone/>
            </a:pPr>
            <a:r>
              <a:t/>
            </a:r>
            <a:endParaRPr sz="1600">
              <a:solidFill>
                <a:srgbClr val="1F272E"/>
              </a:solidFill>
            </a:endParaRPr>
          </a:p>
        </p:txBody>
      </p:sp>
      <p:sp>
        <p:nvSpPr>
          <p:cNvPr id="177" name="Google Shape;177;p17"/>
          <p:cNvSpPr/>
          <p:nvPr/>
        </p:nvSpPr>
        <p:spPr>
          <a:xfrm>
            <a:off x="4572025" y="1709878"/>
            <a:ext cx="3337500" cy="3612000"/>
          </a:xfrm>
          <a:prstGeom prst="roundRect">
            <a:avLst>
              <a:gd fmla="val 16667" name="adj"/>
            </a:avLst>
          </a:prstGeom>
          <a:solidFill>
            <a:srgbClr val="FFFFFF"/>
          </a:solidFill>
          <a:ln cap="flat" cmpd="sng" w="10150">
            <a:solidFill>
              <a:srgbClr val="EEF1F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8" name="Google Shape;178;p17"/>
          <p:cNvSpPr/>
          <p:nvPr/>
        </p:nvSpPr>
        <p:spPr>
          <a:xfrm>
            <a:off x="4773156" y="1764785"/>
            <a:ext cx="777300" cy="475500"/>
          </a:xfrm>
          <a:prstGeom prst="roundRect">
            <a:avLst>
              <a:gd fmla="val 16667" name="adj"/>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9" name="Google Shape;179;p17"/>
          <p:cNvSpPr txBox="1"/>
          <p:nvPr/>
        </p:nvSpPr>
        <p:spPr>
          <a:xfrm>
            <a:off x="4773168" y="1853263"/>
            <a:ext cx="777300" cy="298500"/>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1700" u="none" cap="none" strike="noStrike">
                <a:solidFill>
                  <a:srgbClr val="FFFFFF"/>
                </a:solidFill>
                <a:latin typeface="Arial"/>
                <a:ea typeface="Arial"/>
                <a:cs typeface="Arial"/>
                <a:sym typeface="Arial"/>
              </a:rPr>
              <a:t>ERC</a:t>
            </a:r>
            <a:endParaRPr/>
          </a:p>
        </p:txBody>
      </p:sp>
      <p:sp>
        <p:nvSpPr>
          <p:cNvPr id="180" name="Google Shape;180;p17"/>
          <p:cNvSpPr txBox="1"/>
          <p:nvPr/>
        </p:nvSpPr>
        <p:spPr>
          <a:xfrm>
            <a:off x="4800594" y="2356360"/>
            <a:ext cx="2880300" cy="28320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600" u="none" cap="none" strike="noStrike">
                <a:solidFill>
                  <a:srgbClr val="0F2D4B"/>
                </a:solidFill>
                <a:latin typeface="Arial"/>
                <a:ea typeface="Arial"/>
                <a:cs typeface="Arial"/>
                <a:sym typeface="Arial"/>
              </a:rPr>
              <a:t>Equal Risk Contribution</a:t>
            </a:r>
            <a:endParaRPr/>
          </a:p>
        </p:txBody>
      </p:sp>
      <p:sp>
        <p:nvSpPr>
          <p:cNvPr id="181" name="Google Shape;181;p17"/>
          <p:cNvSpPr txBox="1"/>
          <p:nvPr/>
        </p:nvSpPr>
        <p:spPr>
          <a:xfrm>
            <a:off x="4869175" y="2755625"/>
            <a:ext cx="2743200" cy="2401200"/>
          </a:xfrm>
          <a:prstGeom prst="rect">
            <a:avLst/>
          </a:prstGeom>
          <a:noFill/>
          <a:ln>
            <a:noFill/>
          </a:ln>
        </p:spPr>
        <p:txBody>
          <a:bodyPr anchorCtr="0" anchor="t" bIns="18275" lIns="45700" spcFirstLastPara="1" rIns="45700" wrap="square" tIns="18275">
            <a:spAutoFit/>
          </a:bodyPr>
          <a:lstStyle/>
          <a:p>
            <a:pPr indent="0" lvl="0" marL="0" marR="0" rtl="0" algn="l">
              <a:lnSpc>
                <a:spcPct val="105000"/>
              </a:lnSpc>
              <a:spcBef>
                <a:spcPts val="0"/>
              </a:spcBef>
              <a:spcAft>
                <a:spcPts val="0"/>
              </a:spcAft>
              <a:buNone/>
            </a:pPr>
            <a:r>
              <a:rPr b="0" i="0" lang="en-US" sz="1450" u="none" cap="none" strike="noStrike">
                <a:solidFill>
                  <a:srgbClr val="1F272E"/>
                </a:solidFill>
                <a:latin typeface="Arial"/>
                <a:ea typeface="Arial"/>
                <a:cs typeface="Arial"/>
                <a:sym typeface="Arial"/>
              </a:rPr>
              <a:t>• </a:t>
            </a:r>
            <a:r>
              <a:rPr b="0" i="0" lang="en-US" sz="1600" u="none" cap="none" strike="noStrike">
                <a:solidFill>
                  <a:srgbClr val="1F272E"/>
                </a:solidFill>
                <a:latin typeface="Arial"/>
                <a:ea typeface="Arial"/>
                <a:cs typeface="Arial"/>
                <a:sym typeface="Arial"/>
              </a:rPr>
              <a:t>Alle Assets tragen gleich viel zum Gesamtrisiko bei</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1200"/>
              </a:spcBef>
              <a:spcAft>
                <a:spcPts val="0"/>
              </a:spcAft>
              <a:buNone/>
            </a:pPr>
            <a:r>
              <a:rPr b="0" i="0" lang="en-US" sz="1600" u="none" cap="none" strike="noStrike">
                <a:solidFill>
                  <a:srgbClr val="1F272E"/>
                </a:solidFill>
                <a:latin typeface="Arial"/>
                <a:ea typeface="Arial"/>
                <a:cs typeface="Arial"/>
                <a:sym typeface="Arial"/>
              </a:rPr>
              <a:t>• Optimierung über absolute Risikobeiträge</a:t>
            </a:r>
            <a:endParaRPr b="0" i="0" sz="1600" u="none" cap="none" strike="noStrike">
              <a:solidFill>
                <a:srgbClr val="1F272E"/>
              </a:solidFill>
              <a:latin typeface="Arial"/>
              <a:ea typeface="Arial"/>
              <a:cs typeface="Arial"/>
              <a:sym typeface="Arial"/>
            </a:endParaRPr>
          </a:p>
          <a:p>
            <a:pPr indent="0" lvl="0" marL="0" rtl="0" algn="l">
              <a:lnSpc>
                <a:spcPct val="105000"/>
              </a:lnSpc>
              <a:spcBef>
                <a:spcPts val="1200"/>
              </a:spcBef>
              <a:spcAft>
                <a:spcPts val="0"/>
              </a:spcAft>
              <a:buClr>
                <a:schemeClr val="dk1"/>
              </a:buClr>
              <a:buFont typeface="Arial"/>
              <a:buNone/>
            </a:pPr>
            <a:r>
              <a:rPr lang="en-US" sz="1600">
                <a:solidFill>
                  <a:srgbClr val="1F272E"/>
                </a:solidFill>
              </a:rPr>
              <a:t>• ERC bietet eine bessere Risikoallokation, schlägt 1/N aber nicht immer (Chaves et al., 2011).</a:t>
            </a:r>
            <a:endParaRPr sz="1600">
              <a:solidFill>
                <a:srgbClr val="1F272E"/>
              </a:solidFill>
            </a:endParaRPr>
          </a:p>
        </p:txBody>
      </p:sp>
      <p:sp>
        <p:nvSpPr>
          <p:cNvPr id="182" name="Google Shape;182;p17"/>
          <p:cNvSpPr/>
          <p:nvPr/>
        </p:nvSpPr>
        <p:spPr>
          <a:xfrm>
            <a:off x="8366760" y="1691640"/>
            <a:ext cx="3337500" cy="3612000"/>
          </a:xfrm>
          <a:prstGeom prst="roundRect">
            <a:avLst>
              <a:gd fmla="val 16667" name="adj"/>
            </a:avLst>
          </a:prstGeom>
          <a:solidFill>
            <a:srgbClr val="FFFFFF"/>
          </a:solidFill>
          <a:ln cap="flat" cmpd="sng" w="10150">
            <a:solidFill>
              <a:srgbClr val="EEF1F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3" name="Google Shape;183;p17"/>
          <p:cNvSpPr/>
          <p:nvPr/>
        </p:nvSpPr>
        <p:spPr>
          <a:xfrm>
            <a:off x="8567953" y="1810572"/>
            <a:ext cx="777300" cy="475500"/>
          </a:xfrm>
          <a:prstGeom prst="roundRect">
            <a:avLst>
              <a:gd fmla="val 16667" name="adj"/>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4" name="Google Shape;184;p17"/>
          <p:cNvSpPr txBox="1"/>
          <p:nvPr/>
        </p:nvSpPr>
        <p:spPr>
          <a:xfrm>
            <a:off x="8567953" y="1837875"/>
            <a:ext cx="777300" cy="201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lang="en-US" sz="1700">
                <a:solidFill>
                  <a:srgbClr val="FFFFFF"/>
                </a:solidFill>
              </a:rPr>
              <a:t>1/N</a:t>
            </a:r>
            <a:endParaRPr b="1" sz="1700">
              <a:solidFill>
                <a:srgbClr val="FFFFFF"/>
              </a:solidFill>
            </a:endParaRPr>
          </a:p>
        </p:txBody>
      </p:sp>
      <p:sp>
        <p:nvSpPr>
          <p:cNvPr id="185" name="Google Shape;185;p17"/>
          <p:cNvSpPr txBox="1"/>
          <p:nvPr/>
        </p:nvSpPr>
        <p:spPr>
          <a:xfrm>
            <a:off x="8567916" y="2356360"/>
            <a:ext cx="2880300" cy="28320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600" u="none" cap="none" strike="noStrike">
                <a:solidFill>
                  <a:srgbClr val="0F2D4B"/>
                </a:solidFill>
                <a:latin typeface="Arial"/>
                <a:ea typeface="Arial"/>
                <a:cs typeface="Arial"/>
                <a:sym typeface="Arial"/>
              </a:rPr>
              <a:t>Gleichgewichtetes Portfolio</a:t>
            </a:r>
            <a:endParaRPr/>
          </a:p>
        </p:txBody>
      </p:sp>
      <p:sp>
        <p:nvSpPr>
          <p:cNvPr id="186" name="Google Shape;186;p17"/>
          <p:cNvSpPr txBox="1"/>
          <p:nvPr/>
        </p:nvSpPr>
        <p:spPr>
          <a:xfrm>
            <a:off x="8567931" y="2848360"/>
            <a:ext cx="2743200" cy="1212900"/>
          </a:xfrm>
          <a:prstGeom prst="rect">
            <a:avLst/>
          </a:prstGeom>
          <a:noFill/>
          <a:ln>
            <a:noFill/>
          </a:ln>
        </p:spPr>
        <p:txBody>
          <a:bodyPr anchorCtr="0" anchor="t" bIns="18275" lIns="45700" spcFirstLastPara="1" rIns="45700" wrap="square" tIns="18275">
            <a:spAutoFit/>
          </a:bodyPr>
          <a:lstStyle/>
          <a:p>
            <a:pPr indent="0" lvl="0" marL="0" marR="0" rtl="0" algn="l">
              <a:lnSpc>
                <a:spcPct val="105000"/>
              </a:lnSpc>
              <a:spcBef>
                <a:spcPts val="0"/>
              </a:spcBef>
              <a:spcAft>
                <a:spcPts val="0"/>
              </a:spcAft>
              <a:buNone/>
            </a:pPr>
            <a:r>
              <a:rPr b="0" i="0" lang="en-US" sz="1450" u="none" cap="none" strike="noStrike">
                <a:solidFill>
                  <a:srgbClr val="1F272E"/>
                </a:solidFill>
                <a:latin typeface="Arial"/>
                <a:ea typeface="Arial"/>
                <a:cs typeface="Arial"/>
                <a:sym typeface="Arial"/>
              </a:rPr>
              <a:t>• </a:t>
            </a:r>
            <a:r>
              <a:rPr b="0" i="0" lang="en-US" sz="1600" u="none" cap="none" strike="noStrike">
                <a:solidFill>
                  <a:srgbClr val="1F272E"/>
                </a:solidFill>
                <a:latin typeface="Arial"/>
                <a:ea typeface="Arial"/>
                <a:cs typeface="Arial"/>
                <a:sym typeface="Arial"/>
              </a:rPr>
              <a:t>Alle Assets erhalten das Gewicht 1/N</a:t>
            </a:r>
            <a:endParaRPr/>
          </a:p>
          <a:p>
            <a:pPr indent="0" lvl="0" marL="0" marR="0" rtl="0" algn="l">
              <a:lnSpc>
                <a:spcPct val="105000"/>
              </a:lnSpc>
              <a:spcBef>
                <a:spcPts val="1200"/>
              </a:spcBef>
              <a:spcAft>
                <a:spcPts val="0"/>
              </a:spcAft>
              <a:buNone/>
            </a:pPr>
            <a:r>
              <a:rPr b="0" i="0" lang="en-US" sz="1600" u="none" cap="none" strike="noStrike">
                <a:solidFill>
                  <a:srgbClr val="1F272E"/>
                </a:solidFill>
                <a:latin typeface="Arial"/>
                <a:ea typeface="Arial"/>
                <a:cs typeface="Arial"/>
                <a:sym typeface="Arial"/>
              </a:rPr>
              <a:t>• Keine Optimierung notwendig</a:t>
            </a:r>
            <a:endParaRPr b="0" i="0" sz="1600" u="none" cap="none" strike="noStrike">
              <a:solidFill>
                <a:schemeClr val="dk1"/>
              </a:solidFill>
              <a:latin typeface="Calibri"/>
              <a:ea typeface="Calibri"/>
              <a:cs typeface="Calibri"/>
              <a:sym typeface="Calibri"/>
            </a:endParaRPr>
          </a:p>
        </p:txBody>
      </p:sp>
      <p:sp>
        <p:nvSpPr>
          <p:cNvPr id="187" name="Google Shape;187;p17"/>
          <p:cNvSpPr txBox="1"/>
          <p:nvPr/>
        </p:nvSpPr>
        <p:spPr>
          <a:xfrm>
            <a:off x="1143000" y="5806440"/>
            <a:ext cx="9875520" cy="274320"/>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0" i="0" lang="en-US" sz="1600" u="none" cap="none" strike="noStrike">
                <a:solidFill>
                  <a:srgbClr val="76808A"/>
                </a:solidFill>
                <a:latin typeface="Arial"/>
                <a:ea typeface="Arial"/>
                <a:cs typeface="Arial"/>
                <a:sym typeface="Arial"/>
              </a:rPr>
              <a:t>• Vergleichsbasis: Naive 1/N-Strategie als einfacher Benchmark.</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8"/>
          <p:cNvSpPr/>
          <p:nvPr/>
        </p:nvSpPr>
        <p:spPr>
          <a:xfrm>
            <a:off x="0" y="0"/>
            <a:ext cx="12191999" cy="6858000"/>
          </a:xfrm>
          <a:prstGeom prst="rect">
            <a:avLst/>
          </a:prstGeom>
          <a:solidFill>
            <a:srgbClr val="F9FA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3" name="Google Shape;193;p18"/>
          <p:cNvSpPr/>
          <p:nvPr/>
        </p:nvSpPr>
        <p:spPr>
          <a:xfrm>
            <a:off x="0" y="0"/>
            <a:ext cx="12191999" cy="64008"/>
          </a:xfrm>
          <a:prstGeom prst="rect">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image1.png" id="194" name="Google Shape;194;p18"/>
          <p:cNvPicPr preferRelativeResize="0"/>
          <p:nvPr/>
        </p:nvPicPr>
        <p:blipFill rotWithShape="1">
          <a:blip r:embed="rId3">
            <a:alphaModFix/>
          </a:blip>
          <a:srcRect b="0" l="0" r="0" t="0"/>
          <a:stretch/>
        </p:blipFill>
        <p:spPr>
          <a:xfrm>
            <a:off x="329184" y="182880"/>
            <a:ext cx="987552" cy="355661"/>
          </a:xfrm>
          <a:prstGeom prst="rect">
            <a:avLst/>
          </a:prstGeom>
          <a:noFill/>
          <a:ln>
            <a:noFill/>
          </a:ln>
        </p:spPr>
      </p:pic>
      <p:sp>
        <p:nvSpPr>
          <p:cNvPr id="195" name="Google Shape;195;p18"/>
          <p:cNvSpPr txBox="1"/>
          <p:nvPr/>
        </p:nvSpPr>
        <p:spPr>
          <a:xfrm>
            <a:off x="8641080" y="201168"/>
            <a:ext cx="3063240" cy="228600"/>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0" i="0" lang="en-US" sz="750" u="none" cap="none" strike="noStrike">
                <a:solidFill>
                  <a:srgbClr val="76808A"/>
                </a:solidFill>
                <a:latin typeface="Arial"/>
                <a:ea typeface="Arial"/>
                <a:cs typeface="Arial"/>
                <a:sym typeface="Arial"/>
              </a:rPr>
              <a:t>Risikobasierte Portfoliooptimierung mit GARCH-Modellen</a:t>
            </a:r>
            <a:endParaRPr/>
          </a:p>
        </p:txBody>
      </p:sp>
      <p:sp>
        <p:nvSpPr>
          <p:cNvPr id="196" name="Google Shape;196;p18"/>
          <p:cNvSpPr txBox="1"/>
          <p:nvPr/>
        </p:nvSpPr>
        <p:spPr>
          <a:xfrm>
            <a:off x="777240" y="786384"/>
            <a:ext cx="10287000" cy="438912"/>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2900" u="none" cap="none" strike="noStrike">
                <a:solidFill>
                  <a:srgbClr val="0F2D4B"/>
                </a:solidFill>
                <a:latin typeface="Arial"/>
                <a:ea typeface="Arial"/>
                <a:cs typeface="Arial"/>
                <a:sym typeface="Arial"/>
              </a:rPr>
              <a:t>Hierarchical Risk Parity (HRP)</a:t>
            </a:r>
            <a:endParaRPr/>
          </a:p>
        </p:txBody>
      </p:sp>
      <p:sp>
        <p:nvSpPr>
          <p:cNvPr id="197" name="Google Shape;197;p18"/>
          <p:cNvSpPr/>
          <p:nvPr/>
        </p:nvSpPr>
        <p:spPr>
          <a:xfrm>
            <a:off x="777240" y="1307592"/>
            <a:ext cx="1005840" cy="45720"/>
          </a:xfrm>
          <a:prstGeom prst="rect">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8" name="Google Shape;198;p18"/>
          <p:cNvSpPr/>
          <p:nvPr/>
        </p:nvSpPr>
        <p:spPr>
          <a:xfrm>
            <a:off x="777240" y="6473952"/>
            <a:ext cx="10652760" cy="10972"/>
          </a:xfrm>
          <a:prstGeom prst="rect">
            <a:avLst/>
          </a:prstGeom>
          <a:solidFill>
            <a:srgbClr val="EEF1F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9" name="Google Shape;199;p18"/>
          <p:cNvSpPr txBox="1"/>
          <p:nvPr/>
        </p:nvSpPr>
        <p:spPr>
          <a:xfrm>
            <a:off x="11109960" y="6519672"/>
            <a:ext cx="320040" cy="164592"/>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0" i="0" lang="en-US" sz="800" u="none" cap="none" strike="noStrike">
                <a:solidFill>
                  <a:srgbClr val="76808A"/>
                </a:solidFill>
                <a:latin typeface="Arial"/>
                <a:ea typeface="Arial"/>
                <a:cs typeface="Arial"/>
                <a:sym typeface="Arial"/>
              </a:rPr>
              <a:t>6</a:t>
            </a:r>
            <a:endParaRPr/>
          </a:p>
        </p:txBody>
      </p:sp>
      <p:sp>
        <p:nvSpPr>
          <p:cNvPr id="200" name="Google Shape;200;p18"/>
          <p:cNvSpPr/>
          <p:nvPr/>
        </p:nvSpPr>
        <p:spPr>
          <a:xfrm>
            <a:off x="868680" y="1627632"/>
            <a:ext cx="4937760" cy="4069080"/>
          </a:xfrm>
          <a:prstGeom prst="roundRect">
            <a:avLst>
              <a:gd fmla="val 16667" name="adj"/>
            </a:avLst>
          </a:prstGeom>
          <a:solidFill>
            <a:srgbClr val="FFFFFF"/>
          </a:solidFill>
          <a:ln cap="flat" cmpd="sng" w="10150">
            <a:solidFill>
              <a:srgbClr val="EEF1F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1" name="Google Shape;201;p18"/>
          <p:cNvSpPr txBox="1"/>
          <p:nvPr/>
        </p:nvSpPr>
        <p:spPr>
          <a:xfrm>
            <a:off x="1069848" y="1792224"/>
            <a:ext cx="4535424" cy="27432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500" u="none" cap="none" strike="noStrike">
                <a:solidFill>
                  <a:srgbClr val="0F2D4B"/>
                </a:solidFill>
                <a:latin typeface="Arial"/>
                <a:ea typeface="Arial"/>
                <a:cs typeface="Arial"/>
                <a:sym typeface="Arial"/>
              </a:rPr>
              <a:t>Ablauf</a:t>
            </a:r>
            <a:endParaRPr/>
          </a:p>
        </p:txBody>
      </p:sp>
      <p:sp>
        <p:nvSpPr>
          <p:cNvPr id="202" name="Google Shape;202;p18"/>
          <p:cNvSpPr txBox="1"/>
          <p:nvPr/>
        </p:nvSpPr>
        <p:spPr>
          <a:xfrm>
            <a:off x="1120143" y="2061029"/>
            <a:ext cx="4434900" cy="2450400"/>
          </a:xfrm>
          <a:prstGeom prst="rect">
            <a:avLst/>
          </a:prstGeom>
          <a:noFill/>
          <a:ln>
            <a:noFill/>
          </a:ln>
        </p:spPr>
        <p:txBody>
          <a:bodyPr anchorCtr="0" anchor="t" bIns="18275" lIns="45700" spcFirstLastPara="1" rIns="45700" wrap="square" tIns="18275">
            <a:spAutoFit/>
          </a:bodyPr>
          <a:lstStyle/>
          <a:p>
            <a:pPr indent="0" lvl="0" marL="0" marR="0" rtl="0" algn="l">
              <a:lnSpc>
                <a:spcPct val="105000"/>
              </a:lnSpc>
              <a:spcBef>
                <a:spcPts val="0"/>
              </a:spcBef>
              <a:spcAft>
                <a:spcPts val="0"/>
              </a:spcAft>
              <a:buNone/>
            </a:pPr>
            <a:r>
              <a:rPr b="0" i="0" lang="en-US" sz="1600" u="none" cap="none" strike="noStrike">
                <a:solidFill>
                  <a:srgbClr val="1F272E"/>
                </a:solidFill>
                <a:latin typeface="Arial"/>
                <a:ea typeface="Arial"/>
                <a:cs typeface="Arial"/>
                <a:sym typeface="Arial"/>
              </a:rPr>
              <a:t>• Vorgestellt von de Prado (2016).</a:t>
            </a:r>
            <a:endParaRPr/>
          </a:p>
          <a:p>
            <a:pPr indent="0" lvl="0" marL="0" marR="0" rtl="0" algn="l">
              <a:lnSpc>
                <a:spcPct val="105000"/>
              </a:lnSpc>
              <a:spcBef>
                <a:spcPts val="1200"/>
              </a:spcBef>
              <a:spcAft>
                <a:spcPts val="0"/>
              </a:spcAft>
              <a:buNone/>
            </a:pPr>
            <a:r>
              <a:rPr b="0" i="0" lang="en-US" sz="1600" u="none" cap="none" strike="noStrike">
                <a:solidFill>
                  <a:srgbClr val="1F272E"/>
                </a:solidFill>
                <a:latin typeface="Arial"/>
                <a:ea typeface="Arial"/>
                <a:cs typeface="Arial"/>
                <a:sym typeface="Arial"/>
              </a:rPr>
              <a:t>• Ähnliche Anlagen werden anhand ihrer Korrelationen geclustert.</a:t>
            </a:r>
            <a:endParaRPr/>
          </a:p>
          <a:p>
            <a:pPr indent="0" lvl="0" marL="0" marR="0" rtl="0" algn="l">
              <a:lnSpc>
                <a:spcPct val="105000"/>
              </a:lnSpc>
              <a:spcBef>
                <a:spcPts val="1200"/>
              </a:spcBef>
              <a:spcAft>
                <a:spcPts val="0"/>
              </a:spcAft>
              <a:buNone/>
            </a:pPr>
            <a:r>
              <a:rPr b="0" i="0" lang="en-US" sz="1600" u="none" cap="none" strike="noStrike">
                <a:solidFill>
                  <a:srgbClr val="1F272E"/>
                </a:solidFill>
                <a:latin typeface="Arial"/>
                <a:ea typeface="Arial"/>
                <a:cs typeface="Arial"/>
                <a:sym typeface="Arial"/>
              </a:rPr>
              <a:t>• Die Kovarianzmatrix wird sortiert.</a:t>
            </a:r>
            <a:endParaRPr/>
          </a:p>
          <a:p>
            <a:pPr indent="0" lvl="0" marL="0" marR="0" rtl="0" algn="l">
              <a:lnSpc>
                <a:spcPct val="105000"/>
              </a:lnSpc>
              <a:spcBef>
                <a:spcPts val="1200"/>
              </a:spcBef>
              <a:spcAft>
                <a:spcPts val="0"/>
              </a:spcAft>
              <a:buNone/>
            </a:pPr>
            <a:r>
              <a:rPr b="0" i="0" lang="en-US" sz="1600" u="none" cap="none" strike="noStrike">
                <a:solidFill>
                  <a:srgbClr val="1F272E"/>
                </a:solidFill>
                <a:latin typeface="Arial"/>
                <a:ea typeface="Arial"/>
                <a:cs typeface="Arial"/>
                <a:sym typeface="Arial"/>
              </a:rPr>
              <a:t>• Gewichte werden invers zum Risiko der Cluster bestimmt.</a:t>
            </a:r>
            <a:endParaRPr b="0" i="0" sz="1600" u="none" cap="none" strike="noStrike">
              <a:solidFill>
                <a:srgbClr val="1F272E"/>
              </a:solidFill>
              <a:latin typeface="Arial"/>
              <a:ea typeface="Arial"/>
              <a:cs typeface="Arial"/>
              <a:sym typeface="Arial"/>
            </a:endParaRPr>
          </a:p>
          <a:p>
            <a:pPr indent="0" lvl="0" marL="0" marR="0" rtl="0" algn="l">
              <a:lnSpc>
                <a:spcPct val="105000"/>
              </a:lnSpc>
              <a:spcBef>
                <a:spcPts val="1200"/>
              </a:spcBef>
              <a:spcAft>
                <a:spcPts val="0"/>
              </a:spcAft>
              <a:buNone/>
            </a:pPr>
            <a:r>
              <a:t/>
            </a:r>
            <a:endParaRPr sz="1600">
              <a:solidFill>
                <a:srgbClr val="1F272E"/>
              </a:solidFill>
            </a:endParaRPr>
          </a:p>
        </p:txBody>
      </p:sp>
      <p:sp>
        <p:nvSpPr>
          <p:cNvPr id="203" name="Google Shape;203;p18"/>
          <p:cNvSpPr/>
          <p:nvPr/>
        </p:nvSpPr>
        <p:spPr>
          <a:xfrm>
            <a:off x="1097275" y="4449944"/>
            <a:ext cx="4434900" cy="945000"/>
          </a:xfrm>
          <a:prstGeom prst="roundRect">
            <a:avLst>
              <a:gd fmla="val 16667" name="adj"/>
            </a:avLst>
          </a:prstGeom>
          <a:solidFill>
            <a:srgbClr val="E8F2FA"/>
          </a:solidFill>
          <a:ln cap="flat" cmpd="sng" w="10150">
            <a:solidFill>
              <a:srgbClr val="EEF1F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4" name="Google Shape;204;p18"/>
          <p:cNvSpPr txBox="1"/>
          <p:nvPr/>
        </p:nvSpPr>
        <p:spPr>
          <a:xfrm>
            <a:off x="1302972" y="4511425"/>
            <a:ext cx="4069200" cy="945000"/>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n-US" sz="1700" u="none" cap="none" strike="noStrike">
                <a:solidFill>
                  <a:srgbClr val="0F2D4B"/>
                </a:solidFill>
                <a:latin typeface="Arial"/>
                <a:ea typeface="Arial"/>
                <a:cs typeface="Arial"/>
                <a:sym typeface="Arial"/>
              </a:rPr>
              <a:t>• </a:t>
            </a:r>
            <a:r>
              <a:rPr b="1" i="0" lang="en-US" sz="1400" u="none" cap="none" strike="noStrike">
                <a:solidFill>
                  <a:srgbClr val="0F2D4B"/>
                </a:solidFill>
                <a:latin typeface="Arial"/>
                <a:ea typeface="Arial"/>
                <a:cs typeface="Arial"/>
                <a:sym typeface="Arial"/>
              </a:rPr>
              <a:t>Vorteil: HRP ist häufig robuster und besser diversifiziert als klassische Optimierung.</a:t>
            </a:r>
            <a:r>
              <a:rPr b="1" lang="en-US">
                <a:solidFill>
                  <a:srgbClr val="0F2D4B"/>
                </a:solidFill>
              </a:rPr>
              <a:t>(de Prado, 2016; Sen et al., 2022).</a:t>
            </a:r>
            <a:endParaRPr b="1">
              <a:solidFill>
                <a:srgbClr val="0F2D4B"/>
              </a:solidFill>
            </a:endParaRPr>
          </a:p>
          <a:p>
            <a:pPr indent="0" lvl="0" marL="0" marR="0" rtl="0" algn="ctr">
              <a:lnSpc>
                <a:spcPct val="100000"/>
              </a:lnSpc>
              <a:spcBef>
                <a:spcPts val="0"/>
              </a:spcBef>
              <a:spcAft>
                <a:spcPts val="0"/>
              </a:spcAft>
              <a:buNone/>
            </a:pPr>
            <a:r>
              <a:t/>
            </a:r>
            <a:endParaRPr b="1">
              <a:solidFill>
                <a:srgbClr val="0F2D4B"/>
              </a:solidFill>
            </a:endParaRPr>
          </a:p>
        </p:txBody>
      </p:sp>
      <p:sp>
        <p:nvSpPr>
          <p:cNvPr id="205" name="Google Shape;205;p18"/>
          <p:cNvSpPr/>
          <p:nvPr/>
        </p:nvSpPr>
        <p:spPr>
          <a:xfrm>
            <a:off x="6172200" y="1627632"/>
            <a:ext cx="5120640" cy="4069080"/>
          </a:xfrm>
          <a:prstGeom prst="roundRect">
            <a:avLst>
              <a:gd fmla="val 16667" name="adj"/>
            </a:avLst>
          </a:prstGeom>
          <a:solidFill>
            <a:srgbClr val="FFFFFF"/>
          </a:solidFill>
          <a:ln cap="flat" cmpd="sng" w="10150">
            <a:solidFill>
              <a:srgbClr val="EEF1F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6" name="Google Shape;206;p18"/>
          <p:cNvSpPr txBox="1"/>
          <p:nvPr/>
        </p:nvSpPr>
        <p:spPr>
          <a:xfrm>
            <a:off x="6373368" y="1792224"/>
            <a:ext cx="4718303" cy="27432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500" u="none" cap="none" strike="noStrike">
                <a:solidFill>
                  <a:srgbClr val="0F2D4B"/>
                </a:solidFill>
                <a:latin typeface="Arial"/>
                <a:ea typeface="Arial"/>
                <a:cs typeface="Arial"/>
                <a:sym typeface="Arial"/>
              </a:rPr>
              <a:t>Beispiel: Dendrogramm</a:t>
            </a:r>
            <a:endParaRPr/>
          </a:p>
        </p:txBody>
      </p:sp>
      <p:pic>
        <p:nvPicPr>
          <p:cNvPr descr="image4.png" id="207" name="Google Shape;207;p18"/>
          <p:cNvPicPr preferRelativeResize="0"/>
          <p:nvPr/>
        </p:nvPicPr>
        <p:blipFill rotWithShape="1">
          <a:blip r:embed="rId4">
            <a:alphaModFix/>
          </a:blip>
          <a:srcRect b="0" l="0" r="0" t="0"/>
          <a:stretch/>
        </p:blipFill>
        <p:spPr>
          <a:xfrm>
            <a:off x="6978001" y="2194560"/>
            <a:ext cx="3509036" cy="2971800"/>
          </a:xfrm>
          <a:prstGeom prst="rect">
            <a:avLst/>
          </a:prstGeom>
          <a:noFill/>
          <a:ln cap="flat" cmpd="sng" w="9525">
            <a:solidFill>
              <a:srgbClr val="EEF1F4"/>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9"/>
          <p:cNvSpPr/>
          <p:nvPr/>
        </p:nvSpPr>
        <p:spPr>
          <a:xfrm>
            <a:off x="-1" y="18288"/>
            <a:ext cx="12191999" cy="6858000"/>
          </a:xfrm>
          <a:prstGeom prst="rect">
            <a:avLst/>
          </a:prstGeom>
          <a:solidFill>
            <a:srgbClr val="F9FA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3" name="Google Shape;213;p19"/>
          <p:cNvSpPr/>
          <p:nvPr/>
        </p:nvSpPr>
        <p:spPr>
          <a:xfrm>
            <a:off x="0" y="0"/>
            <a:ext cx="12191999" cy="64008"/>
          </a:xfrm>
          <a:prstGeom prst="rect">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image1.png" id="214" name="Google Shape;214;p19"/>
          <p:cNvPicPr preferRelativeResize="0"/>
          <p:nvPr/>
        </p:nvPicPr>
        <p:blipFill rotWithShape="1">
          <a:blip r:embed="rId3">
            <a:alphaModFix/>
          </a:blip>
          <a:srcRect b="0" l="0" r="0" t="0"/>
          <a:stretch/>
        </p:blipFill>
        <p:spPr>
          <a:xfrm>
            <a:off x="329184" y="182880"/>
            <a:ext cx="987552" cy="355661"/>
          </a:xfrm>
          <a:prstGeom prst="rect">
            <a:avLst/>
          </a:prstGeom>
          <a:noFill/>
          <a:ln>
            <a:noFill/>
          </a:ln>
        </p:spPr>
      </p:pic>
      <p:sp>
        <p:nvSpPr>
          <p:cNvPr id="215" name="Google Shape;215;p19"/>
          <p:cNvSpPr txBox="1"/>
          <p:nvPr/>
        </p:nvSpPr>
        <p:spPr>
          <a:xfrm>
            <a:off x="8641080" y="201168"/>
            <a:ext cx="3063240" cy="228600"/>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0" i="0" lang="en-US" sz="750" u="none" cap="none" strike="noStrike">
                <a:solidFill>
                  <a:srgbClr val="76808A"/>
                </a:solidFill>
                <a:latin typeface="Arial"/>
                <a:ea typeface="Arial"/>
                <a:cs typeface="Arial"/>
                <a:sym typeface="Arial"/>
              </a:rPr>
              <a:t>Risikobasierte Portfoliooptimierung mit GARCH-Modellen</a:t>
            </a:r>
            <a:endParaRPr/>
          </a:p>
        </p:txBody>
      </p:sp>
      <p:sp>
        <p:nvSpPr>
          <p:cNvPr id="216" name="Google Shape;216;p19"/>
          <p:cNvSpPr txBox="1"/>
          <p:nvPr/>
        </p:nvSpPr>
        <p:spPr>
          <a:xfrm>
            <a:off x="777240" y="786384"/>
            <a:ext cx="10287000" cy="438912"/>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2900" u="none" cap="none" strike="noStrike">
                <a:solidFill>
                  <a:srgbClr val="0F2D4B"/>
                </a:solidFill>
                <a:latin typeface="Arial"/>
                <a:ea typeface="Arial"/>
                <a:cs typeface="Arial"/>
                <a:sym typeface="Arial"/>
              </a:rPr>
              <a:t>GARCH und DCC-GARCH</a:t>
            </a:r>
            <a:endParaRPr/>
          </a:p>
        </p:txBody>
      </p:sp>
      <p:sp>
        <p:nvSpPr>
          <p:cNvPr id="217" name="Google Shape;217;p19"/>
          <p:cNvSpPr/>
          <p:nvPr/>
        </p:nvSpPr>
        <p:spPr>
          <a:xfrm>
            <a:off x="777240" y="1307592"/>
            <a:ext cx="1005840" cy="45720"/>
          </a:xfrm>
          <a:prstGeom prst="rect">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8" name="Google Shape;218;p19"/>
          <p:cNvSpPr/>
          <p:nvPr/>
        </p:nvSpPr>
        <p:spPr>
          <a:xfrm>
            <a:off x="777240" y="6473952"/>
            <a:ext cx="10652760" cy="10972"/>
          </a:xfrm>
          <a:prstGeom prst="rect">
            <a:avLst/>
          </a:prstGeom>
          <a:solidFill>
            <a:srgbClr val="EEF1F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9" name="Google Shape;219;p19"/>
          <p:cNvSpPr txBox="1"/>
          <p:nvPr/>
        </p:nvSpPr>
        <p:spPr>
          <a:xfrm>
            <a:off x="11109960" y="6519672"/>
            <a:ext cx="320040" cy="164592"/>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0" i="0" lang="en-US" sz="800" u="none" cap="none" strike="noStrike">
                <a:solidFill>
                  <a:srgbClr val="76808A"/>
                </a:solidFill>
                <a:latin typeface="Arial"/>
                <a:ea typeface="Arial"/>
                <a:cs typeface="Arial"/>
                <a:sym typeface="Arial"/>
              </a:rPr>
              <a:t>7</a:t>
            </a:r>
            <a:endParaRPr/>
          </a:p>
        </p:txBody>
      </p:sp>
      <p:sp>
        <p:nvSpPr>
          <p:cNvPr id="220" name="Google Shape;220;p19"/>
          <p:cNvSpPr/>
          <p:nvPr/>
        </p:nvSpPr>
        <p:spPr>
          <a:xfrm>
            <a:off x="777240" y="1508760"/>
            <a:ext cx="5166360" cy="4727448"/>
          </a:xfrm>
          <a:prstGeom prst="roundRect">
            <a:avLst>
              <a:gd fmla="val 16667" name="adj"/>
            </a:avLst>
          </a:prstGeom>
          <a:solidFill>
            <a:srgbClr val="FFFFFF"/>
          </a:solidFill>
          <a:ln cap="flat" cmpd="sng" w="12700">
            <a:solidFill>
              <a:srgbClr val="D2D8E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1" name="Google Shape;221;p19"/>
          <p:cNvSpPr txBox="1"/>
          <p:nvPr/>
        </p:nvSpPr>
        <p:spPr>
          <a:xfrm>
            <a:off x="1005840" y="1673351"/>
            <a:ext cx="4709160" cy="292608"/>
          </a:xfrm>
          <a:prstGeom prst="rect">
            <a:avLst/>
          </a:prstGeom>
          <a:noFill/>
          <a:ln>
            <a:noFill/>
          </a:ln>
        </p:spPr>
        <p:txBody>
          <a:bodyPr anchorCtr="0" anchor="t" bIns="9125" lIns="27425" spcFirstLastPara="1" rIns="27425" wrap="square" tIns="9125">
            <a:spAutoFit/>
          </a:bodyPr>
          <a:lstStyle/>
          <a:p>
            <a:pPr indent="0" lvl="0" marL="0" marR="0" rtl="0" algn="l">
              <a:spcBef>
                <a:spcPts val="0"/>
              </a:spcBef>
              <a:spcAft>
                <a:spcPts val="0"/>
              </a:spcAft>
              <a:buNone/>
            </a:pPr>
            <a:r>
              <a:rPr b="1" i="0" lang="en-US" sz="1500" u="none" cap="none" strike="noStrike">
                <a:solidFill>
                  <a:srgbClr val="0D2D49"/>
                </a:solidFill>
                <a:latin typeface="Arial"/>
                <a:ea typeface="Arial"/>
                <a:cs typeface="Arial"/>
                <a:sym typeface="Arial"/>
              </a:rPr>
              <a:t>GARCH: dynamische Risikoprognose</a:t>
            </a:r>
            <a:endParaRPr/>
          </a:p>
        </p:txBody>
      </p:sp>
      <p:sp>
        <p:nvSpPr>
          <p:cNvPr id="222" name="Google Shape;222;p19"/>
          <p:cNvSpPr/>
          <p:nvPr/>
        </p:nvSpPr>
        <p:spPr>
          <a:xfrm>
            <a:off x="1005840" y="2029967"/>
            <a:ext cx="749808" cy="41148"/>
          </a:xfrm>
          <a:prstGeom prst="rect">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3" name="Google Shape;223;p19"/>
          <p:cNvSpPr/>
          <p:nvPr/>
        </p:nvSpPr>
        <p:spPr>
          <a:xfrm>
            <a:off x="6172200" y="1508760"/>
            <a:ext cx="5257800" cy="4727448"/>
          </a:xfrm>
          <a:prstGeom prst="roundRect">
            <a:avLst>
              <a:gd fmla="val 16667" name="adj"/>
            </a:avLst>
          </a:prstGeom>
          <a:solidFill>
            <a:srgbClr val="FFFFFF"/>
          </a:solidFill>
          <a:ln cap="flat" cmpd="sng" w="12700">
            <a:solidFill>
              <a:srgbClr val="D2D8E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4" name="Google Shape;224;p19"/>
          <p:cNvSpPr txBox="1"/>
          <p:nvPr/>
        </p:nvSpPr>
        <p:spPr>
          <a:xfrm>
            <a:off x="6400800" y="1673351"/>
            <a:ext cx="4800600" cy="292608"/>
          </a:xfrm>
          <a:prstGeom prst="rect">
            <a:avLst/>
          </a:prstGeom>
          <a:noFill/>
          <a:ln>
            <a:noFill/>
          </a:ln>
        </p:spPr>
        <p:txBody>
          <a:bodyPr anchorCtr="0" anchor="t" bIns="9125" lIns="27425" spcFirstLastPara="1" rIns="27425" wrap="square" tIns="9125">
            <a:spAutoFit/>
          </a:bodyPr>
          <a:lstStyle/>
          <a:p>
            <a:pPr indent="0" lvl="0" marL="0" marR="0" rtl="0" algn="l">
              <a:spcBef>
                <a:spcPts val="0"/>
              </a:spcBef>
              <a:spcAft>
                <a:spcPts val="0"/>
              </a:spcAft>
              <a:buNone/>
            </a:pPr>
            <a:r>
              <a:rPr b="1" i="0" lang="en-US" sz="1500" u="none" cap="none" strike="noStrike">
                <a:solidFill>
                  <a:srgbClr val="0D2D49"/>
                </a:solidFill>
                <a:latin typeface="Arial"/>
                <a:ea typeface="Arial"/>
                <a:cs typeface="Arial"/>
                <a:sym typeface="Arial"/>
              </a:rPr>
              <a:t>DCC-GARCH: dynamische Korrelation</a:t>
            </a:r>
            <a:endParaRPr b="0" i="0" sz="1800" u="none" cap="none" strike="noStrike">
              <a:solidFill>
                <a:schemeClr val="dk1"/>
              </a:solidFill>
              <a:latin typeface="Calibri"/>
              <a:ea typeface="Calibri"/>
              <a:cs typeface="Calibri"/>
              <a:sym typeface="Calibri"/>
            </a:endParaRPr>
          </a:p>
        </p:txBody>
      </p:sp>
      <p:sp>
        <p:nvSpPr>
          <p:cNvPr id="225" name="Google Shape;225;p19"/>
          <p:cNvSpPr/>
          <p:nvPr/>
        </p:nvSpPr>
        <p:spPr>
          <a:xfrm>
            <a:off x="6400800" y="2029967"/>
            <a:ext cx="749808" cy="41148"/>
          </a:xfrm>
          <a:prstGeom prst="rect">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6" name="Google Shape;226;p19"/>
          <p:cNvSpPr txBox="1"/>
          <p:nvPr/>
        </p:nvSpPr>
        <p:spPr>
          <a:xfrm>
            <a:off x="1133856" y="2462935"/>
            <a:ext cx="4581000" cy="1274400"/>
          </a:xfrm>
          <a:prstGeom prst="rect">
            <a:avLst/>
          </a:prstGeom>
          <a:noFill/>
          <a:ln>
            <a:noFill/>
          </a:ln>
        </p:spPr>
        <p:txBody>
          <a:bodyPr anchorCtr="0" anchor="t" bIns="9125" lIns="18275" spcFirstLastPara="1" rIns="18275" wrap="square" tIns="9125">
            <a:spAutoFit/>
          </a:bodyPr>
          <a:lstStyle/>
          <a:p>
            <a:pPr indent="0" lvl="0" marL="0" marR="0" rtl="0" algn="l">
              <a:lnSpc>
                <a:spcPct val="95000"/>
              </a:lnSpc>
              <a:spcBef>
                <a:spcPts val="0"/>
              </a:spcBef>
              <a:spcAft>
                <a:spcPts val="0"/>
              </a:spcAft>
              <a:buNone/>
            </a:pPr>
            <a:r>
              <a:rPr b="0" i="0" lang="en-US" sz="1600" u="none" cap="none" strike="noStrike">
                <a:solidFill>
                  <a:srgbClr val="1F272E"/>
                </a:solidFill>
                <a:latin typeface="Arial"/>
                <a:ea typeface="Arial"/>
                <a:cs typeface="Arial"/>
                <a:sym typeface="Arial"/>
              </a:rPr>
              <a:t>•</a:t>
            </a:r>
            <a:r>
              <a:rPr b="0" i="0" lang="en-US" sz="1080" u="none" cap="none" strike="noStrike">
                <a:solidFill>
                  <a:srgbClr val="1F272E"/>
                </a:solidFill>
                <a:latin typeface="Arial"/>
                <a:ea typeface="Arial"/>
                <a:cs typeface="Arial"/>
                <a:sym typeface="Arial"/>
              </a:rPr>
              <a:t> </a:t>
            </a:r>
            <a:r>
              <a:rPr b="0" i="0" lang="en-US" sz="1600" u="none" cap="none" strike="noStrike">
                <a:solidFill>
                  <a:srgbClr val="1F272E"/>
                </a:solidFill>
                <a:latin typeface="Arial"/>
                <a:ea typeface="Arial"/>
                <a:cs typeface="Arial"/>
                <a:sym typeface="Arial"/>
              </a:rPr>
              <a:t>Ermöglicht eine dynamische Risikoprognose</a:t>
            </a:r>
            <a:endParaRPr b="0" i="0" sz="1600" u="none" cap="none" strike="noStrike">
              <a:solidFill>
                <a:schemeClr val="dk1"/>
              </a:solidFill>
              <a:latin typeface="Calibri"/>
              <a:ea typeface="Calibri"/>
              <a:cs typeface="Calibri"/>
              <a:sym typeface="Calibri"/>
            </a:endParaRPr>
          </a:p>
          <a:p>
            <a:pPr indent="0" lvl="0" marL="0" marR="0" rtl="0" algn="l">
              <a:lnSpc>
                <a:spcPct val="95000"/>
              </a:lnSpc>
              <a:spcBef>
                <a:spcPts val="1200"/>
              </a:spcBef>
              <a:spcAft>
                <a:spcPts val="0"/>
              </a:spcAft>
              <a:buNone/>
            </a:pPr>
            <a:r>
              <a:rPr b="0" i="0" lang="en-US" sz="1600" u="none" cap="none" strike="noStrike">
                <a:solidFill>
                  <a:srgbClr val="1F272E"/>
                </a:solidFill>
                <a:latin typeface="Arial"/>
                <a:ea typeface="Arial"/>
                <a:cs typeface="Arial"/>
                <a:sym typeface="Arial"/>
              </a:rPr>
              <a:t>• Risiko wird nicht als konstant angenommen, sondern verändert sich über die Zeit</a:t>
            </a:r>
            <a:endParaRPr b="0" i="0" sz="1600" u="none" cap="none" strike="noStrike">
              <a:solidFill>
                <a:srgbClr val="1F272E"/>
              </a:solidFill>
              <a:latin typeface="Arial"/>
              <a:ea typeface="Arial"/>
              <a:cs typeface="Arial"/>
              <a:sym typeface="Arial"/>
            </a:endParaRPr>
          </a:p>
          <a:p>
            <a:pPr indent="0" lvl="0" marL="0" rtl="0" algn="l">
              <a:lnSpc>
                <a:spcPct val="105000"/>
              </a:lnSpc>
              <a:spcBef>
                <a:spcPts val="1200"/>
              </a:spcBef>
              <a:spcAft>
                <a:spcPts val="0"/>
              </a:spcAft>
              <a:buClr>
                <a:schemeClr val="dk1"/>
              </a:buClr>
              <a:buFont typeface="Arial"/>
              <a:buNone/>
            </a:pPr>
            <a:r>
              <a:t/>
            </a:r>
            <a:endParaRPr sz="1600">
              <a:solidFill>
                <a:srgbClr val="1F272E"/>
              </a:solidFill>
            </a:endParaRPr>
          </a:p>
        </p:txBody>
      </p:sp>
      <p:sp>
        <p:nvSpPr>
          <p:cNvPr id="227" name="Google Shape;227;p19"/>
          <p:cNvSpPr txBox="1"/>
          <p:nvPr/>
        </p:nvSpPr>
        <p:spPr>
          <a:xfrm>
            <a:off x="1133856" y="5238971"/>
            <a:ext cx="4786884" cy="763222"/>
          </a:xfrm>
          <a:prstGeom prst="rect">
            <a:avLst/>
          </a:prstGeom>
          <a:noFill/>
          <a:ln>
            <a:noFill/>
          </a:ln>
        </p:spPr>
        <p:txBody>
          <a:bodyPr anchorCtr="0" anchor="t" bIns="9125" lIns="18275" spcFirstLastPara="1" rIns="18275" wrap="square" tIns="9125">
            <a:spAutoFit/>
          </a:bodyPr>
          <a:lstStyle/>
          <a:p>
            <a:pPr indent="0" lvl="0" marL="0" marR="0" rtl="0" algn="l">
              <a:lnSpc>
                <a:spcPct val="88000"/>
              </a:lnSpc>
              <a:spcBef>
                <a:spcPts val="0"/>
              </a:spcBef>
              <a:spcAft>
                <a:spcPts val="0"/>
              </a:spcAft>
              <a:buNone/>
            </a:pPr>
            <a:r>
              <a:rPr b="1" i="0" lang="en-US" sz="1100" u="none" cap="none" strike="noStrike">
                <a:solidFill>
                  <a:srgbClr val="0D2D49"/>
                </a:solidFill>
                <a:latin typeface="Arial"/>
                <a:ea typeface="Arial"/>
                <a:cs typeface="Arial"/>
                <a:sym typeface="Arial"/>
              </a:rPr>
              <a:t>rₜ </a:t>
            </a:r>
            <a:r>
              <a:rPr b="0" i="0" lang="en-US" sz="1100" u="none" cap="none" strike="noStrike">
                <a:solidFill>
                  <a:srgbClr val="5B6876"/>
                </a:solidFill>
                <a:latin typeface="Arial"/>
                <a:ea typeface="Arial"/>
                <a:cs typeface="Arial"/>
                <a:sym typeface="Arial"/>
              </a:rPr>
              <a:t>= Rendite zum Zeitpunkt t</a:t>
            </a:r>
            <a:endParaRPr/>
          </a:p>
          <a:p>
            <a:pPr indent="0" lvl="0" marL="0" marR="0" rtl="0" algn="l">
              <a:lnSpc>
                <a:spcPct val="88000"/>
              </a:lnSpc>
              <a:spcBef>
                <a:spcPts val="0"/>
              </a:spcBef>
              <a:spcAft>
                <a:spcPts val="0"/>
              </a:spcAft>
              <a:buNone/>
            </a:pPr>
            <a:r>
              <a:rPr b="1" i="0" lang="en-US" sz="1100" u="none" cap="none" strike="noStrike">
                <a:solidFill>
                  <a:srgbClr val="0D2D49"/>
                </a:solidFill>
                <a:latin typeface="Arial"/>
                <a:ea typeface="Arial"/>
                <a:cs typeface="Arial"/>
                <a:sym typeface="Arial"/>
              </a:rPr>
              <a:t>μ </a:t>
            </a:r>
            <a:r>
              <a:rPr b="0" i="0" lang="en-US" sz="1100" u="none" cap="none" strike="noStrike">
                <a:solidFill>
                  <a:srgbClr val="5B6876"/>
                </a:solidFill>
                <a:latin typeface="Arial"/>
                <a:ea typeface="Arial"/>
                <a:cs typeface="Arial"/>
                <a:sym typeface="Arial"/>
              </a:rPr>
              <a:t>= durchschnittliche Rendite</a:t>
            </a:r>
            <a:endParaRPr b="0" i="0" sz="1100" u="none" cap="none" strike="noStrike">
              <a:solidFill>
                <a:srgbClr val="5B6876"/>
              </a:solidFill>
              <a:latin typeface="Arial"/>
              <a:ea typeface="Arial"/>
              <a:cs typeface="Arial"/>
              <a:sym typeface="Arial"/>
            </a:endParaRPr>
          </a:p>
          <a:p>
            <a:pPr indent="0" lvl="0" marL="0" marR="0" rtl="0" algn="l">
              <a:lnSpc>
                <a:spcPct val="88000"/>
              </a:lnSpc>
              <a:spcBef>
                <a:spcPts val="0"/>
              </a:spcBef>
              <a:spcAft>
                <a:spcPts val="0"/>
              </a:spcAft>
              <a:buNone/>
            </a:pPr>
            <a:r>
              <a:rPr b="1" i="0" lang="en-US" sz="1100" u="none" cap="none" strike="noStrike">
                <a:solidFill>
                  <a:srgbClr val="0D2D49"/>
                </a:solidFill>
                <a:latin typeface="Arial"/>
                <a:ea typeface="Arial"/>
                <a:cs typeface="Arial"/>
                <a:sym typeface="Arial"/>
              </a:rPr>
              <a:t>εₜ </a:t>
            </a:r>
            <a:r>
              <a:rPr b="0" i="0" lang="en-US" sz="1100" u="none" cap="none" strike="noStrike">
                <a:solidFill>
                  <a:srgbClr val="5B6876"/>
                </a:solidFill>
                <a:latin typeface="Arial"/>
                <a:ea typeface="Arial"/>
                <a:cs typeface="Arial"/>
                <a:sym typeface="Arial"/>
              </a:rPr>
              <a:t>= Schock oder Fehlerterm</a:t>
            </a:r>
            <a:endParaRPr b="0" i="0" sz="1100" u="none" cap="none" strike="noStrike">
              <a:solidFill>
                <a:srgbClr val="5B6876"/>
              </a:solidFill>
              <a:latin typeface="Arial"/>
              <a:ea typeface="Arial"/>
              <a:cs typeface="Arial"/>
              <a:sym typeface="Arial"/>
            </a:endParaRPr>
          </a:p>
          <a:p>
            <a:pPr indent="0" lvl="0" marL="0" marR="0" rtl="0" algn="l">
              <a:lnSpc>
                <a:spcPct val="88000"/>
              </a:lnSpc>
              <a:spcBef>
                <a:spcPts val="0"/>
              </a:spcBef>
              <a:spcAft>
                <a:spcPts val="0"/>
              </a:spcAft>
              <a:buNone/>
            </a:pPr>
            <a:r>
              <a:rPr b="1" i="0" lang="en-US" sz="1100" u="none" cap="none" strike="noStrike">
                <a:solidFill>
                  <a:srgbClr val="0D2D49"/>
                </a:solidFill>
                <a:latin typeface="Arial"/>
                <a:ea typeface="Arial"/>
                <a:cs typeface="Arial"/>
                <a:sym typeface="Arial"/>
              </a:rPr>
              <a:t>hₜ / σ²ₜ </a:t>
            </a:r>
            <a:r>
              <a:rPr b="0" i="0" lang="en-US" sz="1100" u="none" cap="none" strike="noStrike">
                <a:solidFill>
                  <a:srgbClr val="5B6876"/>
                </a:solidFill>
                <a:latin typeface="Arial"/>
                <a:ea typeface="Arial"/>
                <a:cs typeface="Arial"/>
                <a:sym typeface="Arial"/>
              </a:rPr>
              <a:t>= bedingte Varianz bzw. prognostizierte Volatilität</a:t>
            </a:r>
            <a:endParaRPr b="0" i="0" sz="1100" u="none" cap="none" strike="noStrike">
              <a:solidFill>
                <a:srgbClr val="5B6876"/>
              </a:solidFill>
              <a:latin typeface="Arial"/>
              <a:ea typeface="Arial"/>
              <a:cs typeface="Arial"/>
              <a:sym typeface="Arial"/>
            </a:endParaRPr>
          </a:p>
          <a:p>
            <a:pPr indent="0" lvl="0" marL="0" marR="0" rtl="0" algn="l">
              <a:lnSpc>
                <a:spcPct val="88000"/>
              </a:lnSpc>
              <a:spcBef>
                <a:spcPts val="0"/>
              </a:spcBef>
              <a:spcAft>
                <a:spcPts val="0"/>
              </a:spcAft>
              <a:buNone/>
            </a:pPr>
            <a:r>
              <a:rPr b="1" i="0" lang="en-US" sz="1100" u="none" cap="none" strike="noStrike">
                <a:solidFill>
                  <a:srgbClr val="0D2D49"/>
                </a:solidFill>
                <a:latin typeface="Arial"/>
                <a:ea typeface="Arial"/>
                <a:cs typeface="Arial"/>
                <a:sym typeface="Arial"/>
              </a:rPr>
              <a:t>ε²ₜ₋₁ </a:t>
            </a:r>
            <a:r>
              <a:rPr b="0" i="0" lang="en-US" sz="1100" u="none" cap="none" strike="noStrike">
                <a:solidFill>
                  <a:srgbClr val="5B6876"/>
                </a:solidFill>
                <a:latin typeface="Arial"/>
                <a:ea typeface="Arial"/>
                <a:cs typeface="Arial"/>
                <a:sym typeface="Arial"/>
              </a:rPr>
              <a:t>= vergangener Marktschock</a:t>
            </a:r>
            <a:endParaRPr b="0" i="0" sz="1100" u="none" cap="none" strike="noStrike">
              <a:solidFill>
                <a:srgbClr val="5B6876"/>
              </a:solidFill>
              <a:latin typeface="Arial"/>
              <a:ea typeface="Arial"/>
              <a:cs typeface="Arial"/>
              <a:sym typeface="Arial"/>
            </a:endParaRPr>
          </a:p>
        </p:txBody>
      </p:sp>
      <p:sp>
        <p:nvSpPr>
          <p:cNvPr id="228" name="Google Shape;228;p19"/>
          <p:cNvSpPr txBox="1"/>
          <p:nvPr/>
        </p:nvSpPr>
        <p:spPr>
          <a:xfrm>
            <a:off x="6510385" y="2257438"/>
            <a:ext cx="4672500" cy="1146300"/>
          </a:xfrm>
          <a:prstGeom prst="rect">
            <a:avLst/>
          </a:prstGeom>
          <a:noFill/>
          <a:ln>
            <a:noFill/>
          </a:ln>
        </p:spPr>
        <p:txBody>
          <a:bodyPr anchorCtr="0" anchor="t" bIns="9125" lIns="18275" spcFirstLastPara="1" rIns="18275" wrap="square" tIns="9125">
            <a:spAutoFit/>
          </a:bodyPr>
          <a:lstStyle/>
          <a:p>
            <a:pPr indent="0" lvl="0" marL="0" marR="0" rtl="0" algn="l">
              <a:lnSpc>
                <a:spcPct val="88000"/>
              </a:lnSpc>
              <a:spcBef>
                <a:spcPts val="0"/>
              </a:spcBef>
              <a:spcAft>
                <a:spcPts val="0"/>
              </a:spcAft>
              <a:buNone/>
            </a:pPr>
            <a:r>
              <a:rPr b="0" i="0" lang="en-US" sz="1600" u="none" cap="none" strike="noStrike">
                <a:solidFill>
                  <a:srgbClr val="1F272E"/>
                </a:solidFill>
                <a:latin typeface="Arial"/>
                <a:ea typeface="Arial"/>
                <a:cs typeface="Arial"/>
                <a:sym typeface="Arial"/>
              </a:rPr>
              <a:t>• Korrelation verändert sich wie die Volatilität über die Zeit</a:t>
            </a:r>
            <a:endParaRPr/>
          </a:p>
          <a:p>
            <a:pPr indent="0" lvl="0" marL="0" marR="0" rtl="0" algn="l">
              <a:lnSpc>
                <a:spcPct val="88000"/>
              </a:lnSpc>
              <a:spcBef>
                <a:spcPts val="0"/>
              </a:spcBef>
              <a:spcAft>
                <a:spcPts val="0"/>
              </a:spcAft>
              <a:buNone/>
            </a:pPr>
            <a:r>
              <a:t/>
            </a:r>
            <a:endParaRPr/>
          </a:p>
          <a:p>
            <a:pPr indent="0" lvl="0" marL="0" rtl="0" algn="l">
              <a:lnSpc>
                <a:spcPct val="105000"/>
              </a:lnSpc>
              <a:spcBef>
                <a:spcPts val="0"/>
              </a:spcBef>
              <a:spcAft>
                <a:spcPts val="0"/>
              </a:spcAft>
              <a:buClr>
                <a:schemeClr val="dk1"/>
              </a:buClr>
              <a:buFont typeface="Arial"/>
              <a:buNone/>
            </a:pPr>
            <a:r>
              <a:rPr lang="en-US" sz="1600">
                <a:solidFill>
                  <a:srgbClr val="1F272E"/>
                </a:solidFill>
              </a:rPr>
              <a:t>• DCC-GARCH kann Gewichtsfehler reduzieren (Ardia et al., 2016).</a:t>
            </a:r>
            <a:endParaRPr b="0" i="0" sz="1600" u="none" cap="none" strike="noStrike">
              <a:solidFill>
                <a:schemeClr val="dk1"/>
              </a:solidFill>
              <a:latin typeface="Calibri"/>
              <a:ea typeface="Calibri"/>
              <a:cs typeface="Calibri"/>
              <a:sym typeface="Calibri"/>
            </a:endParaRPr>
          </a:p>
        </p:txBody>
      </p:sp>
      <p:pic>
        <p:nvPicPr>
          <p:cNvPr descr="image.png" id="229" name="Google Shape;229;p19"/>
          <p:cNvPicPr preferRelativeResize="0"/>
          <p:nvPr/>
        </p:nvPicPr>
        <p:blipFill rotWithShape="1">
          <a:blip r:embed="rId4">
            <a:alphaModFix/>
          </a:blip>
          <a:srcRect b="0" l="0" r="0" t="0"/>
          <a:stretch/>
        </p:blipFill>
        <p:spPr>
          <a:xfrm>
            <a:off x="6612259" y="4051540"/>
            <a:ext cx="3636657" cy="374468"/>
          </a:xfrm>
          <a:prstGeom prst="rect">
            <a:avLst/>
          </a:prstGeom>
          <a:noFill/>
          <a:ln>
            <a:noFill/>
          </a:ln>
        </p:spPr>
      </p:pic>
      <p:sp>
        <p:nvSpPr>
          <p:cNvPr id="230" name="Google Shape;230;p19"/>
          <p:cNvSpPr txBox="1"/>
          <p:nvPr/>
        </p:nvSpPr>
        <p:spPr>
          <a:xfrm>
            <a:off x="8861157" y="5036977"/>
            <a:ext cx="2423100" cy="750000"/>
          </a:xfrm>
          <a:prstGeom prst="rect">
            <a:avLst/>
          </a:prstGeom>
          <a:noFill/>
          <a:ln>
            <a:noFill/>
          </a:ln>
        </p:spPr>
        <p:txBody>
          <a:bodyPr anchorCtr="0" anchor="t" bIns="9125" lIns="18275" spcFirstLastPara="1" rIns="18275" wrap="square" tIns="9125">
            <a:spAutoFit/>
          </a:bodyPr>
          <a:lstStyle/>
          <a:p>
            <a:pPr indent="0" lvl="0" marL="0" marR="0" rtl="0" algn="l">
              <a:lnSpc>
                <a:spcPct val="88000"/>
              </a:lnSpc>
              <a:spcBef>
                <a:spcPts val="0"/>
              </a:spcBef>
              <a:spcAft>
                <a:spcPts val="0"/>
              </a:spcAft>
              <a:buNone/>
            </a:pPr>
            <a:r>
              <a:rPr b="1" i="0" lang="en-US" sz="900" u="none" cap="none" strike="noStrike">
                <a:solidFill>
                  <a:srgbClr val="0D2D49"/>
                </a:solidFill>
                <a:latin typeface="Arial"/>
                <a:ea typeface="Arial"/>
                <a:cs typeface="Arial"/>
                <a:sym typeface="Arial"/>
              </a:rPr>
              <a:t>Qₜ </a:t>
            </a:r>
            <a:r>
              <a:rPr b="0" i="0" lang="en-US" sz="900" u="none" cap="none" strike="noStrike">
                <a:solidFill>
                  <a:srgbClr val="5B6876"/>
                </a:solidFill>
                <a:latin typeface="Arial"/>
                <a:ea typeface="Arial"/>
                <a:cs typeface="Arial"/>
                <a:sym typeface="Arial"/>
              </a:rPr>
              <a:t>= zeitabhängige Kovarianzmatrix der standardisierten Residuen</a:t>
            </a:r>
            <a:endParaRPr b="0" i="0" sz="900" u="none" cap="none" strike="noStrike">
              <a:solidFill>
                <a:srgbClr val="5B6876"/>
              </a:solidFill>
              <a:latin typeface="Arial"/>
              <a:ea typeface="Arial"/>
              <a:cs typeface="Arial"/>
              <a:sym typeface="Arial"/>
            </a:endParaRPr>
          </a:p>
          <a:p>
            <a:pPr indent="0" lvl="0" marL="0" marR="0" rtl="0" algn="l">
              <a:lnSpc>
                <a:spcPct val="88000"/>
              </a:lnSpc>
              <a:spcBef>
                <a:spcPts val="0"/>
              </a:spcBef>
              <a:spcAft>
                <a:spcPts val="0"/>
              </a:spcAft>
              <a:buNone/>
            </a:pPr>
            <a:r>
              <a:rPr b="1" i="0" lang="en-US" sz="900" u="none" cap="none" strike="noStrike">
                <a:solidFill>
                  <a:srgbClr val="0D2D49"/>
                </a:solidFill>
                <a:latin typeface="Arial"/>
                <a:ea typeface="Arial"/>
                <a:cs typeface="Arial"/>
                <a:sym typeface="Arial"/>
              </a:rPr>
              <a:t>Q̄ </a:t>
            </a:r>
            <a:r>
              <a:rPr b="0" i="0" lang="en-US" sz="900" u="none" cap="none" strike="noStrike">
                <a:solidFill>
                  <a:srgbClr val="5B6876"/>
                </a:solidFill>
                <a:latin typeface="Arial"/>
                <a:ea typeface="Arial"/>
                <a:cs typeface="Arial"/>
                <a:sym typeface="Arial"/>
              </a:rPr>
              <a:t>= langfristige durchschnittliche Kovarianzmatrix</a:t>
            </a:r>
            <a:endParaRPr b="0" i="0" sz="900" u="none" cap="none" strike="noStrike">
              <a:solidFill>
                <a:srgbClr val="5B6876"/>
              </a:solidFill>
              <a:latin typeface="Arial"/>
              <a:ea typeface="Arial"/>
              <a:cs typeface="Arial"/>
              <a:sym typeface="Arial"/>
            </a:endParaRPr>
          </a:p>
          <a:p>
            <a:pPr indent="0" lvl="0" marL="0" marR="0" rtl="0" algn="l">
              <a:lnSpc>
                <a:spcPct val="88000"/>
              </a:lnSpc>
              <a:spcBef>
                <a:spcPts val="0"/>
              </a:spcBef>
              <a:spcAft>
                <a:spcPts val="0"/>
              </a:spcAft>
              <a:buNone/>
            </a:pPr>
            <a:r>
              <a:rPr b="1" i="0" lang="en-US" sz="900" u="none" cap="none" strike="noStrike">
                <a:solidFill>
                  <a:srgbClr val="0D2D49"/>
                </a:solidFill>
                <a:latin typeface="Arial"/>
                <a:ea typeface="Arial"/>
                <a:cs typeface="Arial"/>
                <a:sym typeface="Arial"/>
              </a:rPr>
              <a:t>zₜ₋₁z′ₜ₋₁ </a:t>
            </a:r>
            <a:r>
              <a:rPr b="0" i="0" lang="en-US" sz="900" u="none" cap="none" strike="noStrike">
                <a:solidFill>
                  <a:srgbClr val="5B6876"/>
                </a:solidFill>
                <a:latin typeface="Arial"/>
                <a:ea typeface="Arial"/>
                <a:cs typeface="Arial"/>
                <a:sym typeface="Arial"/>
              </a:rPr>
              <a:t>= Einfluss neuer gemeinsamer Schocks</a:t>
            </a:r>
            <a:endParaRPr b="0" i="0" sz="900" u="none" cap="none" strike="noStrike">
              <a:solidFill>
                <a:srgbClr val="5B6876"/>
              </a:solidFill>
              <a:latin typeface="Arial"/>
              <a:ea typeface="Arial"/>
              <a:cs typeface="Arial"/>
              <a:sym typeface="Arial"/>
            </a:endParaRPr>
          </a:p>
          <a:p>
            <a:pPr indent="0" lvl="0" marL="0" marR="0" rtl="0" algn="l">
              <a:lnSpc>
                <a:spcPct val="88000"/>
              </a:lnSpc>
              <a:spcBef>
                <a:spcPts val="0"/>
              </a:spcBef>
              <a:spcAft>
                <a:spcPts val="0"/>
              </a:spcAft>
              <a:buNone/>
            </a:pPr>
            <a:r>
              <a:rPr b="1" i="0" lang="en-US" sz="900" u="none" cap="none" strike="noStrike">
                <a:solidFill>
                  <a:srgbClr val="0D2D49"/>
                </a:solidFill>
                <a:latin typeface="Arial"/>
                <a:ea typeface="Arial"/>
                <a:cs typeface="Arial"/>
                <a:sym typeface="Arial"/>
              </a:rPr>
              <a:t>Qₜ₋₁ </a:t>
            </a:r>
            <a:r>
              <a:rPr b="0" i="0" lang="en-US" sz="900" u="none" cap="none" strike="noStrike">
                <a:solidFill>
                  <a:srgbClr val="5B6876"/>
                </a:solidFill>
                <a:latin typeface="Arial"/>
                <a:ea typeface="Arial"/>
                <a:cs typeface="Arial"/>
                <a:sym typeface="Arial"/>
              </a:rPr>
              <a:t>= Abhängigkeitsstruktur der Vorperiode</a:t>
            </a:r>
            <a:endParaRPr b="0" i="0" sz="900" u="none" cap="none" strike="noStrike">
              <a:solidFill>
                <a:srgbClr val="5B6876"/>
              </a:solidFill>
              <a:latin typeface="Arial"/>
              <a:ea typeface="Arial"/>
              <a:cs typeface="Arial"/>
              <a:sym typeface="Arial"/>
            </a:endParaRPr>
          </a:p>
        </p:txBody>
      </p:sp>
      <p:sp>
        <p:nvSpPr>
          <p:cNvPr id="231" name="Google Shape;231;p19"/>
          <p:cNvSpPr txBox="1"/>
          <p:nvPr/>
        </p:nvSpPr>
        <p:spPr>
          <a:xfrm>
            <a:off x="6510384" y="5073789"/>
            <a:ext cx="2148900" cy="506100"/>
          </a:xfrm>
          <a:prstGeom prst="rect">
            <a:avLst/>
          </a:prstGeom>
          <a:noFill/>
          <a:ln>
            <a:noFill/>
          </a:ln>
        </p:spPr>
        <p:txBody>
          <a:bodyPr anchorCtr="0" anchor="t" bIns="9125" lIns="18275" spcFirstLastPara="1" rIns="18275" wrap="square" tIns="9125">
            <a:spAutoFit/>
          </a:bodyPr>
          <a:lstStyle/>
          <a:p>
            <a:pPr indent="0" lvl="0" marL="0" marR="0" rtl="0" algn="l">
              <a:lnSpc>
                <a:spcPct val="88000"/>
              </a:lnSpc>
              <a:spcBef>
                <a:spcPts val="0"/>
              </a:spcBef>
              <a:spcAft>
                <a:spcPts val="0"/>
              </a:spcAft>
              <a:buNone/>
            </a:pPr>
            <a:r>
              <a:rPr b="1" i="0" lang="en-US" sz="900" u="none" cap="none" strike="noStrike">
                <a:solidFill>
                  <a:srgbClr val="0D2D49"/>
                </a:solidFill>
                <a:latin typeface="Arial"/>
                <a:ea typeface="Arial"/>
                <a:cs typeface="Arial"/>
                <a:sym typeface="Arial"/>
              </a:rPr>
              <a:t>a </a:t>
            </a:r>
            <a:r>
              <a:rPr b="0" i="0" lang="en-US" sz="900" u="none" cap="none" strike="noStrike">
                <a:solidFill>
                  <a:srgbClr val="5B6876"/>
                </a:solidFill>
                <a:latin typeface="Arial"/>
                <a:ea typeface="Arial"/>
                <a:cs typeface="Arial"/>
                <a:sym typeface="Arial"/>
              </a:rPr>
              <a:t>= kurzfristige Reaktion der Korrelationen auf neue Informationen</a:t>
            </a:r>
            <a:endParaRPr b="0" i="0" sz="900" u="none" cap="none" strike="noStrike">
              <a:solidFill>
                <a:srgbClr val="5B6876"/>
              </a:solidFill>
              <a:latin typeface="Arial"/>
              <a:ea typeface="Arial"/>
              <a:cs typeface="Arial"/>
              <a:sym typeface="Arial"/>
            </a:endParaRPr>
          </a:p>
          <a:p>
            <a:pPr indent="0" lvl="0" marL="0" marR="0" rtl="0" algn="l">
              <a:lnSpc>
                <a:spcPct val="88000"/>
              </a:lnSpc>
              <a:spcBef>
                <a:spcPts val="0"/>
              </a:spcBef>
              <a:spcAft>
                <a:spcPts val="0"/>
              </a:spcAft>
              <a:buNone/>
            </a:pPr>
            <a:r>
              <a:rPr b="1" i="0" lang="en-US" sz="900" u="none" cap="none" strike="noStrike">
                <a:solidFill>
                  <a:srgbClr val="0D2D49"/>
                </a:solidFill>
                <a:latin typeface="Arial"/>
                <a:ea typeface="Arial"/>
                <a:cs typeface="Arial"/>
                <a:sym typeface="Arial"/>
              </a:rPr>
              <a:t>b </a:t>
            </a:r>
            <a:r>
              <a:rPr b="0" i="0" lang="en-US" sz="900" u="none" cap="none" strike="noStrike">
                <a:solidFill>
                  <a:srgbClr val="5B6876"/>
                </a:solidFill>
                <a:latin typeface="Arial"/>
                <a:ea typeface="Arial"/>
                <a:cs typeface="Arial"/>
                <a:sym typeface="Arial"/>
              </a:rPr>
              <a:t>= Persistenz der Korrelationen</a:t>
            </a:r>
            <a:endParaRPr b="0" i="0" sz="900" u="none" cap="none" strike="noStrike">
              <a:solidFill>
                <a:srgbClr val="5B6876"/>
              </a:solidFill>
              <a:latin typeface="Arial"/>
              <a:ea typeface="Arial"/>
              <a:cs typeface="Arial"/>
              <a:sym typeface="Arial"/>
            </a:endParaRPr>
          </a:p>
          <a:p>
            <a:pPr indent="0" lvl="0" marL="0" marR="0" rtl="0" algn="l">
              <a:lnSpc>
                <a:spcPct val="88000"/>
              </a:lnSpc>
              <a:spcBef>
                <a:spcPts val="0"/>
              </a:spcBef>
              <a:spcAft>
                <a:spcPts val="0"/>
              </a:spcAft>
              <a:buNone/>
            </a:pPr>
            <a:r>
              <a:rPr b="1" i="0" lang="en-US" sz="900" u="none" cap="none" strike="noStrike">
                <a:solidFill>
                  <a:srgbClr val="0D2D49"/>
                </a:solidFill>
                <a:latin typeface="Arial"/>
                <a:ea typeface="Arial"/>
                <a:cs typeface="Arial"/>
                <a:sym typeface="Arial"/>
              </a:rPr>
              <a:t>Bedingung </a:t>
            </a:r>
            <a:r>
              <a:rPr b="0" i="0" lang="en-US" sz="900" u="none" cap="none" strike="noStrike">
                <a:solidFill>
                  <a:srgbClr val="5B6876"/>
                </a:solidFill>
                <a:latin typeface="Arial"/>
                <a:ea typeface="Arial"/>
                <a:cs typeface="Arial"/>
                <a:sym typeface="Arial"/>
              </a:rPr>
              <a:t>= a ≥ 0, b ≥ 0 und a + b &lt; 1</a:t>
            </a:r>
            <a:endParaRPr/>
          </a:p>
        </p:txBody>
      </p:sp>
      <p:pic>
        <p:nvPicPr>
          <p:cNvPr id="232" name="Google Shape;232;p19"/>
          <p:cNvPicPr preferRelativeResize="0"/>
          <p:nvPr/>
        </p:nvPicPr>
        <p:blipFill rotWithShape="1">
          <a:blip r:embed="rId5">
            <a:alphaModFix/>
          </a:blip>
          <a:srcRect b="0" l="0" r="0" t="0"/>
          <a:stretch/>
        </p:blipFill>
        <p:spPr>
          <a:xfrm>
            <a:off x="1141864" y="3832179"/>
            <a:ext cx="2620097" cy="530365"/>
          </a:xfrm>
          <a:prstGeom prst="rect">
            <a:avLst/>
          </a:prstGeom>
          <a:noFill/>
          <a:ln>
            <a:noFill/>
          </a:ln>
        </p:spPr>
      </p:pic>
      <p:pic>
        <p:nvPicPr>
          <p:cNvPr id="233" name="Google Shape;233;p19"/>
          <p:cNvPicPr preferRelativeResize="0"/>
          <p:nvPr/>
        </p:nvPicPr>
        <p:blipFill rotWithShape="1">
          <a:blip r:embed="rId5">
            <a:alphaModFix/>
          </a:blip>
          <a:srcRect b="0" l="0" r="0" t="0"/>
          <a:stretch/>
        </p:blipFill>
        <p:spPr>
          <a:xfrm>
            <a:off x="6650975" y="3607299"/>
            <a:ext cx="2620075" cy="4389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0"/>
          <p:cNvSpPr/>
          <p:nvPr/>
        </p:nvSpPr>
        <p:spPr>
          <a:xfrm>
            <a:off x="0" y="0"/>
            <a:ext cx="12191999" cy="6858000"/>
          </a:xfrm>
          <a:prstGeom prst="rect">
            <a:avLst/>
          </a:prstGeom>
          <a:solidFill>
            <a:srgbClr val="F9FA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39" name="Google Shape;239;p20"/>
          <p:cNvSpPr/>
          <p:nvPr/>
        </p:nvSpPr>
        <p:spPr>
          <a:xfrm>
            <a:off x="0" y="0"/>
            <a:ext cx="12191999" cy="64008"/>
          </a:xfrm>
          <a:prstGeom prst="rect">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image1.png" id="240" name="Google Shape;240;p20"/>
          <p:cNvPicPr preferRelativeResize="0"/>
          <p:nvPr/>
        </p:nvPicPr>
        <p:blipFill rotWithShape="1">
          <a:blip r:embed="rId3">
            <a:alphaModFix/>
          </a:blip>
          <a:srcRect b="0" l="0" r="0" t="0"/>
          <a:stretch/>
        </p:blipFill>
        <p:spPr>
          <a:xfrm>
            <a:off x="329184" y="182880"/>
            <a:ext cx="987552" cy="355661"/>
          </a:xfrm>
          <a:prstGeom prst="rect">
            <a:avLst/>
          </a:prstGeom>
          <a:noFill/>
          <a:ln>
            <a:noFill/>
          </a:ln>
        </p:spPr>
      </p:pic>
      <p:sp>
        <p:nvSpPr>
          <p:cNvPr id="241" name="Google Shape;241;p20"/>
          <p:cNvSpPr txBox="1"/>
          <p:nvPr/>
        </p:nvSpPr>
        <p:spPr>
          <a:xfrm>
            <a:off x="8641080" y="201168"/>
            <a:ext cx="3063240" cy="228600"/>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0" i="0" lang="en-US" sz="750" u="none" cap="none" strike="noStrike">
                <a:solidFill>
                  <a:srgbClr val="76808A"/>
                </a:solidFill>
                <a:latin typeface="Arial"/>
                <a:ea typeface="Arial"/>
                <a:cs typeface="Arial"/>
                <a:sym typeface="Arial"/>
              </a:rPr>
              <a:t>Risikobasierte Portfoliooptimierung mit GARCH-Modellen</a:t>
            </a:r>
            <a:endParaRPr/>
          </a:p>
        </p:txBody>
      </p:sp>
      <p:sp>
        <p:nvSpPr>
          <p:cNvPr id="242" name="Google Shape;242;p20"/>
          <p:cNvSpPr txBox="1"/>
          <p:nvPr/>
        </p:nvSpPr>
        <p:spPr>
          <a:xfrm>
            <a:off x="777240" y="786384"/>
            <a:ext cx="10287000" cy="438912"/>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2900" u="none" cap="none" strike="noStrike">
                <a:solidFill>
                  <a:srgbClr val="0F2D4B"/>
                </a:solidFill>
                <a:latin typeface="Arial"/>
                <a:ea typeface="Arial"/>
                <a:cs typeface="Arial"/>
                <a:sym typeface="Arial"/>
              </a:rPr>
              <a:t>Daten</a:t>
            </a:r>
            <a:endParaRPr/>
          </a:p>
        </p:txBody>
      </p:sp>
      <p:sp>
        <p:nvSpPr>
          <p:cNvPr id="243" name="Google Shape;243;p20"/>
          <p:cNvSpPr/>
          <p:nvPr/>
        </p:nvSpPr>
        <p:spPr>
          <a:xfrm>
            <a:off x="777240" y="1307592"/>
            <a:ext cx="1005840" cy="45720"/>
          </a:xfrm>
          <a:prstGeom prst="rect">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4" name="Google Shape;244;p20"/>
          <p:cNvSpPr/>
          <p:nvPr/>
        </p:nvSpPr>
        <p:spPr>
          <a:xfrm>
            <a:off x="777240" y="6473952"/>
            <a:ext cx="10652760" cy="10972"/>
          </a:xfrm>
          <a:prstGeom prst="rect">
            <a:avLst/>
          </a:prstGeom>
          <a:solidFill>
            <a:srgbClr val="EEF1F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5" name="Google Shape;245;p20"/>
          <p:cNvSpPr txBox="1"/>
          <p:nvPr/>
        </p:nvSpPr>
        <p:spPr>
          <a:xfrm>
            <a:off x="11109960" y="6519672"/>
            <a:ext cx="320100" cy="160200"/>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lang="en-US" sz="800">
                <a:solidFill>
                  <a:srgbClr val="76808A"/>
                </a:solidFill>
              </a:rPr>
              <a:t>8</a:t>
            </a:r>
            <a:endParaRPr/>
          </a:p>
        </p:txBody>
      </p:sp>
      <p:sp>
        <p:nvSpPr>
          <p:cNvPr id="246" name="Google Shape;246;p20"/>
          <p:cNvSpPr/>
          <p:nvPr/>
        </p:nvSpPr>
        <p:spPr>
          <a:xfrm>
            <a:off x="777240" y="1783080"/>
            <a:ext cx="3246120" cy="1417320"/>
          </a:xfrm>
          <a:prstGeom prst="roundRect">
            <a:avLst>
              <a:gd fmla="val 16667" name="adj"/>
            </a:avLst>
          </a:prstGeom>
          <a:solidFill>
            <a:srgbClr val="FFFFFF"/>
          </a:solidFill>
          <a:ln cap="flat" cmpd="sng" w="12700">
            <a:solidFill>
              <a:srgbClr val="D2D8E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7" name="Google Shape;247;p20"/>
          <p:cNvSpPr/>
          <p:nvPr/>
        </p:nvSpPr>
        <p:spPr>
          <a:xfrm>
            <a:off x="978408" y="1984248"/>
            <a:ext cx="438912" cy="347472"/>
          </a:xfrm>
          <a:prstGeom prst="roundRect">
            <a:avLst>
              <a:gd fmla="val 16667" name="adj"/>
            </a:avLst>
          </a:prstGeom>
          <a:solidFill>
            <a:srgbClr val="19446D"/>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8" name="Google Shape;248;p20"/>
          <p:cNvSpPr txBox="1"/>
          <p:nvPr/>
        </p:nvSpPr>
        <p:spPr>
          <a:xfrm>
            <a:off x="978408" y="2048255"/>
            <a:ext cx="438912" cy="13716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00" u="none" cap="none" strike="noStrike">
                <a:solidFill>
                  <a:srgbClr val="FFFFFF"/>
                </a:solidFill>
                <a:latin typeface="Arial"/>
                <a:ea typeface="Arial"/>
                <a:cs typeface="Arial"/>
                <a:sym typeface="Arial"/>
              </a:rPr>
              <a:t>1</a:t>
            </a:r>
            <a:endParaRPr/>
          </a:p>
        </p:txBody>
      </p:sp>
      <p:sp>
        <p:nvSpPr>
          <p:cNvPr id="249" name="Google Shape;249;p20"/>
          <p:cNvSpPr txBox="1"/>
          <p:nvPr/>
        </p:nvSpPr>
        <p:spPr>
          <a:xfrm>
            <a:off x="1527048" y="1979831"/>
            <a:ext cx="603627" cy="283154"/>
          </a:xfrm>
          <a:prstGeom prst="rect">
            <a:avLst/>
          </a:prstGeom>
          <a:noFill/>
          <a:ln>
            <a:noFill/>
          </a:ln>
        </p:spPr>
        <p:txBody>
          <a:bodyPr anchorCtr="0" anchor="ctr" bIns="18275" lIns="27425" spcFirstLastPara="1" rIns="27425" wrap="square" tIns="18275">
            <a:spAutoFit/>
          </a:bodyPr>
          <a:lstStyle/>
          <a:p>
            <a:pPr indent="0" lvl="0" marL="0" marR="0" rtl="0" algn="l">
              <a:spcBef>
                <a:spcPts val="0"/>
              </a:spcBef>
              <a:spcAft>
                <a:spcPts val="0"/>
              </a:spcAft>
              <a:buNone/>
            </a:pPr>
            <a:r>
              <a:rPr b="1" i="0" lang="en-US" sz="1600" u="none" cap="none" strike="noStrike">
                <a:solidFill>
                  <a:srgbClr val="0D2D49"/>
                </a:solidFill>
                <a:latin typeface="Arial"/>
                <a:ea typeface="Arial"/>
                <a:cs typeface="Arial"/>
                <a:sym typeface="Arial"/>
              </a:rPr>
              <a:t>Markt</a:t>
            </a:r>
            <a:endParaRPr/>
          </a:p>
        </p:txBody>
      </p:sp>
      <p:sp>
        <p:nvSpPr>
          <p:cNvPr id="250" name="Google Shape;250;p20"/>
          <p:cNvSpPr/>
          <p:nvPr/>
        </p:nvSpPr>
        <p:spPr>
          <a:xfrm>
            <a:off x="1527048" y="2313432"/>
            <a:ext cx="594360" cy="36576"/>
          </a:xfrm>
          <a:prstGeom prst="rect">
            <a:avLst/>
          </a:prstGeom>
          <a:solidFill>
            <a:srgbClr val="19446D"/>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1" name="Google Shape;251;p20"/>
          <p:cNvSpPr txBox="1"/>
          <p:nvPr/>
        </p:nvSpPr>
        <p:spPr>
          <a:xfrm>
            <a:off x="1005840" y="2478024"/>
            <a:ext cx="2788920" cy="473656"/>
          </a:xfrm>
          <a:prstGeom prst="rect">
            <a:avLst/>
          </a:prstGeom>
          <a:noFill/>
          <a:ln>
            <a:noFill/>
          </a:ln>
        </p:spPr>
        <p:txBody>
          <a:bodyPr anchorCtr="0" anchor="t" bIns="18275" lIns="27425" spcFirstLastPara="1" rIns="27425" wrap="square" tIns="18275">
            <a:spAutoFit/>
          </a:bodyPr>
          <a:lstStyle/>
          <a:p>
            <a:pPr indent="0" lvl="0" marL="0" marR="0" rtl="0" algn="l">
              <a:lnSpc>
                <a:spcPct val="105000"/>
              </a:lnSpc>
              <a:spcBef>
                <a:spcPts val="0"/>
              </a:spcBef>
              <a:spcAft>
                <a:spcPts val="0"/>
              </a:spcAft>
              <a:buNone/>
            </a:pPr>
            <a:r>
              <a:rPr b="0" i="0" lang="en-US" sz="1400" u="none" cap="none" strike="noStrike">
                <a:solidFill>
                  <a:srgbClr val="5B6876"/>
                </a:solidFill>
                <a:latin typeface="Arial"/>
                <a:ea typeface="Arial"/>
                <a:cs typeface="Arial"/>
                <a:sym typeface="Arial"/>
              </a:rPr>
              <a:t>• Tägliche Daten für den US-Markt aus Datastream.</a:t>
            </a:r>
            <a:endParaRPr/>
          </a:p>
        </p:txBody>
      </p:sp>
      <p:sp>
        <p:nvSpPr>
          <p:cNvPr id="252" name="Google Shape;252;p20"/>
          <p:cNvSpPr/>
          <p:nvPr/>
        </p:nvSpPr>
        <p:spPr>
          <a:xfrm>
            <a:off x="4480560" y="1783080"/>
            <a:ext cx="3246120" cy="1417320"/>
          </a:xfrm>
          <a:prstGeom prst="roundRect">
            <a:avLst>
              <a:gd fmla="val 16667" name="adj"/>
            </a:avLst>
          </a:prstGeom>
          <a:solidFill>
            <a:srgbClr val="FFFFFF"/>
          </a:solidFill>
          <a:ln cap="flat" cmpd="sng" w="12700">
            <a:solidFill>
              <a:srgbClr val="D2D8E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3" name="Google Shape;253;p20"/>
          <p:cNvSpPr/>
          <p:nvPr/>
        </p:nvSpPr>
        <p:spPr>
          <a:xfrm>
            <a:off x="4681728" y="1984248"/>
            <a:ext cx="438912" cy="347472"/>
          </a:xfrm>
          <a:prstGeom prst="roundRect">
            <a:avLst>
              <a:gd fmla="val 16667" name="adj"/>
            </a:avLst>
          </a:prstGeom>
          <a:solidFill>
            <a:srgbClr val="19446D"/>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4" name="Google Shape;254;p20"/>
          <p:cNvSpPr txBox="1"/>
          <p:nvPr/>
        </p:nvSpPr>
        <p:spPr>
          <a:xfrm>
            <a:off x="4681728" y="2048255"/>
            <a:ext cx="438912" cy="13716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00" u="none" cap="none" strike="noStrike">
                <a:solidFill>
                  <a:srgbClr val="FFFFFF"/>
                </a:solidFill>
                <a:latin typeface="Arial"/>
                <a:ea typeface="Arial"/>
                <a:cs typeface="Arial"/>
                <a:sym typeface="Arial"/>
              </a:rPr>
              <a:t>2</a:t>
            </a:r>
            <a:endParaRPr/>
          </a:p>
        </p:txBody>
      </p:sp>
      <p:sp>
        <p:nvSpPr>
          <p:cNvPr id="255" name="Google Shape;255;p20"/>
          <p:cNvSpPr txBox="1"/>
          <p:nvPr/>
        </p:nvSpPr>
        <p:spPr>
          <a:xfrm>
            <a:off x="5230368" y="1979831"/>
            <a:ext cx="932243" cy="283154"/>
          </a:xfrm>
          <a:prstGeom prst="rect">
            <a:avLst/>
          </a:prstGeom>
          <a:noFill/>
          <a:ln>
            <a:noFill/>
          </a:ln>
        </p:spPr>
        <p:txBody>
          <a:bodyPr anchorCtr="0" anchor="ctr" bIns="18275" lIns="27425" spcFirstLastPara="1" rIns="27425" wrap="square" tIns="18275">
            <a:spAutoFit/>
          </a:bodyPr>
          <a:lstStyle/>
          <a:p>
            <a:pPr indent="0" lvl="0" marL="0" marR="0" rtl="0" algn="l">
              <a:spcBef>
                <a:spcPts val="0"/>
              </a:spcBef>
              <a:spcAft>
                <a:spcPts val="0"/>
              </a:spcAft>
              <a:buNone/>
            </a:pPr>
            <a:r>
              <a:rPr b="1" i="0" lang="en-US" sz="1600" u="none" cap="none" strike="noStrike">
                <a:solidFill>
                  <a:srgbClr val="0D2D49"/>
                </a:solidFill>
                <a:latin typeface="Arial"/>
                <a:ea typeface="Arial"/>
                <a:cs typeface="Arial"/>
                <a:sym typeface="Arial"/>
              </a:rPr>
              <a:t>Sektoren</a:t>
            </a:r>
            <a:endParaRPr/>
          </a:p>
        </p:txBody>
      </p:sp>
      <p:sp>
        <p:nvSpPr>
          <p:cNvPr id="256" name="Google Shape;256;p20"/>
          <p:cNvSpPr/>
          <p:nvPr/>
        </p:nvSpPr>
        <p:spPr>
          <a:xfrm>
            <a:off x="5230368" y="2313432"/>
            <a:ext cx="594360" cy="36576"/>
          </a:xfrm>
          <a:prstGeom prst="rect">
            <a:avLst/>
          </a:prstGeom>
          <a:solidFill>
            <a:srgbClr val="19446D"/>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7" name="Google Shape;257;p20"/>
          <p:cNvSpPr txBox="1"/>
          <p:nvPr/>
        </p:nvSpPr>
        <p:spPr>
          <a:xfrm>
            <a:off x="4709160" y="2478024"/>
            <a:ext cx="2788920" cy="473656"/>
          </a:xfrm>
          <a:prstGeom prst="rect">
            <a:avLst/>
          </a:prstGeom>
          <a:noFill/>
          <a:ln>
            <a:noFill/>
          </a:ln>
        </p:spPr>
        <p:txBody>
          <a:bodyPr anchorCtr="0" anchor="t" bIns="18275" lIns="27425" spcFirstLastPara="1" rIns="27425" wrap="square" tIns="18275">
            <a:spAutoFit/>
          </a:bodyPr>
          <a:lstStyle/>
          <a:p>
            <a:pPr indent="0" lvl="0" marL="0" marR="0" rtl="0" algn="l">
              <a:lnSpc>
                <a:spcPct val="105000"/>
              </a:lnSpc>
              <a:spcBef>
                <a:spcPts val="0"/>
              </a:spcBef>
              <a:spcAft>
                <a:spcPts val="0"/>
              </a:spcAft>
              <a:buNone/>
            </a:pPr>
            <a:r>
              <a:rPr b="0" i="0" lang="en-US" sz="1400" u="none" cap="none" strike="noStrike">
                <a:solidFill>
                  <a:srgbClr val="5B6876"/>
                </a:solidFill>
                <a:latin typeface="Arial"/>
                <a:ea typeface="Arial"/>
                <a:cs typeface="Arial"/>
                <a:sym typeface="Arial"/>
              </a:rPr>
              <a:t>• 28 Business Sectors nach Refinitiv Business Classification.</a:t>
            </a:r>
            <a:endParaRPr/>
          </a:p>
        </p:txBody>
      </p:sp>
      <p:sp>
        <p:nvSpPr>
          <p:cNvPr id="258" name="Google Shape;258;p20"/>
          <p:cNvSpPr/>
          <p:nvPr/>
        </p:nvSpPr>
        <p:spPr>
          <a:xfrm>
            <a:off x="8183879" y="1783080"/>
            <a:ext cx="3246120" cy="1417320"/>
          </a:xfrm>
          <a:prstGeom prst="roundRect">
            <a:avLst>
              <a:gd fmla="val 16667" name="adj"/>
            </a:avLst>
          </a:prstGeom>
          <a:solidFill>
            <a:srgbClr val="FFFFFF"/>
          </a:solidFill>
          <a:ln cap="flat" cmpd="sng" w="12700">
            <a:solidFill>
              <a:srgbClr val="D2D8E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9" name="Google Shape;259;p20"/>
          <p:cNvSpPr/>
          <p:nvPr/>
        </p:nvSpPr>
        <p:spPr>
          <a:xfrm>
            <a:off x="8385048" y="1984248"/>
            <a:ext cx="438912" cy="347472"/>
          </a:xfrm>
          <a:prstGeom prst="roundRect">
            <a:avLst>
              <a:gd fmla="val 16667" name="adj"/>
            </a:avLst>
          </a:prstGeom>
          <a:solidFill>
            <a:srgbClr val="19446D"/>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60" name="Google Shape;260;p20"/>
          <p:cNvSpPr txBox="1"/>
          <p:nvPr/>
        </p:nvSpPr>
        <p:spPr>
          <a:xfrm>
            <a:off x="8385048" y="2048255"/>
            <a:ext cx="438912" cy="13716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00" u="none" cap="none" strike="noStrike">
                <a:solidFill>
                  <a:srgbClr val="FFFFFF"/>
                </a:solidFill>
                <a:latin typeface="Arial"/>
                <a:ea typeface="Arial"/>
                <a:cs typeface="Arial"/>
                <a:sym typeface="Arial"/>
              </a:rPr>
              <a:t>3</a:t>
            </a:r>
            <a:endParaRPr/>
          </a:p>
        </p:txBody>
      </p:sp>
      <p:sp>
        <p:nvSpPr>
          <p:cNvPr id="261" name="Google Shape;261;p20"/>
          <p:cNvSpPr txBox="1"/>
          <p:nvPr/>
        </p:nvSpPr>
        <p:spPr>
          <a:xfrm>
            <a:off x="8933688" y="1979831"/>
            <a:ext cx="922625" cy="283154"/>
          </a:xfrm>
          <a:prstGeom prst="rect">
            <a:avLst/>
          </a:prstGeom>
          <a:noFill/>
          <a:ln>
            <a:noFill/>
          </a:ln>
        </p:spPr>
        <p:txBody>
          <a:bodyPr anchorCtr="0" anchor="ctr" bIns="18275" lIns="27425" spcFirstLastPara="1" rIns="27425" wrap="square" tIns="18275">
            <a:spAutoFit/>
          </a:bodyPr>
          <a:lstStyle/>
          <a:p>
            <a:pPr indent="0" lvl="0" marL="0" marR="0" rtl="0" algn="l">
              <a:spcBef>
                <a:spcPts val="0"/>
              </a:spcBef>
              <a:spcAft>
                <a:spcPts val="0"/>
              </a:spcAft>
              <a:buNone/>
            </a:pPr>
            <a:r>
              <a:rPr b="1" i="0" lang="en-US" sz="1600" u="none" cap="none" strike="noStrike">
                <a:solidFill>
                  <a:srgbClr val="0D2D49"/>
                </a:solidFill>
                <a:latin typeface="Arial"/>
                <a:ea typeface="Arial"/>
                <a:cs typeface="Arial"/>
                <a:sym typeface="Arial"/>
              </a:rPr>
              <a:t>Zeitraum</a:t>
            </a:r>
            <a:endParaRPr/>
          </a:p>
        </p:txBody>
      </p:sp>
      <p:sp>
        <p:nvSpPr>
          <p:cNvPr id="262" name="Google Shape;262;p20"/>
          <p:cNvSpPr/>
          <p:nvPr/>
        </p:nvSpPr>
        <p:spPr>
          <a:xfrm>
            <a:off x="8933688" y="2313432"/>
            <a:ext cx="594360" cy="36576"/>
          </a:xfrm>
          <a:prstGeom prst="rect">
            <a:avLst/>
          </a:prstGeom>
          <a:solidFill>
            <a:srgbClr val="19446D"/>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63" name="Google Shape;263;p20"/>
          <p:cNvSpPr txBox="1"/>
          <p:nvPr/>
        </p:nvSpPr>
        <p:spPr>
          <a:xfrm>
            <a:off x="8412480" y="2478024"/>
            <a:ext cx="2788920" cy="247440"/>
          </a:xfrm>
          <a:prstGeom prst="rect">
            <a:avLst/>
          </a:prstGeom>
          <a:noFill/>
          <a:ln>
            <a:noFill/>
          </a:ln>
        </p:spPr>
        <p:txBody>
          <a:bodyPr anchorCtr="0" anchor="t" bIns="18275" lIns="27425" spcFirstLastPara="1" rIns="27425" wrap="square" tIns="18275">
            <a:spAutoFit/>
          </a:bodyPr>
          <a:lstStyle/>
          <a:p>
            <a:pPr indent="0" lvl="0" marL="0" marR="0" rtl="0" algn="l">
              <a:lnSpc>
                <a:spcPct val="105000"/>
              </a:lnSpc>
              <a:spcBef>
                <a:spcPts val="0"/>
              </a:spcBef>
              <a:spcAft>
                <a:spcPts val="0"/>
              </a:spcAft>
              <a:buNone/>
            </a:pPr>
            <a:r>
              <a:rPr b="0" i="0" lang="en-US" sz="1400" u="none" cap="none" strike="noStrike">
                <a:solidFill>
                  <a:srgbClr val="5B6876"/>
                </a:solidFill>
                <a:latin typeface="Arial"/>
                <a:ea typeface="Arial"/>
                <a:cs typeface="Arial"/>
                <a:sym typeface="Arial"/>
              </a:rPr>
              <a:t>• Datenbasis ab April 1999.</a:t>
            </a:r>
            <a:endParaRPr/>
          </a:p>
        </p:txBody>
      </p:sp>
      <p:sp>
        <p:nvSpPr>
          <p:cNvPr id="264" name="Google Shape;264;p20"/>
          <p:cNvSpPr/>
          <p:nvPr/>
        </p:nvSpPr>
        <p:spPr>
          <a:xfrm>
            <a:off x="1874519" y="3520440"/>
            <a:ext cx="3840480" cy="1417320"/>
          </a:xfrm>
          <a:prstGeom prst="roundRect">
            <a:avLst>
              <a:gd fmla="val 16667" name="adj"/>
            </a:avLst>
          </a:prstGeom>
          <a:solidFill>
            <a:srgbClr val="FFFFFF"/>
          </a:solidFill>
          <a:ln cap="flat" cmpd="sng" w="12700">
            <a:solidFill>
              <a:srgbClr val="D2D8E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65" name="Google Shape;265;p20"/>
          <p:cNvSpPr/>
          <p:nvPr/>
        </p:nvSpPr>
        <p:spPr>
          <a:xfrm>
            <a:off x="2075688" y="3721608"/>
            <a:ext cx="438912" cy="347472"/>
          </a:xfrm>
          <a:prstGeom prst="roundRect">
            <a:avLst>
              <a:gd fmla="val 16667" name="adj"/>
            </a:avLst>
          </a:prstGeom>
          <a:solidFill>
            <a:srgbClr val="19446D"/>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66" name="Google Shape;266;p20"/>
          <p:cNvSpPr txBox="1"/>
          <p:nvPr/>
        </p:nvSpPr>
        <p:spPr>
          <a:xfrm>
            <a:off x="2075688" y="3785615"/>
            <a:ext cx="438912" cy="13716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00" u="none" cap="none" strike="noStrike">
                <a:solidFill>
                  <a:srgbClr val="FFFFFF"/>
                </a:solidFill>
                <a:latin typeface="Arial"/>
                <a:ea typeface="Arial"/>
                <a:cs typeface="Arial"/>
                <a:sym typeface="Arial"/>
              </a:rPr>
              <a:t>4</a:t>
            </a:r>
            <a:endParaRPr/>
          </a:p>
        </p:txBody>
      </p:sp>
      <p:sp>
        <p:nvSpPr>
          <p:cNvPr id="267" name="Google Shape;267;p20"/>
          <p:cNvSpPr txBox="1"/>
          <p:nvPr/>
        </p:nvSpPr>
        <p:spPr>
          <a:xfrm>
            <a:off x="2624327" y="3717191"/>
            <a:ext cx="2063963" cy="283154"/>
          </a:xfrm>
          <a:prstGeom prst="rect">
            <a:avLst/>
          </a:prstGeom>
          <a:noFill/>
          <a:ln>
            <a:noFill/>
          </a:ln>
        </p:spPr>
        <p:txBody>
          <a:bodyPr anchorCtr="0" anchor="ctr" bIns="18275" lIns="27425" spcFirstLastPara="1" rIns="27425" wrap="square" tIns="18275">
            <a:spAutoFit/>
          </a:bodyPr>
          <a:lstStyle/>
          <a:p>
            <a:pPr indent="0" lvl="0" marL="0" marR="0" rtl="0" algn="l">
              <a:spcBef>
                <a:spcPts val="0"/>
              </a:spcBef>
              <a:spcAft>
                <a:spcPts val="0"/>
              </a:spcAft>
              <a:buNone/>
            </a:pPr>
            <a:r>
              <a:rPr b="1" i="0" lang="en-US" sz="1600" u="none" cap="none" strike="noStrike">
                <a:solidFill>
                  <a:srgbClr val="0D2D49"/>
                </a:solidFill>
                <a:latin typeface="Arial"/>
                <a:ea typeface="Arial"/>
                <a:cs typeface="Arial"/>
                <a:sym typeface="Arial"/>
              </a:rPr>
              <a:t>Risikofreier Zinssatz</a:t>
            </a:r>
            <a:endParaRPr/>
          </a:p>
        </p:txBody>
      </p:sp>
      <p:sp>
        <p:nvSpPr>
          <p:cNvPr id="268" name="Google Shape;268;p20"/>
          <p:cNvSpPr/>
          <p:nvPr/>
        </p:nvSpPr>
        <p:spPr>
          <a:xfrm>
            <a:off x="2624327" y="4050791"/>
            <a:ext cx="594360" cy="36576"/>
          </a:xfrm>
          <a:prstGeom prst="rect">
            <a:avLst/>
          </a:prstGeom>
          <a:solidFill>
            <a:srgbClr val="19446D"/>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69" name="Google Shape;269;p20"/>
          <p:cNvSpPr txBox="1"/>
          <p:nvPr/>
        </p:nvSpPr>
        <p:spPr>
          <a:xfrm>
            <a:off x="2103120" y="4215384"/>
            <a:ext cx="3383280" cy="473656"/>
          </a:xfrm>
          <a:prstGeom prst="rect">
            <a:avLst/>
          </a:prstGeom>
          <a:noFill/>
          <a:ln>
            <a:noFill/>
          </a:ln>
        </p:spPr>
        <p:txBody>
          <a:bodyPr anchorCtr="0" anchor="t" bIns="18275" lIns="27425" spcFirstLastPara="1" rIns="27425" wrap="square" tIns="18275">
            <a:spAutoFit/>
          </a:bodyPr>
          <a:lstStyle/>
          <a:p>
            <a:pPr indent="0" lvl="0" marL="0" marR="0" rtl="0" algn="l">
              <a:lnSpc>
                <a:spcPct val="105000"/>
              </a:lnSpc>
              <a:spcBef>
                <a:spcPts val="0"/>
              </a:spcBef>
              <a:spcAft>
                <a:spcPts val="0"/>
              </a:spcAft>
              <a:buNone/>
            </a:pPr>
            <a:r>
              <a:rPr b="0" i="0" lang="en-US" sz="1400" u="none" cap="none" strike="noStrike">
                <a:solidFill>
                  <a:srgbClr val="5B6876"/>
                </a:solidFill>
                <a:latin typeface="Arial"/>
                <a:ea typeface="Arial"/>
                <a:cs typeface="Arial"/>
                <a:sym typeface="Arial"/>
              </a:rPr>
              <a:t>• Fed-Funds-Rate zur Berechnung der Sharpe-Ratio.</a:t>
            </a:r>
            <a:endParaRPr/>
          </a:p>
        </p:txBody>
      </p:sp>
      <p:sp>
        <p:nvSpPr>
          <p:cNvPr id="270" name="Google Shape;270;p20"/>
          <p:cNvSpPr/>
          <p:nvPr/>
        </p:nvSpPr>
        <p:spPr>
          <a:xfrm>
            <a:off x="6446520" y="3520440"/>
            <a:ext cx="3840480" cy="1417320"/>
          </a:xfrm>
          <a:prstGeom prst="roundRect">
            <a:avLst>
              <a:gd fmla="val 16667" name="adj"/>
            </a:avLst>
          </a:prstGeom>
          <a:solidFill>
            <a:srgbClr val="FFFFFF"/>
          </a:solidFill>
          <a:ln cap="flat" cmpd="sng" w="12700">
            <a:solidFill>
              <a:srgbClr val="D2D8E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1" name="Google Shape;271;p20"/>
          <p:cNvSpPr/>
          <p:nvPr/>
        </p:nvSpPr>
        <p:spPr>
          <a:xfrm>
            <a:off x="6647688" y="3721608"/>
            <a:ext cx="438912" cy="347472"/>
          </a:xfrm>
          <a:prstGeom prst="roundRect">
            <a:avLst>
              <a:gd fmla="val 16667" name="adj"/>
            </a:avLst>
          </a:prstGeom>
          <a:solidFill>
            <a:srgbClr val="19446D"/>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2" name="Google Shape;272;p20"/>
          <p:cNvSpPr txBox="1"/>
          <p:nvPr/>
        </p:nvSpPr>
        <p:spPr>
          <a:xfrm>
            <a:off x="6647688" y="3785615"/>
            <a:ext cx="438912" cy="13716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00" u="none" cap="none" strike="noStrike">
                <a:solidFill>
                  <a:srgbClr val="FFFFFF"/>
                </a:solidFill>
                <a:latin typeface="Arial"/>
                <a:ea typeface="Arial"/>
                <a:cs typeface="Arial"/>
                <a:sym typeface="Arial"/>
              </a:rPr>
              <a:t>5</a:t>
            </a:r>
            <a:endParaRPr/>
          </a:p>
        </p:txBody>
      </p:sp>
      <p:sp>
        <p:nvSpPr>
          <p:cNvPr id="273" name="Google Shape;273;p20"/>
          <p:cNvSpPr txBox="1"/>
          <p:nvPr/>
        </p:nvSpPr>
        <p:spPr>
          <a:xfrm>
            <a:off x="7196328" y="3717191"/>
            <a:ext cx="1161344" cy="283154"/>
          </a:xfrm>
          <a:prstGeom prst="rect">
            <a:avLst/>
          </a:prstGeom>
          <a:noFill/>
          <a:ln>
            <a:noFill/>
          </a:ln>
        </p:spPr>
        <p:txBody>
          <a:bodyPr anchorCtr="0" anchor="ctr" bIns="18275" lIns="27425" spcFirstLastPara="1" rIns="27425" wrap="square" tIns="18275">
            <a:spAutoFit/>
          </a:bodyPr>
          <a:lstStyle/>
          <a:p>
            <a:pPr indent="0" lvl="0" marL="0" marR="0" rtl="0" algn="l">
              <a:spcBef>
                <a:spcPts val="0"/>
              </a:spcBef>
              <a:spcAft>
                <a:spcPts val="0"/>
              </a:spcAft>
              <a:buNone/>
            </a:pPr>
            <a:r>
              <a:rPr b="1" i="0" lang="en-US" sz="1600" u="none" cap="none" strike="noStrike">
                <a:solidFill>
                  <a:srgbClr val="0D2D49"/>
                </a:solidFill>
                <a:latin typeface="Arial"/>
                <a:ea typeface="Arial"/>
                <a:cs typeface="Arial"/>
                <a:sym typeface="Arial"/>
              </a:rPr>
              <a:t>Validierung</a:t>
            </a:r>
            <a:endParaRPr/>
          </a:p>
        </p:txBody>
      </p:sp>
      <p:sp>
        <p:nvSpPr>
          <p:cNvPr id="274" name="Google Shape;274;p20"/>
          <p:cNvSpPr/>
          <p:nvPr/>
        </p:nvSpPr>
        <p:spPr>
          <a:xfrm>
            <a:off x="7196328" y="4050791"/>
            <a:ext cx="594360" cy="36576"/>
          </a:xfrm>
          <a:prstGeom prst="rect">
            <a:avLst/>
          </a:prstGeom>
          <a:solidFill>
            <a:srgbClr val="19446D"/>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5" name="Google Shape;275;p20"/>
          <p:cNvSpPr txBox="1"/>
          <p:nvPr/>
        </p:nvSpPr>
        <p:spPr>
          <a:xfrm>
            <a:off x="6675120" y="4215384"/>
            <a:ext cx="3383280" cy="473656"/>
          </a:xfrm>
          <a:prstGeom prst="rect">
            <a:avLst/>
          </a:prstGeom>
          <a:noFill/>
          <a:ln>
            <a:noFill/>
          </a:ln>
        </p:spPr>
        <p:txBody>
          <a:bodyPr anchorCtr="0" anchor="t" bIns="18275" lIns="27425" spcFirstLastPara="1" rIns="27425" wrap="square" tIns="18275">
            <a:spAutoFit/>
          </a:bodyPr>
          <a:lstStyle/>
          <a:p>
            <a:pPr indent="0" lvl="0" marL="0" marR="0" rtl="0" algn="l">
              <a:lnSpc>
                <a:spcPct val="105000"/>
              </a:lnSpc>
              <a:spcBef>
                <a:spcPts val="0"/>
              </a:spcBef>
              <a:spcAft>
                <a:spcPts val="0"/>
              </a:spcAft>
              <a:buNone/>
            </a:pPr>
            <a:r>
              <a:rPr b="0" i="0" lang="en-US" sz="1400" u="none" cap="none" strike="noStrike">
                <a:solidFill>
                  <a:srgbClr val="5B6876"/>
                </a:solidFill>
                <a:latin typeface="Arial"/>
                <a:ea typeface="Arial"/>
                <a:cs typeface="Arial"/>
                <a:sym typeface="Arial"/>
              </a:rPr>
              <a:t>• Künstliche Daten aus Monte Carlo, GARCH und DCC-GARCH.</a:t>
            </a:r>
            <a:endParaRPr/>
          </a:p>
        </p:txBody>
      </p:sp>
      <p:sp>
        <p:nvSpPr>
          <p:cNvPr id="276" name="Google Shape;276;p20"/>
          <p:cNvSpPr/>
          <p:nvPr/>
        </p:nvSpPr>
        <p:spPr>
          <a:xfrm>
            <a:off x="1280160" y="5349240"/>
            <a:ext cx="9646920" cy="384048"/>
          </a:xfrm>
          <a:prstGeom prst="roundRect">
            <a:avLst>
              <a:gd fmla="val 16667" name="adj"/>
            </a:avLst>
          </a:prstGeom>
          <a:solidFill>
            <a:srgbClr val="E8F2FA"/>
          </a:solidFill>
          <a:ln cap="flat" cmpd="sng" w="9525">
            <a:solidFill>
              <a:srgbClr val="D2D8E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7" name="Google Shape;277;p20"/>
          <p:cNvSpPr txBox="1"/>
          <p:nvPr/>
        </p:nvSpPr>
        <p:spPr>
          <a:xfrm>
            <a:off x="1353312" y="5394959"/>
            <a:ext cx="9500616" cy="32004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00" u="none" cap="none" strike="noStrike">
                <a:solidFill>
                  <a:srgbClr val="0D2D49"/>
                </a:solidFill>
                <a:latin typeface="Arial"/>
                <a:ea typeface="Arial"/>
                <a:cs typeface="Arial"/>
                <a:sym typeface="Arial"/>
              </a:rPr>
              <a:t>Beispielhafte Sektoren: Utilities, Technology Equipment und Insurance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1"/>
          <p:cNvSpPr/>
          <p:nvPr/>
        </p:nvSpPr>
        <p:spPr>
          <a:xfrm>
            <a:off x="0" y="0"/>
            <a:ext cx="12191999" cy="6858000"/>
          </a:xfrm>
          <a:prstGeom prst="rect">
            <a:avLst/>
          </a:prstGeom>
          <a:solidFill>
            <a:srgbClr val="F9FA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3" name="Google Shape;283;p21"/>
          <p:cNvSpPr/>
          <p:nvPr/>
        </p:nvSpPr>
        <p:spPr>
          <a:xfrm>
            <a:off x="0" y="0"/>
            <a:ext cx="12191999" cy="64008"/>
          </a:xfrm>
          <a:prstGeom prst="rect">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image1.png" id="284" name="Google Shape;284;p21"/>
          <p:cNvPicPr preferRelativeResize="0"/>
          <p:nvPr/>
        </p:nvPicPr>
        <p:blipFill rotWithShape="1">
          <a:blip r:embed="rId3">
            <a:alphaModFix/>
          </a:blip>
          <a:srcRect b="0" l="0" r="0" t="0"/>
          <a:stretch/>
        </p:blipFill>
        <p:spPr>
          <a:xfrm>
            <a:off x="329184" y="182880"/>
            <a:ext cx="987552" cy="355661"/>
          </a:xfrm>
          <a:prstGeom prst="rect">
            <a:avLst/>
          </a:prstGeom>
          <a:noFill/>
          <a:ln>
            <a:noFill/>
          </a:ln>
        </p:spPr>
      </p:pic>
      <p:sp>
        <p:nvSpPr>
          <p:cNvPr id="285" name="Google Shape;285;p21"/>
          <p:cNvSpPr txBox="1"/>
          <p:nvPr/>
        </p:nvSpPr>
        <p:spPr>
          <a:xfrm>
            <a:off x="8641080" y="201168"/>
            <a:ext cx="3063240" cy="228600"/>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0" i="0" lang="en-US" sz="750" u="none" cap="none" strike="noStrike">
                <a:solidFill>
                  <a:srgbClr val="76808A"/>
                </a:solidFill>
                <a:latin typeface="Arial"/>
                <a:ea typeface="Arial"/>
                <a:cs typeface="Arial"/>
                <a:sym typeface="Arial"/>
              </a:rPr>
              <a:t>Risikobasierte Portfoliooptimierung mit GARCH-Modellen</a:t>
            </a:r>
            <a:endParaRPr/>
          </a:p>
        </p:txBody>
      </p:sp>
      <p:sp>
        <p:nvSpPr>
          <p:cNvPr id="286" name="Google Shape;286;p21"/>
          <p:cNvSpPr txBox="1"/>
          <p:nvPr/>
        </p:nvSpPr>
        <p:spPr>
          <a:xfrm>
            <a:off x="777240" y="786384"/>
            <a:ext cx="10287000" cy="438912"/>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2900" u="none" cap="none" strike="noStrike">
                <a:solidFill>
                  <a:srgbClr val="0F2D4B"/>
                </a:solidFill>
                <a:latin typeface="Arial"/>
                <a:ea typeface="Arial"/>
                <a:cs typeface="Arial"/>
                <a:sym typeface="Arial"/>
              </a:rPr>
              <a:t>Methodik</a:t>
            </a:r>
            <a:endParaRPr/>
          </a:p>
        </p:txBody>
      </p:sp>
      <p:sp>
        <p:nvSpPr>
          <p:cNvPr id="287" name="Google Shape;287;p21"/>
          <p:cNvSpPr/>
          <p:nvPr/>
        </p:nvSpPr>
        <p:spPr>
          <a:xfrm>
            <a:off x="777240" y="1307592"/>
            <a:ext cx="1005840" cy="45720"/>
          </a:xfrm>
          <a:prstGeom prst="rect">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8" name="Google Shape;288;p21"/>
          <p:cNvSpPr/>
          <p:nvPr/>
        </p:nvSpPr>
        <p:spPr>
          <a:xfrm>
            <a:off x="777240" y="6473952"/>
            <a:ext cx="10652760" cy="10972"/>
          </a:xfrm>
          <a:prstGeom prst="rect">
            <a:avLst/>
          </a:prstGeom>
          <a:solidFill>
            <a:srgbClr val="EEF1F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9" name="Google Shape;289;p21"/>
          <p:cNvSpPr txBox="1"/>
          <p:nvPr/>
        </p:nvSpPr>
        <p:spPr>
          <a:xfrm>
            <a:off x="11109960" y="6519672"/>
            <a:ext cx="320100" cy="160200"/>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lang="en-US" sz="800">
                <a:solidFill>
                  <a:srgbClr val="76808A"/>
                </a:solidFill>
              </a:rPr>
              <a:t>9</a:t>
            </a:r>
            <a:endParaRPr/>
          </a:p>
        </p:txBody>
      </p:sp>
      <p:sp>
        <p:nvSpPr>
          <p:cNvPr id="290" name="Google Shape;290;p21"/>
          <p:cNvSpPr/>
          <p:nvPr/>
        </p:nvSpPr>
        <p:spPr>
          <a:xfrm>
            <a:off x="685800" y="2057400"/>
            <a:ext cx="2514600" cy="2331720"/>
          </a:xfrm>
          <a:prstGeom prst="roundRect">
            <a:avLst>
              <a:gd fmla="val 16667" name="adj"/>
            </a:avLst>
          </a:prstGeom>
          <a:solidFill>
            <a:srgbClr val="FFFFFF"/>
          </a:solidFill>
          <a:ln cap="flat" cmpd="sng" w="12700">
            <a:solidFill>
              <a:srgbClr val="D2D8E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91" name="Google Shape;291;p21"/>
          <p:cNvSpPr/>
          <p:nvPr/>
        </p:nvSpPr>
        <p:spPr>
          <a:xfrm>
            <a:off x="1650492" y="1728216"/>
            <a:ext cx="585216" cy="585216"/>
          </a:xfrm>
          <a:prstGeom prst="ellipse">
            <a:avLst/>
          </a:prstGeom>
          <a:solidFill>
            <a:srgbClr val="19446D"/>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92" name="Google Shape;292;p21"/>
          <p:cNvSpPr txBox="1"/>
          <p:nvPr/>
        </p:nvSpPr>
        <p:spPr>
          <a:xfrm>
            <a:off x="1650492" y="1892807"/>
            <a:ext cx="585216"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FFFFFF"/>
                </a:solidFill>
                <a:latin typeface="Arial"/>
                <a:ea typeface="Arial"/>
                <a:cs typeface="Arial"/>
                <a:sym typeface="Arial"/>
              </a:rPr>
              <a:t>1</a:t>
            </a:r>
            <a:endParaRPr/>
          </a:p>
        </p:txBody>
      </p:sp>
      <p:sp>
        <p:nvSpPr>
          <p:cNvPr id="293" name="Google Shape;293;p21"/>
          <p:cNvSpPr txBox="1"/>
          <p:nvPr/>
        </p:nvSpPr>
        <p:spPr>
          <a:xfrm>
            <a:off x="1145157" y="2729639"/>
            <a:ext cx="1595886" cy="283154"/>
          </a:xfrm>
          <a:prstGeom prst="rect">
            <a:avLst/>
          </a:prstGeom>
          <a:noFill/>
          <a:ln>
            <a:noFill/>
          </a:ln>
        </p:spPr>
        <p:txBody>
          <a:bodyPr anchorCtr="0" anchor="ctr" bIns="18275" lIns="27425" spcFirstLastPara="1" rIns="27425" wrap="square" tIns="18275">
            <a:spAutoFit/>
          </a:bodyPr>
          <a:lstStyle/>
          <a:p>
            <a:pPr indent="0" lvl="0" marL="0" marR="0" rtl="0" algn="ctr">
              <a:spcBef>
                <a:spcPts val="0"/>
              </a:spcBef>
              <a:spcAft>
                <a:spcPts val="0"/>
              </a:spcAft>
              <a:buNone/>
            </a:pPr>
            <a:r>
              <a:rPr b="1" i="0" lang="en-US" sz="1600" u="none" cap="none" strike="noStrike">
                <a:solidFill>
                  <a:srgbClr val="0D2D49"/>
                </a:solidFill>
                <a:latin typeface="Arial"/>
                <a:ea typeface="Arial"/>
                <a:cs typeface="Arial"/>
                <a:sym typeface="Arial"/>
              </a:rPr>
              <a:t>Rolling Window</a:t>
            </a:r>
            <a:endParaRPr/>
          </a:p>
        </p:txBody>
      </p:sp>
      <p:sp>
        <p:nvSpPr>
          <p:cNvPr id="294" name="Google Shape;294;p21"/>
          <p:cNvSpPr/>
          <p:nvPr/>
        </p:nvSpPr>
        <p:spPr>
          <a:xfrm>
            <a:off x="1595628" y="3099815"/>
            <a:ext cx="694944" cy="36576"/>
          </a:xfrm>
          <a:prstGeom prst="rect">
            <a:avLst/>
          </a:prstGeom>
          <a:solidFill>
            <a:srgbClr val="19446D"/>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95" name="Google Shape;295;p21"/>
          <p:cNvSpPr txBox="1"/>
          <p:nvPr/>
        </p:nvSpPr>
        <p:spPr>
          <a:xfrm>
            <a:off x="960120" y="3355848"/>
            <a:ext cx="1965960" cy="646331"/>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00" u="none" cap="none" strike="noStrike">
                <a:solidFill>
                  <a:srgbClr val="5B6876"/>
                </a:solidFill>
                <a:latin typeface="Arial"/>
                <a:ea typeface="Arial"/>
                <a:cs typeface="Arial"/>
                <a:sym typeface="Arial"/>
              </a:rPr>
              <a:t>• 1–10 Jahre Training und 1–21 Tage Vorhersage.</a:t>
            </a:r>
            <a:endParaRPr/>
          </a:p>
        </p:txBody>
      </p:sp>
      <p:sp>
        <p:nvSpPr>
          <p:cNvPr id="296" name="Google Shape;296;p21"/>
          <p:cNvSpPr/>
          <p:nvPr/>
        </p:nvSpPr>
        <p:spPr>
          <a:xfrm>
            <a:off x="3246120" y="3081528"/>
            <a:ext cx="155448" cy="201168"/>
          </a:xfrm>
          <a:prstGeom prst="rightArrow">
            <a:avLst>
              <a:gd fmla="val 50000" name="adj1"/>
              <a:gd fmla="val 50000" name="adj2"/>
            </a:avLst>
          </a:prstGeom>
          <a:solidFill>
            <a:srgbClr val="19446D"/>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97" name="Google Shape;297;p21"/>
          <p:cNvSpPr/>
          <p:nvPr/>
        </p:nvSpPr>
        <p:spPr>
          <a:xfrm>
            <a:off x="3447288" y="2057400"/>
            <a:ext cx="2514600" cy="2331720"/>
          </a:xfrm>
          <a:prstGeom prst="roundRect">
            <a:avLst>
              <a:gd fmla="val 16667" name="adj"/>
            </a:avLst>
          </a:prstGeom>
          <a:solidFill>
            <a:srgbClr val="FFFFFF"/>
          </a:solidFill>
          <a:ln cap="flat" cmpd="sng" w="12700">
            <a:solidFill>
              <a:srgbClr val="D2D8E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98" name="Google Shape;298;p21"/>
          <p:cNvSpPr/>
          <p:nvPr/>
        </p:nvSpPr>
        <p:spPr>
          <a:xfrm>
            <a:off x="4411979" y="1728216"/>
            <a:ext cx="585216" cy="585216"/>
          </a:xfrm>
          <a:prstGeom prst="ellipse">
            <a:avLst/>
          </a:prstGeom>
          <a:solidFill>
            <a:srgbClr val="19446D"/>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99" name="Google Shape;299;p21"/>
          <p:cNvSpPr txBox="1"/>
          <p:nvPr/>
        </p:nvSpPr>
        <p:spPr>
          <a:xfrm>
            <a:off x="4411979" y="1892807"/>
            <a:ext cx="585216"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FFFFFF"/>
                </a:solidFill>
                <a:latin typeface="Arial"/>
                <a:ea typeface="Arial"/>
                <a:cs typeface="Arial"/>
                <a:sym typeface="Arial"/>
              </a:rPr>
              <a:t>2</a:t>
            </a:r>
            <a:endParaRPr/>
          </a:p>
        </p:txBody>
      </p:sp>
      <p:sp>
        <p:nvSpPr>
          <p:cNvPr id="300" name="Google Shape;300;p21"/>
          <p:cNvSpPr txBox="1"/>
          <p:nvPr/>
        </p:nvSpPr>
        <p:spPr>
          <a:xfrm>
            <a:off x="3878592" y="2729639"/>
            <a:ext cx="1651992" cy="283154"/>
          </a:xfrm>
          <a:prstGeom prst="rect">
            <a:avLst/>
          </a:prstGeom>
          <a:noFill/>
          <a:ln>
            <a:noFill/>
          </a:ln>
        </p:spPr>
        <p:txBody>
          <a:bodyPr anchorCtr="0" anchor="ctr" bIns="18275" lIns="27425" spcFirstLastPara="1" rIns="27425" wrap="square" tIns="18275">
            <a:spAutoFit/>
          </a:bodyPr>
          <a:lstStyle/>
          <a:p>
            <a:pPr indent="0" lvl="0" marL="0" marR="0" rtl="0" algn="ctr">
              <a:spcBef>
                <a:spcPts val="0"/>
              </a:spcBef>
              <a:spcAft>
                <a:spcPts val="0"/>
              </a:spcAft>
              <a:buNone/>
            </a:pPr>
            <a:r>
              <a:rPr b="1" i="0" lang="en-US" sz="1600" u="none" cap="none" strike="noStrike">
                <a:solidFill>
                  <a:srgbClr val="0D2D49"/>
                </a:solidFill>
                <a:latin typeface="Arial"/>
                <a:ea typeface="Arial"/>
                <a:cs typeface="Arial"/>
                <a:sym typeface="Arial"/>
              </a:rPr>
              <a:t>Kovarianzmatrix</a:t>
            </a:r>
            <a:endParaRPr/>
          </a:p>
        </p:txBody>
      </p:sp>
      <p:sp>
        <p:nvSpPr>
          <p:cNvPr id="301" name="Google Shape;301;p21"/>
          <p:cNvSpPr/>
          <p:nvPr/>
        </p:nvSpPr>
        <p:spPr>
          <a:xfrm>
            <a:off x="4357116" y="3099815"/>
            <a:ext cx="694944" cy="36576"/>
          </a:xfrm>
          <a:prstGeom prst="rect">
            <a:avLst/>
          </a:prstGeom>
          <a:solidFill>
            <a:srgbClr val="19446D"/>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02" name="Google Shape;302;p21"/>
          <p:cNvSpPr txBox="1"/>
          <p:nvPr/>
        </p:nvSpPr>
        <p:spPr>
          <a:xfrm>
            <a:off x="3721608" y="3355848"/>
            <a:ext cx="1965960" cy="861774"/>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00" u="none" cap="none" strike="noStrike">
                <a:solidFill>
                  <a:srgbClr val="5B6876"/>
                </a:solidFill>
                <a:latin typeface="Arial"/>
                <a:ea typeface="Arial"/>
                <a:cs typeface="Arial"/>
                <a:sym typeface="Arial"/>
              </a:rPr>
              <a:t>• Schätzung mit historischen Werten, GARCH und DCC-GARCH.</a:t>
            </a:r>
            <a:endParaRPr/>
          </a:p>
        </p:txBody>
      </p:sp>
      <p:sp>
        <p:nvSpPr>
          <p:cNvPr id="303" name="Google Shape;303;p21"/>
          <p:cNvSpPr/>
          <p:nvPr/>
        </p:nvSpPr>
        <p:spPr>
          <a:xfrm>
            <a:off x="6007607" y="3081528"/>
            <a:ext cx="155448" cy="201168"/>
          </a:xfrm>
          <a:prstGeom prst="rightArrow">
            <a:avLst>
              <a:gd fmla="val 50000" name="adj1"/>
              <a:gd fmla="val 50000" name="adj2"/>
            </a:avLst>
          </a:prstGeom>
          <a:solidFill>
            <a:srgbClr val="19446D"/>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04" name="Google Shape;304;p21"/>
          <p:cNvSpPr/>
          <p:nvPr/>
        </p:nvSpPr>
        <p:spPr>
          <a:xfrm>
            <a:off x="6208776" y="2057400"/>
            <a:ext cx="2514600" cy="2331720"/>
          </a:xfrm>
          <a:prstGeom prst="roundRect">
            <a:avLst>
              <a:gd fmla="val 16667" name="adj"/>
            </a:avLst>
          </a:prstGeom>
          <a:solidFill>
            <a:srgbClr val="FFFFFF"/>
          </a:solidFill>
          <a:ln cap="flat" cmpd="sng" w="12700">
            <a:solidFill>
              <a:srgbClr val="D2D8E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05" name="Google Shape;305;p21"/>
          <p:cNvSpPr/>
          <p:nvPr/>
        </p:nvSpPr>
        <p:spPr>
          <a:xfrm>
            <a:off x="7173467" y="1728216"/>
            <a:ext cx="585216" cy="585216"/>
          </a:xfrm>
          <a:prstGeom prst="ellipse">
            <a:avLst/>
          </a:prstGeom>
          <a:solidFill>
            <a:srgbClr val="19446D"/>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06" name="Google Shape;306;p21"/>
          <p:cNvSpPr txBox="1"/>
          <p:nvPr/>
        </p:nvSpPr>
        <p:spPr>
          <a:xfrm>
            <a:off x="7173467" y="1892807"/>
            <a:ext cx="585216"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FFFFFF"/>
                </a:solidFill>
                <a:latin typeface="Arial"/>
                <a:ea typeface="Arial"/>
                <a:cs typeface="Arial"/>
                <a:sym typeface="Arial"/>
              </a:rPr>
              <a:t>3</a:t>
            </a:r>
            <a:endParaRPr/>
          </a:p>
        </p:txBody>
      </p:sp>
      <p:sp>
        <p:nvSpPr>
          <p:cNvPr id="307" name="Google Shape;307;p21"/>
          <p:cNvSpPr txBox="1"/>
          <p:nvPr/>
        </p:nvSpPr>
        <p:spPr>
          <a:xfrm>
            <a:off x="6576762" y="2729639"/>
            <a:ext cx="1778628" cy="283154"/>
          </a:xfrm>
          <a:prstGeom prst="rect">
            <a:avLst/>
          </a:prstGeom>
          <a:noFill/>
          <a:ln>
            <a:noFill/>
          </a:ln>
        </p:spPr>
        <p:txBody>
          <a:bodyPr anchorCtr="0" anchor="ctr" bIns="18275" lIns="27425" spcFirstLastPara="1" rIns="27425" wrap="square" tIns="18275">
            <a:spAutoFit/>
          </a:bodyPr>
          <a:lstStyle/>
          <a:p>
            <a:pPr indent="0" lvl="0" marL="0" marR="0" rtl="0" algn="ctr">
              <a:spcBef>
                <a:spcPts val="0"/>
              </a:spcBef>
              <a:spcAft>
                <a:spcPts val="0"/>
              </a:spcAft>
              <a:buNone/>
            </a:pPr>
            <a:r>
              <a:rPr b="1" i="0" lang="en-US" sz="1600" u="none" cap="none" strike="noStrike">
                <a:solidFill>
                  <a:srgbClr val="0D2D49"/>
                </a:solidFill>
                <a:latin typeface="Arial"/>
                <a:ea typeface="Arial"/>
                <a:cs typeface="Arial"/>
                <a:sym typeface="Arial"/>
              </a:rPr>
              <a:t>Portfoliogewichte</a:t>
            </a:r>
            <a:endParaRPr/>
          </a:p>
        </p:txBody>
      </p:sp>
      <p:sp>
        <p:nvSpPr>
          <p:cNvPr id="308" name="Google Shape;308;p21"/>
          <p:cNvSpPr/>
          <p:nvPr/>
        </p:nvSpPr>
        <p:spPr>
          <a:xfrm>
            <a:off x="7118603" y="3099815"/>
            <a:ext cx="694944" cy="36576"/>
          </a:xfrm>
          <a:prstGeom prst="rect">
            <a:avLst/>
          </a:prstGeom>
          <a:solidFill>
            <a:srgbClr val="19446D"/>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09" name="Google Shape;309;p21"/>
          <p:cNvSpPr txBox="1"/>
          <p:nvPr/>
        </p:nvSpPr>
        <p:spPr>
          <a:xfrm>
            <a:off x="6483096" y="3355848"/>
            <a:ext cx="1965960" cy="646331"/>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00" u="none" cap="none" strike="noStrike">
                <a:solidFill>
                  <a:srgbClr val="5B6876"/>
                </a:solidFill>
                <a:latin typeface="Arial"/>
                <a:ea typeface="Arial"/>
                <a:cs typeface="Arial"/>
                <a:sym typeface="Arial"/>
              </a:rPr>
              <a:t>• Berechnung für jede Kombination aus Modell und Kovarianzmatrix.</a:t>
            </a:r>
            <a:endParaRPr/>
          </a:p>
        </p:txBody>
      </p:sp>
      <p:sp>
        <p:nvSpPr>
          <p:cNvPr id="310" name="Google Shape;310;p21"/>
          <p:cNvSpPr/>
          <p:nvPr/>
        </p:nvSpPr>
        <p:spPr>
          <a:xfrm>
            <a:off x="8769096" y="3081528"/>
            <a:ext cx="155448" cy="201168"/>
          </a:xfrm>
          <a:prstGeom prst="rightArrow">
            <a:avLst>
              <a:gd fmla="val 50000" name="adj1"/>
              <a:gd fmla="val 50000" name="adj2"/>
            </a:avLst>
          </a:prstGeom>
          <a:solidFill>
            <a:srgbClr val="19446D"/>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11" name="Google Shape;311;p21"/>
          <p:cNvSpPr/>
          <p:nvPr/>
        </p:nvSpPr>
        <p:spPr>
          <a:xfrm>
            <a:off x="8970264" y="2057400"/>
            <a:ext cx="2514600" cy="2331720"/>
          </a:xfrm>
          <a:prstGeom prst="roundRect">
            <a:avLst>
              <a:gd fmla="val 16667" name="adj"/>
            </a:avLst>
          </a:prstGeom>
          <a:solidFill>
            <a:srgbClr val="FFFFFF"/>
          </a:solidFill>
          <a:ln cap="flat" cmpd="sng" w="12700">
            <a:solidFill>
              <a:srgbClr val="D2D8E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12" name="Google Shape;312;p21"/>
          <p:cNvSpPr/>
          <p:nvPr/>
        </p:nvSpPr>
        <p:spPr>
          <a:xfrm>
            <a:off x="9934956" y="1728216"/>
            <a:ext cx="585216" cy="585216"/>
          </a:xfrm>
          <a:prstGeom prst="ellipse">
            <a:avLst/>
          </a:prstGeom>
          <a:solidFill>
            <a:srgbClr val="19446D"/>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13" name="Google Shape;313;p21"/>
          <p:cNvSpPr txBox="1"/>
          <p:nvPr/>
        </p:nvSpPr>
        <p:spPr>
          <a:xfrm>
            <a:off x="9934956" y="1892807"/>
            <a:ext cx="585216"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FFFFFF"/>
                </a:solidFill>
                <a:latin typeface="Arial"/>
                <a:ea typeface="Arial"/>
                <a:cs typeface="Arial"/>
                <a:sym typeface="Arial"/>
              </a:rPr>
              <a:t>4</a:t>
            </a:r>
            <a:endParaRPr/>
          </a:p>
        </p:txBody>
      </p:sp>
      <p:sp>
        <p:nvSpPr>
          <p:cNvPr id="314" name="Google Shape;314;p21"/>
          <p:cNvSpPr txBox="1"/>
          <p:nvPr/>
        </p:nvSpPr>
        <p:spPr>
          <a:xfrm>
            <a:off x="9738200" y="2729639"/>
            <a:ext cx="978729" cy="283154"/>
          </a:xfrm>
          <a:prstGeom prst="rect">
            <a:avLst/>
          </a:prstGeom>
          <a:noFill/>
          <a:ln>
            <a:noFill/>
          </a:ln>
        </p:spPr>
        <p:txBody>
          <a:bodyPr anchorCtr="0" anchor="ctr" bIns="18275" lIns="27425" spcFirstLastPara="1" rIns="27425" wrap="square" tIns="18275">
            <a:spAutoFit/>
          </a:bodyPr>
          <a:lstStyle/>
          <a:p>
            <a:pPr indent="0" lvl="0" marL="0" marR="0" rtl="0" algn="ctr">
              <a:spcBef>
                <a:spcPts val="0"/>
              </a:spcBef>
              <a:spcAft>
                <a:spcPts val="0"/>
              </a:spcAft>
              <a:buNone/>
            </a:pPr>
            <a:r>
              <a:rPr b="1" i="0" lang="en-US" sz="1600" u="none" cap="none" strike="noStrike">
                <a:solidFill>
                  <a:srgbClr val="0D2D49"/>
                </a:solidFill>
                <a:latin typeface="Arial"/>
                <a:ea typeface="Arial"/>
                <a:cs typeface="Arial"/>
                <a:sym typeface="Arial"/>
              </a:rPr>
              <a:t>Vergleich</a:t>
            </a:r>
            <a:endParaRPr/>
          </a:p>
        </p:txBody>
      </p:sp>
      <p:sp>
        <p:nvSpPr>
          <p:cNvPr id="315" name="Google Shape;315;p21"/>
          <p:cNvSpPr/>
          <p:nvPr/>
        </p:nvSpPr>
        <p:spPr>
          <a:xfrm>
            <a:off x="9880092" y="3099815"/>
            <a:ext cx="694944" cy="36576"/>
          </a:xfrm>
          <a:prstGeom prst="rect">
            <a:avLst/>
          </a:prstGeom>
          <a:solidFill>
            <a:srgbClr val="19446D"/>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16" name="Google Shape;316;p21"/>
          <p:cNvSpPr txBox="1"/>
          <p:nvPr/>
        </p:nvSpPr>
        <p:spPr>
          <a:xfrm>
            <a:off x="9244584" y="3355848"/>
            <a:ext cx="1965960" cy="646331"/>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00" u="none" cap="none" strike="noStrike">
                <a:solidFill>
                  <a:srgbClr val="5B6876"/>
                </a:solidFill>
                <a:latin typeface="Arial"/>
                <a:ea typeface="Arial"/>
                <a:cs typeface="Arial"/>
                <a:sym typeface="Arial"/>
              </a:rPr>
              <a:t>• Sharpe-Ratio, realisierte Volatilität und QLIKE-Loss.</a:t>
            </a:r>
            <a:endParaRPr/>
          </a:p>
        </p:txBody>
      </p:sp>
      <p:sp>
        <p:nvSpPr>
          <p:cNvPr id="317" name="Google Shape;317;p21"/>
          <p:cNvSpPr/>
          <p:nvPr/>
        </p:nvSpPr>
        <p:spPr>
          <a:xfrm>
            <a:off x="1234440" y="4892040"/>
            <a:ext cx="9738360" cy="438912"/>
          </a:xfrm>
          <a:prstGeom prst="roundRect">
            <a:avLst>
              <a:gd fmla="val 16667" name="adj"/>
            </a:avLst>
          </a:prstGeom>
          <a:solidFill>
            <a:srgbClr val="E8F2FA"/>
          </a:solidFill>
          <a:ln cap="flat" cmpd="sng" w="9525">
            <a:solidFill>
              <a:srgbClr val="D2D8E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18" name="Google Shape;318;p21"/>
          <p:cNvSpPr txBox="1"/>
          <p:nvPr/>
        </p:nvSpPr>
        <p:spPr>
          <a:xfrm>
            <a:off x="1656345" y="4937759"/>
            <a:ext cx="8894551" cy="215444"/>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00" u="none" cap="none" strike="noStrike">
                <a:solidFill>
                  <a:srgbClr val="0D2D49"/>
                </a:solidFill>
                <a:latin typeface="Arial"/>
                <a:ea typeface="Arial"/>
                <a:cs typeface="Arial"/>
                <a:sym typeface="Arial"/>
              </a:rPr>
              <a:t>Die Methodik ermöglicht einen robusten Vergleich über verschiedene Trainings- und Prognosehorizonte.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2"/>
          <p:cNvSpPr/>
          <p:nvPr/>
        </p:nvSpPr>
        <p:spPr>
          <a:xfrm>
            <a:off x="0" y="0"/>
            <a:ext cx="12191999" cy="6858000"/>
          </a:xfrm>
          <a:prstGeom prst="rect">
            <a:avLst/>
          </a:prstGeom>
          <a:solidFill>
            <a:srgbClr val="F9FA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24" name="Google Shape;324;p22"/>
          <p:cNvSpPr/>
          <p:nvPr/>
        </p:nvSpPr>
        <p:spPr>
          <a:xfrm>
            <a:off x="0" y="0"/>
            <a:ext cx="3977639" cy="6858000"/>
          </a:xfrm>
          <a:prstGeom prst="rect">
            <a:avLst/>
          </a:prstGeom>
          <a:solidFill>
            <a:srgbClr val="0F2D4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25" name="Google Shape;325;p22"/>
          <p:cNvSpPr/>
          <p:nvPr/>
        </p:nvSpPr>
        <p:spPr>
          <a:xfrm>
            <a:off x="3977639" y="0"/>
            <a:ext cx="256032" cy="6858000"/>
          </a:xfrm>
          <a:prstGeom prst="rect">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image1.png" id="326" name="Google Shape;326;p22"/>
          <p:cNvPicPr preferRelativeResize="0"/>
          <p:nvPr/>
        </p:nvPicPr>
        <p:blipFill rotWithShape="1">
          <a:blip r:embed="rId3">
            <a:alphaModFix/>
          </a:blip>
          <a:srcRect b="0" l="0" r="0" t="0"/>
          <a:stretch/>
        </p:blipFill>
        <p:spPr>
          <a:xfrm>
            <a:off x="10551355" y="347472"/>
            <a:ext cx="1097280" cy="395179"/>
          </a:xfrm>
          <a:prstGeom prst="rect">
            <a:avLst/>
          </a:prstGeom>
          <a:noFill/>
          <a:ln>
            <a:noFill/>
          </a:ln>
        </p:spPr>
      </p:pic>
      <p:sp>
        <p:nvSpPr>
          <p:cNvPr id="327" name="Google Shape;327;p22"/>
          <p:cNvSpPr txBox="1"/>
          <p:nvPr/>
        </p:nvSpPr>
        <p:spPr>
          <a:xfrm>
            <a:off x="4709160" y="2240280"/>
            <a:ext cx="6217920" cy="64008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3400" u="none" cap="none" strike="noStrike">
                <a:solidFill>
                  <a:srgbClr val="0F2D4B"/>
                </a:solidFill>
                <a:latin typeface="Arial"/>
                <a:ea typeface="Arial"/>
                <a:cs typeface="Arial"/>
                <a:sym typeface="Arial"/>
              </a:rPr>
              <a:t>Ergebnisse</a:t>
            </a:r>
            <a:endParaRPr/>
          </a:p>
        </p:txBody>
      </p:sp>
      <p:sp>
        <p:nvSpPr>
          <p:cNvPr id="328" name="Google Shape;328;p22"/>
          <p:cNvSpPr txBox="1"/>
          <p:nvPr/>
        </p:nvSpPr>
        <p:spPr>
          <a:xfrm>
            <a:off x="4709160" y="2971800"/>
            <a:ext cx="6217920" cy="64008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0" i="0" lang="en-US" sz="1800" u="none" cap="none" strike="noStrike">
                <a:solidFill>
                  <a:srgbClr val="76808A"/>
                </a:solidFill>
                <a:latin typeface="Arial"/>
                <a:ea typeface="Arial"/>
                <a:cs typeface="Arial"/>
                <a:sym typeface="Arial"/>
              </a:rPr>
              <a:t>Out-of-Sample-Performance und Prognosequalität</a:t>
            </a:r>
            <a:endParaRPr/>
          </a:p>
        </p:txBody>
      </p:sp>
      <p:sp>
        <p:nvSpPr>
          <p:cNvPr id="329" name="Google Shape;329;p22"/>
          <p:cNvSpPr/>
          <p:nvPr/>
        </p:nvSpPr>
        <p:spPr>
          <a:xfrm>
            <a:off x="4709160" y="3675887"/>
            <a:ext cx="1097280" cy="50292"/>
          </a:xfrm>
          <a:prstGeom prst="rect">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3"/>
          <p:cNvSpPr/>
          <p:nvPr/>
        </p:nvSpPr>
        <p:spPr>
          <a:xfrm>
            <a:off x="0" y="0"/>
            <a:ext cx="12191999" cy="6858000"/>
          </a:xfrm>
          <a:prstGeom prst="rect">
            <a:avLst/>
          </a:prstGeom>
          <a:solidFill>
            <a:srgbClr val="F9FA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35" name="Google Shape;335;p23"/>
          <p:cNvSpPr/>
          <p:nvPr/>
        </p:nvSpPr>
        <p:spPr>
          <a:xfrm>
            <a:off x="0" y="0"/>
            <a:ext cx="12191999" cy="64008"/>
          </a:xfrm>
          <a:prstGeom prst="rect">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image1.png" id="336" name="Google Shape;336;p23"/>
          <p:cNvPicPr preferRelativeResize="0"/>
          <p:nvPr/>
        </p:nvPicPr>
        <p:blipFill rotWithShape="1">
          <a:blip r:embed="rId3">
            <a:alphaModFix/>
          </a:blip>
          <a:srcRect b="0" l="0" r="0" t="0"/>
          <a:stretch/>
        </p:blipFill>
        <p:spPr>
          <a:xfrm>
            <a:off x="329184" y="182880"/>
            <a:ext cx="987552" cy="355661"/>
          </a:xfrm>
          <a:prstGeom prst="rect">
            <a:avLst/>
          </a:prstGeom>
          <a:noFill/>
          <a:ln>
            <a:noFill/>
          </a:ln>
        </p:spPr>
      </p:pic>
      <p:sp>
        <p:nvSpPr>
          <p:cNvPr id="337" name="Google Shape;337;p23"/>
          <p:cNvSpPr txBox="1"/>
          <p:nvPr/>
        </p:nvSpPr>
        <p:spPr>
          <a:xfrm>
            <a:off x="8641080" y="201168"/>
            <a:ext cx="3063240" cy="228600"/>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0" i="0" lang="en-US" sz="750" u="none" cap="none" strike="noStrike">
                <a:solidFill>
                  <a:srgbClr val="76808A"/>
                </a:solidFill>
                <a:latin typeface="Arial"/>
                <a:ea typeface="Arial"/>
                <a:cs typeface="Arial"/>
                <a:sym typeface="Arial"/>
              </a:rPr>
              <a:t>Risikobasierte Portfoliooptimierung mit GARCH-Modellen</a:t>
            </a:r>
            <a:endParaRPr/>
          </a:p>
        </p:txBody>
      </p:sp>
      <p:sp>
        <p:nvSpPr>
          <p:cNvPr id="338" name="Google Shape;338;p23"/>
          <p:cNvSpPr txBox="1"/>
          <p:nvPr/>
        </p:nvSpPr>
        <p:spPr>
          <a:xfrm>
            <a:off x="777240" y="786384"/>
            <a:ext cx="10287000" cy="438912"/>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2900" u="none" cap="none" strike="noStrike">
                <a:solidFill>
                  <a:srgbClr val="0F2D4B"/>
                </a:solidFill>
                <a:latin typeface="Arial"/>
                <a:ea typeface="Arial"/>
                <a:cs typeface="Arial"/>
                <a:sym typeface="Arial"/>
              </a:rPr>
              <a:t>Ergebnisse – 1260 Trainingstage, 1 Vorhersagetag</a:t>
            </a:r>
            <a:endParaRPr/>
          </a:p>
        </p:txBody>
      </p:sp>
      <p:sp>
        <p:nvSpPr>
          <p:cNvPr id="339" name="Google Shape;339;p23"/>
          <p:cNvSpPr/>
          <p:nvPr/>
        </p:nvSpPr>
        <p:spPr>
          <a:xfrm>
            <a:off x="777240" y="1307592"/>
            <a:ext cx="1005840" cy="45720"/>
          </a:xfrm>
          <a:prstGeom prst="rect">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40" name="Google Shape;340;p23"/>
          <p:cNvSpPr/>
          <p:nvPr/>
        </p:nvSpPr>
        <p:spPr>
          <a:xfrm>
            <a:off x="777240" y="6473952"/>
            <a:ext cx="10652760" cy="10972"/>
          </a:xfrm>
          <a:prstGeom prst="rect">
            <a:avLst/>
          </a:prstGeom>
          <a:solidFill>
            <a:srgbClr val="EEF1F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41" name="Google Shape;341;p23"/>
          <p:cNvSpPr txBox="1"/>
          <p:nvPr/>
        </p:nvSpPr>
        <p:spPr>
          <a:xfrm>
            <a:off x="11109960" y="6519672"/>
            <a:ext cx="320100" cy="160200"/>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lang="en-US" sz="800">
                <a:solidFill>
                  <a:srgbClr val="76808A"/>
                </a:solidFill>
              </a:rPr>
              <a:t>10</a:t>
            </a:r>
            <a:endParaRPr/>
          </a:p>
        </p:txBody>
      </p:sp>
      <p:sp>
        <p:nvSpPr>
          <p:cNvPr id="342" name="Google Shape;342;p23"/>
          <p:cNvSpPr/>
          <p:nvPr/>
        </p:nvSpPr>
        <p:spPr>
          <a:xfrm>
            <a:off x="868680" y="1600200"/>
            <a:ext cx="5029200" cy="4160520"/>
          </a:xfrm>
          <a:prstGeom prst="roundRect">
            <a:avLst>
              <a:gd fmla="val 16667" name="adj"/>
            </a:avLst>
          </a:prstGeom>
          <a:solidFill>
            <a:srgbClr val="FFFFFF"/>
          </a:solidFill>
          <a:ln cap="flat" cmpd="sng" w="10150">
            <a:solidFill>
              <a:srgbClr val="EEF1F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43" name="Google Shape;343;p23"/>
          <p:cNvSpPr txBox="1"/>
          <p:nvPr/>
        </p:nvSpPr>
        <p:spPr>
          <a:xfrm>
            <a:off x="1069848" y="1764792"/>
            <a:ext cx="4626864" cy="27432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500" u="none" cap="none" strike="noStrike">
                <a:solidFill>
                  <a:srgbClr val="0F2D4B"/>
                </a:solidFill>
                <a:latin typeface="Arial"/>
                <a:ea typeface="Arial"/>
                <a:cs typeface="Arial"/>
                <a:sym typeface="Arial"/>
              </a:rPr>
              <a:t>Sharpe-Ratio</a:t>
            </a:r>
            <a:endParaRPr/>
          </a:p>
        </p:txBody>
      </p:sp>
      <p:sp>
        <p:nvSpPr>
          <p:cNvPr id="344" name="Google Shape;344;p23"/>
          <p:cNvSpPr txBox="1"/>
          <p:nvPr/>
        </p:nvSpPr>
        <p:spPr>
          <a:xfrm>
            <a:off x="1078992" y="2148840"/>
            <a:ext cx="4572000" cy="1579663"/>
          </a:xfrm>
          <a:prstGeom prst="rect">
            <a:avLst/>
          </a:prstGeom>
          <a:noFill/>
          <a:ln>
            <a:noFill/>
          </a:ln>
        </p:spPr>
        <p:txBody>
          <a:bodyPr anchorCtr="0" anchor="t" bIns="18275" lIns="45700" spcFirstLastPara="1" rIns="45700" wrap="square" tIns="18275">
            <a:spAutoFit/>
          </a:bodyPr>
          <a:lstStyle/>
          <a:p>
            <a:pPr indent="0" lvl="0" marL="0" marR="0" rtl="0" algn="l">
              <a:lnSpc>
                <a:spcPct val="105000"/>
              </a:lnSpc>
              <a:spcBef>
                <a:spcPts val="0"/>
              </a:spcBef>
              <a:spcAft>
                <a:spcPts val="0"/>
              </a:spcAft>
              <a:buNone/>
            </a:pPr>
            <a:r>
              <a:rPr b="0" i="0" lang="en-US" sz="1550" u="none" cap="none" strike="noStrike">
                <a:solidFill>
                  <a:srgbClr val="1F272E"/>
                </a:solidFill>
                <a:latin typeface="Arial"/>
                <a:ea typeface="Arial"/>
                <a:cs typeface="Arial"/>
                <a:sym typeface="Arial"/>
              </a:rPr>
              <a:t>• Alle risikobasierten Modelle schlagen das naive 1/N-Portfolio.</a:t>
            </a:r>
            <a:endParaRPr/>
          </a:p>
          <a:p>
            <a:pPr indent="0" lvl="0" marL="0" marR="0" rtl="0" algn="l">
              <a:lnSpc>
                <a:spcPct val="105000"/>
              </a:lnSpc>
              <a:spcBef>
                <a:spcPts val="1200"/>
              </a:spcBef>
              <a:spcAft>
                <a:spcPts val="0"/>
              </a:spcAft>
              <a:buNone/>
            </a:pPr>
            <a:r>
              <a:rPr b="0" i="0" lang="en-US" sz="1550" u="none" cap="none" strike="noStrike">
                <a:solidFill>
                  <a:srgbClr val="1F272E"/>
                </a:solidFill>
                <a:latin typeface="Arial"/>
                <a:ea typeface="Arial"/>
                <a:cs typeface="Arial"/>
                <a:sym typeface="Arial"/>
              </a:rPr>
              <a:t>• MVP performt besser als HRP und ERC.</a:t>
            </a:r>
            <a:endParaRPr/>
          </a:p>
          <a:p>
            <a:pPr indent="0" lvl="0" marL="0" marR="0" rtl="0" algn="l">
              <a:lnSpc>
                <a:spcPct val="105000"/>
              </a:lnSpc>
              <a:spcBef>
                <a:spcPts val="1200"/>
              </a:spcBef>
              <a:spcAft>
                <a:spcPts val="0"/>
              </a:spcAft>
              <a:buNone/>
            </a:pPr>
            <a:r>
              <a:rPr b="0" i="0" lang="en-US" sz="1550" u="none" cap="none" strike="noStrike">
                <a:solidFill>
                  <a:srgbClr val="1F272E"/>
                </a:solidFill>
                <a:latin typeface="Arial"/>
                <a:ea typeface="Arial"/>
                <a:cs typeface="Arial"/>
                <a:sym typeface="Arial"/>
              </a:rPr>
              <a:t>• GARCH und DCC-GARCH liefern hier niedrigere Sharpe-Ratios als die historische Schätzung.</a:t>
            </a:r>
            <a:endParaRPr/>
          </a:p>
        </p:txBody>
      </p:sp>
      <p:sp>
        <p:nvSpPr>
          <p:cNvPr id="345" name="Google Shape;345;p23"/>
          <p:cNvSpPr/>
          <p:nvPr/>
        </p:nvSpPr>
        <p:spPr>
          <a:xfrm>
            <a:off x="6263640" y="1600200"/>
            <a:ext cx="5029200" cy="4160520"/>
          </a:xfrm>
          <a:prstGeom prst="roundRect">
            <a:avLst>
              <a:gd fmla="val 16667" name="adj"/>
            </a:avLst>
          </a:prstGeom>
          <a:solidFill>
            <a:srgbClr val="FFFFFF"/>
          </a:solidFill>
          <a:ln cap="flat" cmpd="sng" w="10150">
            <a:solidFill>
              <a:srgbClr val="EEF1F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46" name="Google Shape;346;p23"/>
          <p:cNvSpPr txBox="1"/>
          <p:nvPr/>
        </p:nvSpPr>
        <p:spPr>
          <a:xfrm>
            <a:off x="6464807" y="1764792"/>
            <a:ext cx="4626864" cy="27432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500" u="none" cap="none" strike="noStrike">
                <a:solidFill>
                  <a:srgbClr val="0F2D4B"/>
                </a:solidFill>
                <a:latin typeface="Arial"/>
                <a:ea typeface="Arial"/>
                <a:cs typeface="Arial"/>
                <a:sym typeface="Arial"/>
              </a:rPr>
              <a:t>Turnover und Transaktionskosten</a:t>
            </a:r>
            <a:endParaRPr/>
          </a:p>
        </p:txBody>
      </p:sp>
      <p:sp>
        <p:nvSpPr>
          <p:cNvPr id="347" name="Google Shape;347;p23"/>
          <p:cNvSpPr txBox="1"/>
          <p:nvPr/>
        </p:nvSpPr>
        <p:spPr>
          <a:xfrm>
            <a:off x="6473952" y="2148840"/>
            <a:ext cx="4572000" cy="1989900"/>
          </a:xfrm>
          <a:prstGeom prst="rect">
            <a:avLst/>
          </a:prstGeom>
          <a:noFill/>
          <a:ln>
            <a:noFill/>
          </a:ln>
        </p:spPr>
        <p:txBody>
          <a:bodyPr anchorCtr="0" anchor="t" bIns="18275" lIns="45700" spcFirstLastPara="1" rIns="45700" wrap="square" tIns="18275">
            <a:spAutoFit/>
          </a:bodyPr>
          <a:lstStyle/>
          <a:p>
            <a:pPr indent="0" lvl="0" marL="0" marR="0" rtl="0" algn="l">
              <a:lnSpc>
                <a:spcPct val="105000"/>
              </a:lnSpc>
              <a:spcBef>
                <a:spcPts val="0"/>
              </a:spcBef>
              <a:spcAft>
                <a:spcPts val="0"/>
              </a:spcAft>
              <a:buNone/>
            </a:pPr>
            <a:r>
              <a:rPr b="0" i="0" lang="en-US" sz="1550" u="none" cap="none" strike="noStrike">
                <a:solidFill>
                  <a:srgbClr val="1F272E"/>
                </a:solidFill>
                <a:latin typeface="Arial"/>
                <a:ea typeface="Arial"/>
                <a:cs typeface="Arial"/>
                <a:sym typeface="Arial"/>
              </a:rPr>
              <a:t>• Dynamische Kovarianzmatrizen passen sich schneller an.</a:t>
            </a:r>
            <a:endParaRPr/>
          </a:p>
          <a:p>
            <a:pPr indent="0" lvl="0" marL="0" marR="0" rtl="0" algn="l">
              <a:lnSpc>
                <a:spcPct val="105000"/>
              </a:lnSpc>
              <a:spcBef>
                <a:spcPts val="1200"/>
              </a:spcBef>
              <a:spcAft>
                <a:spcPts val="0"/>
              </a:spcAft>
              <a:buNone/>
            </a:pPr>
            <a:r>
              <a:rPr b="0" i="0" lang="en-US" sz="1550" u="none" cap="none" strike="noStrike">
                <a:solidFill>
                  <a:srgbClr val="1F272E"/>
                </a:solidFill>
                <a:latin typeface="Arial"/>
                <a:ea typeface="Arial"/>
                <a:cs typeface="Arial"/>
                <a:sym typeface="Arial"/>
              </a:rPr>
              <a:t>• Dies erhöht den Turnover.</a:t>
            </a:r>
            <a:endParaRPr b="0" i="0" sz="1550" u="none" cap="none" strike="noStrike">
              <a:solidFill>
                <a:srgbClr val="1F272E"/>
              </a:solidFill>
              <a:latin typeface="Arial"/>
              <a:ea typeface="Arial"/>
              <a:cs typeface="Arial"/>
              <a:sym typeface="Arial"/>
            </a:endParaRPr>
          </a:p>
          <a:p>
            <a:pPr indent="0" lvl="0" marL="0" marR="0" rtl="0" algn="l">
              <a:lnSpc>
                <a:spcPct val="105000"/>
              </a:lnSpc>
              <a:spcBef>
                <a:spcPts val="1200"/>
              </a:spcBef>
              <a:spcAft>
                <a:spcPts val="0"/>
              </a:spcAft>
              <a:buNone/>
            </a:pPr>
            <a:r>
              <a:rPr lang="en-US" sz="1550">
                <a:solidFill>
                  <a:srgbClr val="1F272E"/>
                </a:solidFill>
              </a:rPr>
              <a:t>	</a:t>
            </a:r>
            <a:r>
              <a:rPr lang="en-US" sz="1550">
                <a:solidFill>
                  <a:srgbClr val="1F272E"/>
                </a:solidFill>
              </a:rPr>
              <a:t>•  MVP +23 Pp., HRP +6, ERC +3</a:t>
            </a:r>
            <a:endParaRPr sz="1550">
              <a:solidFill>
                <a:srgbClr val="1F272E"/>
              </a:solidFill>
            </a:endParaRPr>
          </a:p>
          <a:p>
            <a:pPr indent="0" lvl="0" marL="0" marR="0" rtl="0" algn="l">
              <a:lnSpc>
                <a:spcPct val="105000"/>
              </a:lnSpc>
              <a:spcBef>
                <a:spcPts val="1200"/>
              </a:spcBef>
              <a:spcAft>
                <a:spcPts val="0"/>
              </a:spcAft>
              <a:buNone/>
            </a:pPr>
            <a:r>
              <a:rPr b="0" i="0" lang="en-US" sz="1550" u="none" cap="none" strike="noStrike">
                <a:solidFill>
                  <a:srgbClr val="1F272E"/>
                </a:solidFill>
                <a:latin typeface="Arial"/>
                <a:ea typeface="Arial"/>
                <a:cs typeface="Arial"/>
                <a:sym typeface="Arial"/>
              </a:rPr>
              <a:t>• Nach Transaktionskosten verschlechtert sich die ökonomische Performance zusätzlich.</a:t>
            </a:r>
            <a:endParaRPr/>
          </a:p>
        </p:txBody>
      </p:sp>
      <p:sp>
        <p:nvSpPr>
          <p:cNvPr id="348" name="Google Shape;348;p23"/>
          <p:cNvSpPr/>
          <p:nvPr/>
        </p:nvSpPr>
        <p:spPr>
          <a:xfrm>
            <a:off x="1920240" y="5806440"/>
            <a:ext cx="8321040" cy="502920"/>
          </a:xfrm>
          <a:prstGeom prst="roundRect">
            <a:avLst>
              <a:gd fmla="val 16667" name="adj"/>
            </a:avLst>
          </a:prstGeom>
          <a:solidFill>
            <a:srgbClr val="FFEBF0"/>
          </a:solidFill>
          <a:ln cap="flat" cmpd="sng" w="10150">
            <a:solidFill>
              <a:srgbClr val="EEF1F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49" name="Google Shape;349;p23"/>
          <p:cNvSpPr txBox="1"/>
          <p:nvPr/>
        </p:nvSpPr>
        <p:spPr>
          <a:xfrm>
            <a:off x="2103057" y="5813353"/>
            <a:ext cx="7955400" cy="529500"/>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n-US" sz="1600" u="none" cap="none" strike="noStrike">
                <a:solidFill>
                  <a:srgbClr val="0F2D4B"/>
                </a:solidFill>
                <a:latin typeface="Arial"/>
                <a:ea typeface="Arial"/>
                <a:cs typeface="Arial"/>
                <a:sym typeface="Arial"/>
              </a:rPr>
              <a:t>• Interpretation: </a:t>
            </a:r>
            <a:r>
              <a:rPr b="1" lang="en-US" sz="1600">
                <a:solidFill>
                  <a:srgbClr val="0F2D4B"/>
                </a:solidFill>
              </a:rPr>
              <a:t>risikobasierte Optimierung liefert ökonomischen Nutzen,</a:t>
            </a:r>
            <a:endParaRPr b="1" sz="1600">
              <a:solidFill>
                <a:srgbClr val="0F2D4B"/>
              </a:solidFill>
            </a:endParaRPr>
          </a:p>
          <a:p>
            <a:pPr indent="0" lvl="0" marL="0" marR="0" rtl="0" algn="ctr">
              <a:lnSpc>
                <a:spcPct val="100000"/>
              </a:lnSpc>
              <a:spcBef>
                <a:spcPts val="0"/>
              </a:spcBef>
              <a:spcAft>
                <a:spcPts val="0"/>
              </a:spcAft>
              <a:buNone/>
            </a:pPr>
            <a:r>
              <a:rPr b="1" lang="en-US" sz="1600">
                <a:solidFill>
                  <a:srgbClr val="0F2D4B"/>
                </a:solidFill>
              </a:rPr>
              <a:t>Garch-Modelle hingegen nicht</a:t>
            </a:r>
            <a:endParaRPr b="1" sz="1600">
              <a:solidFill>
                <a:srgbClr val="0F2D4B"/>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24"/>
          <p:cNvSpPr/>
          <p:nvPr/>
        </p:nvSpPr>
        <p:spPr>
          <a:xfrm>
            <a:off x="0" y="0"/>
            <a:ext cx="12191999" cy="6858000"/>
          </a:xfrm>
          <a:prstGeom prst="rect">
            <a:avLst/>
          </a:prstGeom>
          <a:solidFill>
            <a:srgbClr val="F9FA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55" name="Google Shape;355;p24"/>
          <p:cNvSpPr/>
          <p:nvPr/>
        </p:nvSpPr>
        <p:spPr>
          <a:xfrm>
            <a:off x="0" y="0"/>
            <a:ext cx="12191999" cy="64008"/>
          </a:xfrm>
          <a:prstGeom prst="rect">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image1.png" id="356" name="Google Shape;356;p24"/>
          <p:cNvPicPr preferRelativeResize="0"/>
          <p:nvPr/>
        </p:nvPicPr>
        <p:blipFill rotWithShape="1">
          <a:blip r:embed="rId3">
            <a:alphaModFix/>
          </a:blip>
          <a:srcRect b="0" l="0" r="0" t="0"/>
          <a:stretch/>
        </p:blipFill>
        <p:spPr>
          <a:xfrm>
            <a:off x="329184" y="182880"/>
            <a:ext cx="987552" cy="355661"/>
          </a:xfrm>
          <a:prstGeom prst="rect">
            <a:avLst/>
          </a:prstGeom>
          <a:noFill/>
          <a:ln>
            <a:noFill/>
          </a:ln>
        </p:spPr>
      </p:pic>
      <p:sp>
        <p:nvSpPr>
          <p:cNvPr id="357" name="Google Shape;357;p24"/>
          <p:cNvSpPr txBox="1"/>
          <p:nvPr/>
        </p:nvSpPr>
        <p:spPr>
          <a:xfrm>
            <a:off x="8641080" y="201168"/>
            <a:ext cx="3063240" cy="228600"/>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0" i="0" lang="en-US" sz="750" u="none" cap="none" strike="noStrike">
                <a:solidFill>
                  <a:srgbClr val="76808A"/>
                </a:solidFill>
                <a:latin typeface="Arial"/>
                <a:ea typeface="Arial"/>
                <a:cs typeface="Arial"/>
                <a:sym typeface="Arial"/>
              </a:rPr>
              <a:t>Risikobasierte Portfoliooptimierung mit GARCH-Modellen</a:t>
            </a:r>
            <a:endParaRPr/>
          </a:p>
        </p:txBody>
      </p:sp>
      <p:sp>
        <p:nvSpPr>
          <p:cNvPr id="358" name="Google Shape;358;p24"/>
          <p:cNvSpPr txBox="1"/>
          <p:nvPr/>
        </p:nvSpPr>
        <p:spPr>
          <a:xfrm>
            <a:off x="777240" y="786384"/>
            <a:ext cx="10287000" cy="438912"/>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2900" u="none" cap="none" strike="noStrike">
                <a:solidFill>
                  <a:srgbClr val="0F2D4B"/>
                </a:solidFill>
                <a:latin typeface="Arial"/>
                <a:ea typeface="Arial"/>
                <a:cs typeface="Arial"/>
                <a:sym typeface="Arial"/>
              </a:rPr>
              <a:t>Sharpe-Ratio: Portfoliovergleich</a:t>
            </a:r>
            <a:endParaRPr/>
          </a:p>
        </p:txBody>
      </p:sp>
      <p:sp>
        <p:nvSpPr>
          <p:cNvPr id="359" name="Google Shape;359;p24"/>
          <p:cNvSpPr/>
          <p:nvPr/>
        </p:nvSpPr>
        <p:spPr>
          <a:xfrm>
            <a:off x="777240" y="1307592"/>
            <a:ext cx="1005840" cy="45720"/>
          </a:xfrm>
          <a:prstGeom prst="rect">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60" name="Google Shape;360;p24"/>
          <p:cNvSpPr/>
          <p:nvPr/>
        </p:nvSpPr>
        <p:spPr>
          <a:xfrm>
            <a:off x="777240" y="6473952"/>
            <a:ext cx="10652760" cy="10972"/>
          </a:xfrm>
          <a:prstGeom prst="rect">
            <a:avLst/>
          </a:prstGeom>
          <a:solidFill>
            <a:srgbClr val="EEF1F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61" name="Google Shape;361;p24"/>
          <p:cNvSpPr txBox="1"/>
          <p:nvPr/>
        </p:nvSpPr>
        <p:spPr>
          <a:xfrm>
            <a:off x="11109960" y="6519672"/>
            <a:ext cx="320100" cy="160200"/>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0" i="0" lang="en-US" sz="800" u="none" cap="none" strike="noStrike">
                <a:solidFill>
                  <a:srgbClr val="76808A"/>
                </a:solidFill>
                <a:latin typeface="Arial"/>
                <a:ea typeface="Arial"/>
                <a:cs typeface="Arial"/>
                <a:sym typeface="Arial"/>
              </a:rPr>
              <a:t>1</a:t>
            </a:r>
            <a:r>
              <a:rPr lang="en-US" sz="800">
                <a:solidFill>
                  <a:srgbClr val="76808A"/>
                </a:solidFill>
              </a:rPr>
              <a:t>1</a:t>
            </a:r>
            <a:endParaRPr/>
          </a:p>
        </p:txBody>
      </p:sp>
      <p:pic>
        <p:nvPicPr>
          <p:cNvPr descr="image11.png" id="362" name="Google Shape;362;p24"/>
          <p:cNvPicPr preferRelativeResize="0"/>
          <p:nvPr/>
        </p:nvPicPr>
        <p:blipFill rotWithShape="1">
          <a:blip r:embed="rId4">
            <a:alphaModFix/>
          </a:blip>
          <a:srcRect b="0" l="0" r="0" t="0"/>
          <a:stretch/>
        </p:blipFill>
        <p:spPr>
          <a:xfrm>
            <a:off x="1042415" y="1600200"/>
            <a:ext cx="7653528" cy="4251960"/>
          </a:xfrm>
          <a:prstGeom prst="rect">
            <a:avLst/>
          </a:prstGeom>
          <a:noFill/>
          <a:ln cap="flat" cmpd="sng" w="9525">
            <a:solidFill>
              <a:srgbClr val="EEF1F4"/>
            </a:solidFill>
            <a:prstDash val="solid"/>
            <a:round/>
            <a:headEnd len="sm" w="sm" type="none"/>
            <a:tailEnd len="sm" w="sm" type="none"/>
          </a:ln>
        </p:spPr>
      </p:pic>
      <p:sp>
        <p:nvSpPr>
          <p:cNvPr id="363" name="Google Shape;363;p24"/>
          <p:cNvSpPr/>
          <p:nvPr/>
        </p:nvSpPr>
        <p:spPr>
          <a:xfrm>
            <a:off x="9052560" y="1828800"/>
            <a:ext cx="2331720" cy="3429000"/>
          </a:xfrm>
          <a:prstGeom prst="roundRect">
            <a:avLst>
              <a:gd fmla="val 16667" name="adj"/>
            </a:avLst>
          </a:prstGeom>
          <a:solidFill>
            <a:srgbClr val="FFFFFF"/>
          </a:solidFill>
          <a:ln cap="flat" cmpd="sng" w="10150">
            <a:solidFill>
              <a:srgbClr val="EEF1F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64" name="Google Shape;364;p24"/>
          <p:cNvSpPr txBox="1"/>
          <p:nvPr/>
        </p:nvSpPr>
        <p:spPr>
          <a:xfrm>
            <a:off x="9253728" y="1993392"/>
            <a:ext cx="1929384" cy="283154"/>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600" u="none" cap="none" strike="noStrike">
                <a:solidFill>
                  <a:srgbClr val="0F2D4B"/>
                </a:solidFill>
                <a:latin typeface="Arial"/>
                <a:ea typeface="Arial"/>
                <a:cs typeface="Arial"/>
                <a:sym typeface="Arial"/>
              </a:rPr>
              <a:t>Kernaussage</a:t>
            </a:r>
            <a:endParaRPr b="0" i="0" sz="1600" u="none" cap="none" strike="noStrike">
              <a:solidFill>
                <a:schemeClr val="dk1"/>
              </a:solidFill>
              <a:latin typeface="Calibri"/>
              <a:ea typeface="Calibri"/>
              <a:cs typeface="Calibri"/>
              <a:sym typeface="Calibri"/>
            </a:endParaRPr>
          </a:p>
        </p:txBody>
      </p:sp>
      <p:sp>
        <p:nvSpPr>
          <p:cNvPr id="365" name="Google Shape;365;p24"/>
          <p:cNvSpPr txBox="1"/>
          <p:nvPr/>
        </p:nvSpPr>
        <p:spPr>
          <a:xfrm>
            <a:off x="9253728" y="2377440"/>
            <a:ext cx="1920300" cy="2659800"/>
          </a:xfrm>
          <a:prstGeom prst="rect">
            <a:avLst/>
          </a:prstGeom>
          <a:noFill/>
          <a:ln>
            <a:noFill/>
          </a:ln>
        </p:spPr>
        <p:txBody>
          <a:bodyPr anchorCtr="0" anchor="t" bIns="18275" lIns="45700" spcFirstLastPara="1" rIns="45700" wrap="square" tIns="18275">
            <a:spAutoFit/>
          </a:bodyPr>
          <a:lstStyle/>
          <a:p>
            <a:pPr indent="0" lvl="0" marL="0" marR="0" rtl="0" algn="l">
              <a:lnSpc>
                <a:spcPct val="105000"/>
              </a:lnSpc>
              <a:spcBef>
                <a:spcPts val="0"/>
              </a:spcBef>
              <a:spcAft>
                <a:spcPts val="0"/>
              </a:spcAft>
              <a:buNone/>
            </a:pPr>
            <a:r>
              <a:rPr b="0" i="0" lang="en-US" sz="1600" u="none" cap="none" strike="noStrike">
                <a:solidFill>
                  <a:srgbClr val="1F272E"/>
                </a:solidFill>
                <a:latin typeface="Arial"/>
                <a:ea typeface="Arial"/>
                <a:cs typeface="Arial"/>
                <a:sym typeface="Arial"/>
              </a:rPr>
              <a:t>• MVP liegt im Durchlauf vorn.</a:t>
            </a:r>
            <a:endParaRPr/>
          </a:p>
          <a:p>
            <a:pPr indent="0" lvl="0" marL="0" marR="0" rtl="0" algn="l">
              <a:lnSpc>
                <a:spcPct val="105000"/>
              </a:lnSpc>
              <a:spcBef>
                <a:spcPts val="1200"/>
              </a:spcBef>
              <a:spcAft>
                <a:spcPts val="0"/>
              </a:spcAft>
              <a:buNone/>
            </a:pPr>
            <a:r>
              <a:rPr b="0" i="0" lang="en-US" sz="1600" u="none" cap="none" strike="noStrike">
                <a:solidFill>
                  <a:srgbClr val="1F272E"/>
                </a:solidFill>
                <a:latin typeface="Arial"/>
                <a:ea typeface="Arial"/>
                <a:cs typeface="Arial"/>
                <a:sym typeface="Arial"/>
              </a:rPr>
              <a:t>• Alle Modelle liegen über dem 1/N-Benchmark.</a:t>
            </a:r>
            <a:endParaRPr/>
          </a:p>
          <a:p>
            <a:pPr indent="0" lvl="0" marL="0" marR="0" rtl="0" algn="l">
              <a:lnSpc>
                <a:spcPct val="105000"/>
              </a:lnSpc>
              <a:spcBef>
                <a:spcPts val="1200"/>
              </a:spcBef>
              <a:spcAft>
                <a:spcPts val="0"/>
              </a:spcAft>
              <a:buNone/>
            </a:pPr>
            <a:r>
              <a:rPr b="0" i="0" lang="en-US" sz="1600" u="none" cap="none" strike="noStrike">
                <a:solidFill>
                  <a:srgbClr val="1F272E"/>
                </a:solidFill>
                <a:latin typeface="Arial"/>
                <a:ea typeface="Arial"/>
                <a:cs typeface="Arial"/>
                <a:sym typeface="Arial"/>
              </a:rPr>
              <a:t>• Historische </a:t>
            </a:r>
            <a:r>
              <a:rPr lang="en-US" sz="1600">
                <a:solidFill>
                  <a:srgbClr val="1F272E"/>
                </a:solidFill>
              </a:rPr>
              <a:t>S</a:t>
            </a:r>
            <a:r>
              <a:rPr b="0" i="0" lang="en-US" sz="1600" u="none" cap="none" strike="noStrike">
                <a:solidFill>
                  <a:srgbClr val="1F272E"/>
                </a:solidFill>
                <a:latin typeface="Arial"/>
                <a:ea typeface="Arial"/>
                <a:cs typeface="Arial"/>
                <a:sym typeface="Arial"/>
              </a:rPr>
              <a:t>chätzung erzielt die höchste Sharpe-Ratio.</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25"/>
          <p:cNvSpPr/>
          <p:nvPr/>
        </p:nvSpPr>
        <p:spPr>
          <a:xfrm>
            <a:off x="0" y="0"/>
            <a:ext cx="12191999" cy="6858000"/>
          </a:xfrm>
          <a:prstGeom prst="rect">
            <a:avLst/>
          </a:prstGeom>
          <a:solidFill>
            <a:srgbClr val="F9FA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71" name="Google Shape;371;p25"/>
          <p:cNvSpPr/>
          <p:nvPr/>
        </p:nvSpPr>
        <p:spPr>
          <a:xfrm>
            <a:off x="0" y="0"/>
            <a:ext cx="12191999" cy="64008"/>
          </a:xfrm>
          <a:prstGeom prst="rect">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image1.png" id="372" name="Google Shape;372;p25"/>
          <p:cNvPicPr preferRelativeResize="0"/>
          <p:nvPr/>
        </p:nvPicPr>
        <p:blipFill rotWithShape="1">
          <a:blip r:embed="rId3">
            <a:alphaModFix/>
          </a:blip>
          <a:srcRect b="0" l="0" r="0" t="0"/>
          <a:stretch/>
        </p:blipFill>
        <p:spPr>
          <a:xfrm>
            <a:off x="329184" y="182880"/>
            <a:ext cx="987552" cy="355661"/>
          </a:xfrm>
          <a:prstGeom prst="rect">
            <a:avLst/>
          </a:prstGeom>
          <a:noFill/>
          <a:ln>
            <a:noFill/>
          </a:ln>
        </p:spPr>
      </p:pic>
      <p:sp>
        <p:nvSpPr>
          <p:cNvPr id="373" name="Google Shape;373;p25"/>
          <p:cNvSpPr txBox="1"/>
          <p:nvPr/>
        </p:nvSpPr>
        <p:spPr>
          <a:xfrm>
            <a:off x="8641080" y="201168"/>
            <a:ext cx="3063240" cy="228600"/>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0" i="0" lang="en-US" sz="750" u="none" cap="none" strike="noStrike">
                <a:solidFill>
                  <a:srgbClr val="76808A"/>
                </a:solidFill>
                <a:latin typeface="Arial"/>
                <a:ea typeface="Arial"/>
                <a:cs typeface="Arial"/>
                <a:sym typeface="Arial"/>
              </a:rPr>
              <a:t>Risikobasierte Portfoliooptimierung mit GARCH-Modellen</a:t>
            </a:r>
            <a:endParaRPr/>
          </a:p>
        </p:txBody>
      </p:sp>
      <p:sp>
        <p:nvSpPr>
          <p:cNvPr id="374" name="Google Shape;374;p25"/>
          <p:cNvSpPr txBox="1"/>
          <p:nvPr/>
        </p:nvSpPr>
        <p:spPr>
          <a:xfrm>
            <a:off x="777240" y="786384"/>
            <a:ext cx="10287000" cy="438912"/>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2900" u="none" cap="none" strike="noStrike">
                <a:solidFill>
                  <a:srgbClr val="0F2D4B"/>
                </a:solidFill>
                <a:latin typeface="Arial"/>
                <a:ea typeface="Arial"/>
                <a:cs typeface="Arial"/>
                <a:sym typeface="Arial"/>
              </a:rPr>
              <a:t>Problem mit der Sharpe-Ratio</a:t>
            </a:r>
            <a:endParaRPr/>
          </a:p>
        </p:txBody>
      </p:sp>
      <p:sp>
        <p:nvSpPr>
          <p:cNvPr id="375" name="Google Shape;375;p25"/>
          <p:cNvSpPr/>
          <p:nvPr/>
        </p:nvSpPr>
        <p:spPr>
          <a:xfrm>
            <a:off x="777240" y="1307592"/>
            <a:ext cx="1005840" cy="45720"/>
          </a:xfrm>
          <a:prstGeom prst="rect">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76" name="Google Shape;376;p25"/>
          <p:cNvSpPr/>
          <p:nvPr/>
        </p:nvSpPr>
        <p:spPr>
          <a:xfrm>
            <a:off x="777240" y="6473952"/>
            <a:ext cx="10652760" cy="10972"/>
          </a:xfrm>
          <a:prstGeom prst="rect">
            <a:avLst/>
          </a:prstGeom>
          <a:solidFill>
            <a:srgbClr val="EEF1F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77" name="Google Shape;377;p25"/>
          <p:cNvSpPr txBox="1"/>
          <p:nvPr/>
        </p:nvSpPr>
        <p:spPr>
          <a:xfrm>
            <a:off x="11122949" y="6519672"/>
            <a:ext cx="320100" cy="160200"/>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0" i="0" lang="en-US" sz="800" u="none" cap="none" strike="noStrike">
                <a:solidFill>
                  <a:srgbClr val="76808A"/>
                </a:solidFill>
                <a:latin typeface="Arial"/>
                <a:ea typeface="Arial"/>
                <a:cs typeface="Arial"/>
                <a:sym typeface="Arial"/>
              </a:rPr>
              <a:t>1</a:t>
            </a:r>
            <a:r>
              <a:rPr lang="en-US" sz="800">
                <a:solidFill>
                  <a:srgbClr val="76808A"/>
                </a:solidFill>
              </a:rPr>
              <a:t>2</a:t>
            </a:r>
            <a:endParaRPr/>
          </a:p>
        </p:txBody>
      </p:sp>
      <p:sp>
        <p:nvSpPr>
          <p:cNvPr id="378" name="Google Shape;378;p25"/>
          <p:cNvSpPr/>
          <p:nvPr/>
        </p:nvSpPr>
        <p:spPr>
          <a:xfrm>
            <a:off x="868680" y="1600200"/>
            <a:ext cx="5166360" cy="4160520"/>
          </a:xfrm>
          <a:prstGeom prst="roundRect">
            <a:avLst>
              <a:gd fmla="val 16667" name="adj"/>
            </a:avLst>
          </a:prstGeom>
          <a:solidFill>
            <a:srgbClr val="FFFFFF"/>
          </a:solidFill>
          <a:ln cap="flat" cmpd="sng" w="10150">
            <a:solidFill>
              <a:srgbClr val="EEF1F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79" name="Google Shape;379;p25"/>
          <p:cNvSpPr txBox="1"/>
          <p:nvPr/>
        </p:nvSpPr>
        <p:spPr>
          <a:xfrm>
            <a:off x="1069848" y="1764792"/>
            <a:ext cx="4764024" cy="27432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500" u="none" cap="none" strike="noStrike">
                <a:solidFill>
                  <a:srgbClr val="0F2D4B"/>
                </a:solidFill>
                <a:latin typeface="Arial"/>
                <a:ea typeface="Arial"/>
                <a:cs typeface="Arial"/>
                <a:sym typeface="Arial"/>
              </a:rPr>
              <a:t>Warum problematisch?</a:t>
            </a:r>
            <a:endParaRPr/>
          </a:p>
        </p:txBody>
      </p:sp>
      <p:sp>
        <p:nvSpPr>
          <p:cNvPr id="380" name="Google Shape;380;p25"/>
          <p:cNvSpPr txBox="1"/>
          <p:nvPr/>
        </p:nvSpPr>
        <p:spPr>
          <a:xfrm>
            <a:off x="1078992" y="2148840"/>
            <a:ext cx="4663440" cy="1830116"/>
          </a:xfrm>
          <a:prstGeom prst="rect">
            <a:avLst/>
          </a:prstGeom>
          <a:noFill/>
          <a:ln>
            <a:noFill/>
          </a:ln>
        </p:spPr>
        <p:txBody>
          <a:bodyPr anchorCtr="0" anchor="t" bIns="18275" lIns="45700" spcFirstLastPara="1" rIns="45700" wrap="square" tIns="18275">
            <a:spAutoFit/>
          </a:bodyPr>
          <a:lstStyle/>
          <a:p>
            <a:pPr indent="0" lvl="0" marL="0" marR="0" rtl="0" algn="l">
              <a:lnSpc>
                <a:spcPct val="105000"/>
              </a:lnSpc>
              <a:spcBef>
                <a:spcPts val="0"/>
              </a:spcBef>
              <a:spcAft>
                <a:spcPts val="0"/>
              </a:spcAft>
              <a:buNone/>
            </a:pPr>
            <a:r>
              <a:rPr b="0" i="0" lang="en-US" sz="1550" u="none" cap="none" strike="noStrike">
                <a:solidFill>
                  <a:srgbClr val="1F272E"/>
                </a:solidFill>
                <a:latin typeface="Arial"/>
                <a:ea typeface="Arial"/>
                <a:cs typeface="Arial"/>
                <a:sym typeface="Arial"/>
              </a:rPr>
              <a:t>• Die Sharpe-Ratio eignet sich nur begrenzt für den Vergleich von Kovarianzmatrizen.</a:t>
            </a:r>
            <a:endParaRPr/>
          </a:p>
          <a:p>
            <a:pPr indent="0" lvl="0" marL="0" marR="0" rtl="0" algn="l">
              <a:lnSpc>
                <a:spcPct val="105000"/>
              </a:lnSpc>
              <a:spcBef>
                <a:spcPts val="1200"/>
              </a:spcBef>
              <a:spcAft>
                <a:spcPts val="0"/>
              </a:spcAft>
              <a:buNone/>
            </a:pPr>
            <a:r>
              <a:rPr b="0" i="0" lang="en-US" sz="1550" u="none" cap="none" strike="noStrike">
                <a:solidFill>
                  <a:srgbClr val="1F272E"/>
                </a:solidFill>
                <a:latin typeface="Arial"/>
                <a:ea typeface="Arial"/>
                <a:cs typeface="Arial"/>
                <a:sym typeface="Arial"/>
              </a:rPr>
              <a:t>• Sie hängt nicht nur vom Risiko, sondern auch stark von realisierten Renditen ab.</a:t>
            </a:r>
            <a:endParaRPr/>
          </a:p>
          <a:p>
            <a:pPr indent="0" lvl="0" marL="0" marR="0" rtl="0" algn="l">
              <a:lnSpc>
                <a:spcPct val="105000"/>
              </a:lnSpc>
              <a:spcBef>
                <a:spcPts val="1200"/>
              </a:spcBef>
              <a:spcAft>
                <a:spcPts val="0"/>
              </a:spcAft>
              <a:buNone/>
            </a:pPr>
            <a:r>
              <a:rPr b="0" i="0" lang="en-US" sz="1550" u="none" cap="none" strike="noStrike">
                <a:solidFill>
                  <a:srgbClr val="1F272E"/>
                </a:solidFill>
                <a:latin typeface="Arial"/>
                <a:ea typeface="Arial"/>
                <a:cs typeface="Arial"/>
                <a:sym typeface="Arial"/>
              </a:rPr>
              <a:t>• Dadurch kann die Auswahl des besten Schätzers irreführend sein.</a:t>
            </a:r>
            <a:endParaRPr/>
          </a:p>
        </p:txBody>
      </p:sp>
      <p:sp>
        <p:nvSpPr>
          <p:cNvPr id="381" name="Google Shape;381;p25"/>
          <p:cNvSpPr/>
          <p:nvPr/>
        </p:nvSpPr>
        <p:spPr>
          <a:xfrm>
            <a:off x="6309360" y="1600200"/>
            <a:ext cx="4983480" cy="4160520"/>
          </a:xfrm>
          <a:prstGeom prst="roundRect">
            <a:avLst>
              <a:gd fmla="val 16667" name="adj"/>
            </a:avLst>
          </a:prstGeom>
          <a:solidFill>
            <a:srgbClr val="FFFFFF"/>
          </a:solidFill>
          <a:ln cap="flat" cmpd="sng" w="10150">
            <a:solidFill>
              <a:srgbClr val="EEF1F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82" name="Google Shape;382;p25"/>
          <p:cNvSpPr txBox="1"/>
          <p:nvPr/>
        </p:nvSpPr>
        <p:spPr>
          <a:xfrm>
            <a:off x="6510528" y="1764792"/>
            <a:ext cx="4581144" cy="27432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500" u="none" cap="none" strike="noStrike">
                <a:solidFill>
                  <a:srgbClr val="0F2D4B"/>
                </a:solidFill>
                <a:latin typeface="Arial"/>
                <a:ea typeface="Arial"/>
                <a:cs typeface="Arial"/>
                <a:sym typeface="Arial"/>
              </a:rPr>
              <a:t>Bessere Bewertungsmetriken</a:t>
            </a:r>
            <a:endParaRPr/>
          </a:p>
        </p:txBody>
      </p:sp>
      <p:sp>
        <p:nvSpPr>
          <p:cNvPr id="383" name="Google Shape;383;p25"/>
          <p:cNvSpPr txBox="1"/>
          <p:nvPr/>
        </p:nvSpPr>
        <p:spPr>
          <a:xfrm>
            <a:off x="6537960" y="2148840"/>
            <a:ext cx="4434900" cy="1739400"/>
          </a:xfrm>
          <a:prstGeom prst="rect">
            <a:avLst/>
          </a:prstGeom>
          <a:noFill/>
          <a:ln>
            <a:noFill/>
          </a:ln>
        </p:spPr>
        <p:txBody>
          <a:bodyPr anchorCtr="0" anchor="t" bIns="18275" lIns="45700" spcFirstLastPara="1" rIns="45700" wrap="square" tIns="18275">
            <a:spAutoFit/>
          </a:bodyPr>
          <a:lstStyle/>
          <a:p>
            <a:pPr indent="0" lvl="0" marL="0" marR="0" rtl="0" algn="l">
              <a:lnSpc>
                <a:spcPct val="105000"/>
              </a:lnSpc>
              <a:spcBef>
                <a:spcPts val="0"/>
              </a:spcBef>
              <a:spcAft>
                <a:spcPts val="0"/>
              </a:spcAft>
              <a:buNone/>
            </a:pPr>
            <a:r>
              <a:rPr b="0" i="0" lang="en-US" sz="1550" u="none" cap="none" strike="noStrike">
                <a:solidFill>
                  <a:srgbClr val="1F272E"/>
                </a:solidFill>
                <a:latin typeface="Arial"/>
                <a:ea typeface="Arial"/>
                <a:cs typeface="Arial"/>
                <a:sym typeface="Arial"/>
              </a:rPr>
              <a:t>• Realisierte Volatilität / Varianz</a:t>
            </a:r>
            <a:endParaRPr b="0" i="0" sz="1800" u="none" cap="none" strike="noStrike">
              <a:solidFill>
                <a:schemeClr val="dk1"/>
              </a:solidFill>
              <a:latin typeface="Calibri"/>
              <a:ea typeface="Calibri"/>
              <a:cs typeface="Calibri"/>
              <a:sym typeface="Calibri"/>
            </a:endParaRPr>
          </a:p>
          <a:p>
            <a:pPr indent="0" lvl="0" marL="0" marR="0" rtl="0" algn="l">
              <a:lnSpc>
                <a:spcPct val="105000"/>
              </a:lnSpc>
              <a:spcBef>
                <a:spcPts val="1200"/>
              </a:spcBef>
              <a:spcAft>
                <a:spcPts val="0"/>
              </a:spcAft>
              <a:buNone/>
            </a:pPr>
            <a:r>
              <a:rPr b="0" i="0" lang="en-US" sz="1550" u="none" cap="none" strike="noStrike">
                <a:solidFill>
                  <a:srgbClr val="1F272E"/>
                </a:solidFill>
                <a:latin typeface="Arial"/>
                <a:ea typeface="Arial"/>
                <a:cs typeface="Arial"/>
                <a:sym typeface="Arial"/>
              </a:rPr>
              <a:t>• QLIKE-Loss und MSE als robuste Prognosemetriken (vgl. Patton, 2011)</a:t>
            </a:r>
            <a:endParaRPr b="0" i="0" sz="1550" u="none" cap="none" strike="noStrike">
              <a:solidFill>
                <a:srgbClr val="1F272E"/>
              </a:solidFill>
              <a:latin typeface="Arial"/>
              <a:ea typeface="Arial"/>
              <a:cs typeface="Arial"/>
              <a:sym typeface="Arial"/>
            </a:endParaRPr>
          </a:p>
          <a:p>
            <a:pPr indent="0" lvl="0" marL="0" rtl="0" algn="l">
              <a:lnSpc>
                <a:spcPct val="105000"/>
              </a:lnSpc>
              <a:spcBef>
                <a:spcPts val="1200"/>
              </a:spcBef>
              <a:spcAft>
                <a:spcPts val="0"/>
              </a:spcAft>
              <a:buClr>
                <a:schemeClr val="dk1"/>
              </a:buClr>
              <a:buFont typeface="Arial"/>
              <a:buNone/>
            </a:pPr>
            <a:r>
              <a:rPr lang="en-US" sz="1550">
                <a:solidFill>
                  <a:srgbClr val="1F272E"/>
                </a:solidFill>
              </a:rPr>
              <a:t>• QLIKE gewichtet Unterschätzungen stärker.</a:t>
            </a:r>
            <a:endParaRPr sz="1550">
              <a:solidFill>
                <a:srgbClr val="1F272E"/>
              </a:solidFill>
            </a:endParaRPr>
          </a:p>
          <a:p>
            <a:pPr indent="0" lvl="0" marL="0" marR="0" rtl="0" algn="l">
              <a:lnSpc>
                <a:spcPct val="105000"/>
              </a:lnSpc>
              <a:spcBef>
                <a:spcPts val="1200"/>
              </a:spcBef>
              <a:spcAft>
                <a:spcPts val="0"/>
              </a:spcAft>
              <a:buNone/>
            </a:pPr>
            <a:r>
              <a:rPr b="0" i="0" lang="en-US" sz="1550" u="none" cap="none" strike="noStrike">
                <a:solidFill>
                  <a:srgbClr val="1F272E"/>
                </a:solidFill>
                <a:latin typeface="Arial"/>
                <a:ea typeface="Arial"/>
                <a:cs typeface="Arial"/>
                <a:sym typeface="Arial"/>
              </a:rPr>
              <a:t>• DMW-Test für statistische Unterschiede</a:t>
            </a:r>
            <a:endParaRPr/>
          </a:p>
        </p:txBody>
      </p:sp>
      <p:sp>
        <p:nvSpPr>
          <p:cNvPr id="384" name="Google Shape;384;p25"/>
          <p:cNvSpPr/>
          <p:nvPr/>
        </p:nvSpPr>
        <p:spPr>
          <a:xfrm>
            <a:off x="1874519" y="5806440"/>
            <a:ext cx="8458200" cy="548640"/>
          </a:xfrm>
          <a:prstGeom prst="roundRect">
            <a:avLst>
              <a:gd fmla="val 16667" name="adj"/>
            </a:avLst>
          </a:prstGeom>
          <a:solidFill>
            <a:srgbClr val="E8F2FA"/>
          </a:solidFill>
          <a:ln cap="flat" cmpd="sng" w="10150">
            <a:solidFill>
              <a:srgbClr val="EEF1F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85" name="Google Shape;385;p25"/>
          <p:cNvSpPr txBox="1"/>
          <p:nvPr/>
        </p:nvSpPr>
        <p:spPr>
          <a:xfrm>
            <a:off x="2057400" y="5866363"/>
            <a:ext cx="8092440" cy="529376"/>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n-US" sz="1600" u="none" cap="none" strike="noStrike">
                <a:solidFill>
                  <a:srgbClr val="0F2D4B"/>
                </a:solidFill>
                <a:latin typeface="Arial"/>
                <a:ea typeface="Arial"/>
                <a:cs typeface="Arial"/>
                <a:sym typeface="Arial"/>
              </a:rPr>
              <a:t>“Selecting the best covariance matrix estimator based on a Sharpe ratio criterion may be misleading.” (Engle</a:t>
            </a:r>
            <a:r>
              <a:rPr b="1" lang="en-US" sz="1600">
                <a:solidFill>
                  <a:srgbClr val="0F2D4B"/>
                </a:solidFill>
              </a:rPr>
              <a:t> &amp; Colacito, 2006)</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26"/>
          <p:cNvSpPr/>
          <p:nvPr/>
        </p:nvSpPr>
        <p:spPr>
          <a:xfrm>
            <a:off x="0" y="0"/>
            <a:ext cx="12191999" cy="6858000"/>
          </a:xfrm>
          <a:prstGeom prst="rect">
            <a:avLst/>
          </a:prstGeom>
          <a:solidFill>
            <a:srgbClr val="F9FA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91" name="Google Shape;391;p26"/>
          <p:cNvSpPr/>
          <p:nvPr/>
        </p:nvSpPr>
        <p:spPr>
          <a:xfrm>
            <a:off x="0" y="0"/>
            <a:ext cx="12191999" cy="64008"/>
          </a:xfrm>
          <a:prstGeom prst="rect">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image1.png" id="392" name="Google Shape;392;p26"/>
          <p:cNvPicPr preferRelativeResize="0"/>
          <p:nvPr/>
        </p:nvPicPr>
        <p:blipFill rotWithShape="1">
          <a:blip r:embed="rId3">
            <a:alphaModFix/>
          </a:blip>
          <a:srcRect b="0" l="0" r="0" t="0"/>
          <a:stretch/>
        </p:blipFill>
        <p:spPr>
          <a:xfrm>
            <a:off x="329184" y="182880"/>
            <a:ext cx="987552" cy="355661"/>
          </a:xfrm>
          <a:prstGeom prst="rect">
            <a:avLst/>
          </a:prstGeom>
          <a:noFill/>
          <a:ln>
            <a:noFill/>
          </a:ln>
        </p:spPr>
      </p:pic>
      <p:sp>
        <p:nvSpPr>
          <p:cNvPr id="393" name="Google Shape;393;p26"/>
          <p:cNvSpPr txBox="1"/>
          <p:nvPr/>
        </p:nvSpPr>
        <p:spPr>
          <a:xfrm>
            <a:off x="8641080" y="201168"/>
            <a:ext cx="3063240" cy="228600"/>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0" i="0" lang="en-US" sz="750" u="none" cap="none" strike="noStrike">
                <a:solidFill>
                  <a:srgbClr val="76808A"/>
                </a:solidFill>
                <a:latin typeface="Arial"/>
                <a:ea typeface="Arial"/>
                <a:cs typeface="Arial"/>
                <a:sym typeface="Arial"/>
              </a:rPr>
              <a:t>Risikobasierte Portfoliooptimierung mit GARCH-Modellen</a:t>
            </a:r>
            <a:endParaRPr/>
          </a:p>
        </p:txBody>
      </p:sp>
      <p:sp>
        <p:nvSpPr>
          <p:cNvPr id="394" name="Google Shape;394;p26"/>
          <p:cNvSpPr txBox="1"/>
          <p:nvPr/>
        </p:nvSpPr>
        <p:spPr>
          <a:xfrm>
            <a:off x="777240" y="786384"/>
            <a:ext cx="10287000" cy="438912"/>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2900" u="none" cap="none" strike="noStrike">
                <a:solidFill>
                  <a:srgbClr val="0F2D4B"/>
                </a:solidFill>
                <a:latin typeface="Arial"/>
                <a:ea typeface="Arial"/>
                <a:cs typeface="Arial"/>
                <a:sym typeface="Arial"/>
              </a:rPr>
              <a:t>Realisierte Volatilität</a:t>
            </a:r>
            <a:endParaRPr/>
          </a:p>
        </p:txBody>
      </p:sp>
      <p:sp>
        <p:nvSpPr>
          <p:cNvPr id="395" name="Google Shape;395;p26"/>
          <p:cNvSpPr/>
          <p:nvPr/>
        </p:nvSpPr>
        <p:spPr>
          <a:xfrm>
            <a:off x="777240" y="1307592"/>
            <a:ext cx="1005840" cy="45720"/>
          </a:xfrm>
          <a:prstGeom prst="rect">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96" name="Google Shape;396;p26"/>
          <p:cNvSpPr/>
          <p:nvPr/>
        </p:nvSpPr>
        <p:spPr>
          <a:xfrm>
            <a:off x="777240" y="6473952"/>
            <a:ext cx="10652760" cy="10972"/>
          </a:xfrm>
          <a:prstGeom prst="rect">
            <a:avLst/>
          </a:prstGeom>
          <a:solidFill>
            <a:srgbClr val="EEF1F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97" name="Google Shape;397;p26"/>
          <p:cNvSpPr txBox="1"/>
          <p:nvPr/>
        </p:nvSpPr>
        <p:spPr>
          <a:xfrm>
            <a:off x="11109960" y="6519672"/>
            <a:ext cx="320100" cy="160200"/>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0" i="0" lang="en-US" sz="800" u="none" cap="none" strike="noStrike">
                <a:solidFill>
                  <a:srgbClr val="76808A"/>
                </a:solidFill>
                <a:latin typeface="Arial"/>
                <a:ea typeface="Arial"/>
                <a:cs typeface="Arial"/>
                <a:sym typeface="Arial"/>
              </a:rPr>
              <a:t>1</a:t>
            </a:r>
            <a:r>
              <a:rPr lang="en-US" sz="800">
                <a:solidFill>
                  <a:srgbClr val="76808A"/>
                </a:solidFill>
              </a:rPr>
              <a:t>3</a:t>
            </a:r>
            <a:endParaRPr/>
          </a:p>
        </p:txBody>
      </p:sp>
      <p:pic>
        <p:nvPicPr>
          <p:cNvPr descr="image14.png" id="398" name="Google Shape;398;p26"/>
          <p:cNvPicPr preferRelativeResize="0"/>
          <p:nvPr/>
        </p:nvPicPr>
        <p:blipFill rotWithShape="1">
          <a:blip r:embed="rId4">
            <a:alphaModFix/>
          </a:blip>
          <a:srcRect b="0" l="0" r="0" t="0"/>
          <a:stretch/>
        </p:blipFill>
        <p:spPr>
          <a:xfrm>
            <a:off x="1042415" y="1600200"/>
            <a:ext cx="7653528" cy="4251960"/>
          </a:xfrm>
          <a:prstGeom prst="rect">
            <a:avLst/>
          </a:prstGeom>
          <a:noFill/>
          <a:ln cap="flat" cmpd="sng" w="9525">
            <a:solidFill>
              <a:srgbClr val="EEF1F4"/>
            </a:solidFill>
            <a:prstDash val="solid"/>
            <a:round/>
            <a:headEnd len="sm" w="sm" type="none"/>
            <a:tailEnd len="sm" w="sm" type="none"/>
          </a:ln>
        </p:spPr>
      </p:pic>
      <p:sp>
        <p:nvSpPr>
          <p:cNvPr id="399" name="Google Shape;399;p26"/>
          <p:cNvSpPr/>
          <p:nvPr/>
        </p:nvSpPr>
        <p:spPr>
          <a:xfrm>
            <a:off x="9052560" y="1828800"/>
            <a:ext cx="2331720" cy="3429000"/>
          </a:xfrm>
          <a:prstGeom prst="roundRect">
            <a:avLst>
              <a:gd fmla="val 16667" name="adj"/>
            </a:avLst>
          </a:prstGeom>
          <a:solidFill>
            <a:srgbClr val="FFFFFF"/>
          </a:solidFill>
          <a:ln cap="flat" cmpd="sng" w="10150">
            <a:solidFill>
              <a:srgbClr val="EEF1F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00" name="Google Shape;400;p26"/>
          <p:cNvSpPr txBox="1"/>
          <p:nvPr/>
        </p:nvSpPr>
        <p:spPr>
          <a:xfrm>
            <a:off x="9253728" y="1993392"/>
            <a:ext cx="1929384" cy="283154"/>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600" u="none" cap="none" strike="noStrike">
                <a:solidFill>
                  <a:srgbClr val="0F2D4B"/>
                </a:solidFill>
                <a:latin typeface="Arial"/>
                <a:ea typeface="Arial"/>
                <a:cs typeface="Arial"/>
                <a:sym typeface="Arial"/>
              </a:rPr>
              <a:t>Interpretation</a:t>
            </a:r>
            <a:endParaRPr/>
          </a:p>
        </p:txBody>
      </p:sp>
      <p:sp>
        <p:nvSpPr>
          <p:cNvPr id="401" name="Google Shape;401;p26"/>
          <p:cNvSpPr txBox="1"/>
          <p:nvPr/>
        </p:nvSpPr>
        <p:spPr>
          <a:xfrm>
            <a:off x="9253728" y="2377440"/>
            <a:ext cx="1920240" cy="2729080"/>
          </a:xfrm>
          <a:prstGeom prst="rect">
            <a:avLst/>
          </a:prstGeom>
          <a:noFill/>
          <a:ln>
            <a:noFill/>
          </a:ln>
        </p:spPr>
        <p:txBody>
          <a:bodyPr anchorCtr="0" anchor="t" bIns="18275" lIns="45700" spcFirstLastPara="1" rIns="45700" wrap="square" tIns="18275">
            <a:spAutoFit/>
          </a:bodyPr>
          <a:lstStyle/>
          <a:p>
            <a:pPr indent="0" lvl="0" marL="0" marR="0" rtl="0" algn="l">
              <a:lnSpc>
                <a:spcPct val="105000"/>
              </a:lnSpc>
              <a:spcBef>
                <a:spcPts val="0"/>
              </a:spcBef>
              <a:spcAft>
                <a:spcPts val="0"/>
              </a:spcAft>
              <a:buNone/>
            </a:pPr>
            <a:r>
              <a:rPr b="0" i="0" lang="en-US" sz="1350" u="none" cap="none" strike="noStrike">
                <a:solidFill>
                  <a:srgbClr val="1F272E"/>
                </a:solidFill>
                <a:latin typeface="Arial"/>
                <a:ea typeface="Arial"/>
                <a:cs typeface="Arial"/>
                <a:sym typeface="Arial"/>
              </a:rPr>
              <a:t>• MVP weist die niedrigste realisierte Volatilität auf.</a:t>
            </a:r>
            <a:endParaRPr/>
          </a:p>
          <a:p>
            <a:pPr indent="0" lvl="0" marL="0" marR="0" rtl="0" algn="l">
              <a:lnSpc>
                <a:spcPct val="105000"/>
              </a:lnSpc>
              <a:spcBef>
                <a:spcPts val="1200"/>
              </a:spcBef>
              <a:spcAft>
                <a:spcPts val="0"/>
              </a:spcAft>
              <a:buNone/>
            </a:pPr>
            <a:r>
              <a:rPr b="0" i="0" lang="en-US" sz="1350" u="none" cap="none" strike="noStrike">
                <a:solidFill>
                  <a:srgbClr val="1F272E"/>
                </a:solidFill>
                <a:latin typeface="Arial"/>
                <a:ea typeface="Arial"/>
                <a:cs typeface="Arial"/>
                <a:sym typeface="Arial"/>
              </a:rPr>
              <a:t>• Alle Portfolios liegen unter dem 1/N-Benchmark.</a:t>
            </a:r>
            <a:endParaRPr/>
          </a:p>
          <a:p>
            <a:pPr indent="0" lvl="0" marL="0" marR="0" rtl="0" algn="l">
              <a:lnSpc>
                <a:spcPct val="105000"/>
              </a:lnSpc>
              <a:spcBef>
                <a:spcPts val="1200"/>
              </a:spcBef>
              <a:spcAft>
                <a:spcPts val="0"/>
              </a:spcAft>
              <a:buNone/>
            </a:pPr>
            <a:r>
              <a:rPr b="0" i="0" lang="en-US" sz="1350" u="none" cap="none" strike="noStrike">
                <a:solidFill>
                  <a:srgbClr val="1F272E"/>
                </a:solidFill>
                <a:latin typeface="Arial"/>
                <a:ea typeface="Arial"/>
                <a:cs typeface="Arial"/>
                <a:sym typeface="Arial"/>
              </a:rPr>
              <a:t>• GARCH und DCC-GARCH verbessern die Risikoprognose gegenüber historischen Schätzungen.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27"/>
          <p:cNvSpPr/>
          <p:nvPr/>
        </p:nvSpPr>
        <p:spPr>
          <a:xfrm>
            <a:off x="7620" y="0"/>
            <a:ext cx="12191999" cy="6858000"/>
          </a:xfrm>
          <a:prstGeom prst="rect">
            <a:avLst/>
          </a:prstGeom>
          <a:solidFill>
            <a:srgbClr val="F9FA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07" name="Google Shape;407;p27"/>
          <p:cNvSpPr/>
          <p:nvPr/>
        </p:nvSpPr>
        <p:spPr>
          <a:xfrm>
            <a:off x="0" y="0"/>
            <a:ext cx="12191999" cy="64008"/>
          </a:xfrm>
          <a:prstGeom prst="rect">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image1.png" id="408" name="Google Shape;408;p27"/>
          <p:cNvPicPr preferRelativeResize="0"/>
          <p:nvPr/>
        </p:nvPicPr>
        <p:blipFill rotWithShape="1">
          <a:blip r:embed="rId3">
            <a:alphaModFix/>
          </a:blip>
          <a:srcRect b="0" l="0" r="0" t="0"/>
          <a:stretch/>
        </p:blipFill>
        <p:spPr>
          <a:xfrm>
            <a:off x="329184" y="182880"/>
            <a:ext cx="987552" cy="355661"/>
          </a:xfrm>
          <a:prstGeom prst="rect">
            <a:avLst/>
          </a:prstGeom>
          <a:noFill/>
          <a:ln>
            <a:noFill/>
          </a:ln>
        </p:spPr>
      </p:pic>
      <p:sp>
        <p:nvSpPr>
          <p:cNvPr id="409" name="Google Shape;409;p27"/>
          <p:cNvSpPr txBox="1"/>
          <p:nvPr/>
        </p:nvSpPr>
        <p:spPr>
          <a:xfrm>
            <a:off x="8641080" y="201168"/>
            <a:ext cx="3063240" cy="228600"/>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0" i="0" lang="en-US" sz="750" u="none" cap="none" strike="noStrike">
                <a:solidFill>
                  <a:srgbClr val="76808A"/>
                </a:solidFill>
                <a:latin typeface="Arial"/>
                <a:ea typeface="Arial"/>
                <a:cs typeface="Arial"/>
                <a:sym typeface="Arial"/>
              </a:rPr>
              <a:t>Risikobasierte Portfoliooptimierung mit GARCH-Modellen</a:t>
            </a:r>
            <a:endParaRPr/>
          </a:p>
        </p:txBody>
      </p:sp>
      <p:sp>
        <p:nvSpPr>
          <p:cNvPr id="410" name="Google Shape;410;p27"/>
          <p:cNvSpPr txBox="1"/>
          <p:nvPr/>
        </p:nvSpPr>
        <p:spPr>
          <a:xfrm>
            <a:off x="777240" y="786384"/>
            <a:ext cx="10287000" cy="438912"/>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2900" u="none" cap="none" strike="noStrike">
                <a:solidFill>
                  <a:srgbClr val="0F2D4B"/>
                </a:solidFill>
                <a:latin typeface="Arial"/>
                <a:ea typeface="Arial"/>
                <a:cs typeface="Arial"/>
                <a:sym typeface="Arial"/>
              </a:rPr>
              <a:t>Statistischer Vergleich der Matrizen</a:t>
            </a:r>
            <a:endParaRPr/>
          </a:p>
        </p:txBody>
      </p:sp>
      <p:sp>
        <p:nvSpPr>
          <p:cNvPr id="411" name="Google Shape;411;p27"/>
          <p:cNvSpPr/>
          <p:nvPr/>
        </p:nvSpPr>
        <p:spPr>
          <a:xfrm>
            <a:off x="777240" y="1307592"/>
            <a:ext cx="1005840" cy="45720"/>
          </a:xfrm>
          <a:prstGeom prst="rect">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12" name="Google Shape;412;p27"/>
          <p:cNvSpPr/>
          <p:nvPr/>
        </p:nvSpPr>
        <p:spPr>
          <a:xfrm>
            <a:off x="777240" y="6473952"/>
            <a:ext cx="10652760" cy="10972"/>
          </a:xfrm>
          <a:prstGeom prst="rect">
            <a:avLst/>
          </a:prstGeom>
          <a:solidFill>
            <a:srgbClr val="EEF1F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13" name="Google Shape;413;p27"/>
          <p:cNvSpPr txBox="1"/>
          <p:nvPr/>
        </p:nvSpPr>
        <p:spPr>
          <a:xfrm>
            <a:off x="11109960" y="6519672"/>
            <a:ext cx="320100" cy="160200"/>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0" i="0" lang="en-US" sz="800" u="none" cap="none" strike="noStrike">
                <a:solidFill>
                  <a:srgbClr val="76808A"/>
                </a:solidFill>
                <a:latin typeface="Arial"/>
                <a:ea typeface="Arial"/>
                <a:cs typeface="Arial"/>
                <a:sym typeface="Arial"/>
              </a:rPr>
              <a:t>1</a:t>
            </a:r>
            <a:r>
              <a:rPr lang="en-US" sz="800">
                <a:solidFill>
                  <a:srgbClr val="76808A"/>
                </a:solidFill>
              </a:rPr>
              <a:t>4</a:t>
            </a:r>
            <a:endParaRPr/>
          </a:p>
        </p:txBody>
      </p:sp>
      <p:sp>
        <p:nvSpPr>
          <p:cNvPr id="414" name="Google Shape;414;p27"/>
          <p:cNvSpPr/>
          <p:nvPr/>
        </p:nvSpPr>
        <p:spPr>
          <a:xfrm>
            <a:off x="868680" y="1600200"/>
            <a:ext cx="5029200" cy="4160520"/>
          </a:xfrm>
          <a:prstGeom prst="roundRect">
            <a:avLst>
              <a:gd fmla="val 16667" name="adj"/>
            </a:avLst>
          </a:prstGeom>
          <a:solidFill>
            <a:srgbClr val="FFFFFF"/>
          </a:solidFill>
          <a:ln cap="flat" cmpd="sng" w="10150">
            <a:solidFill>
              <a:srgbClr val="EEF1F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15" name="Google Shape;415;p27"/>
          <p:cNvSpPr txBox="1"/>
          <p:nvPr/>
        </p:nvSpPr>
        <p:spPr>
          <a:xfrm>
            <a:off x="1069848" y="1764792"/>
            <a:ext cx="4626864" cy="27432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500" u="none" cap="none" strike="noStrike">
                <a:solidFill>
                  <a:srgbClr val="0F2D4B"/>
                </a:solidFill>
                <a:latin typeface="Arial"/>
                <a:ea typeface="Arial"/>
                <a:cs typeface="Arial"/>
                <a:sym typeface="Arial"/>
              </a:rPr>
              <a:t>Ergebnis</a:t>
            </a:r>
            <a:endParaRPr/>
          </a:p>
        </p:txBody>
      </p:sp>
      <p:sp>
        <p:nvSpPr>
          <p:cNvPr id="416" name="Google Shape;416;p27"/>
          <p:cNvSpPr txBox="1"/>
          <p:nvPr/>
        </p:nvSpPr>
        <p:spPr>
          <a:xfrm>
            <a:off x="1078992" y="2148840"/>
            <a:ext cx="4572000" cy="1329210"/>
          </a:xfrm>
          <a:prstGeom prst="rect">
            <a:avLst/>
          </a:prstGeom>
          <a:noFill/>
          <a:ln>
            <a:noFill/>
          </a:ln>
        </p:spPr>
        <p:txBody>
          <a:bodyPr anchorCtr="0" anchor="t" bIns="18275" lIns="45700" spcFirstLastPara="1" rIns="45700" wrap="square" tIns="18275">
            <a:spAutoFit/>
          </a:bodyPr>
          <a:lstStyle/>
          <a:p>
            <a:pPr indent="0" lvl="0" marL="0" marR="0" rtl="0" algn="l">
              <a:lnSpc>
                <a:spcPct val="105000"/>
              </a:lnSpc>
              <a:spcBef>
                <a:spcPts val="0"/>
              </a:spcBef>
              <a:spcAft>
                <a:spcPts val="0"/>
              </a:spcAft>
              <a:buNone/>
            </a:pPr>
            <a:r>
              <a:rPr b="0" i="0" lang="en-US" sz="1550" u="none" cap="none" strike="noStrike">
                <a:solidFill>
                  <a:srgbClr val="1F272E"/>
                </a:solidFill>
                <a:latin typeface="Arial"/>
                <a:ea typeface="Arial"/>
                <a:cs typeface="Arial"/>
                <a:sym typeface="Arial"/>
              </a:rPr>
              <a:t>• GARCH und DCC-GARCH verbessern die Genauigkeit der Kovarianzschätzung.</a:t>
            </a:r>
            <a:endParaRPr/>
          </a:p>
          <a:p>
            <a:pPr indent="0" lvl="0" marL="0" marR="0" rtl="0" algn="l">
              <a:lnSpc>
                <a:spcPct val="105000"/>
              </a:lnSpc>
              <a:spcBef>
                <a:spcPts val="1200"/>
              </a:spcBef>
              <a:spcAft>
                <a:spcPts val="0"/>
              </a:spcAft>
              <a:buNone/>
            </a:pPr>
            <a:r>
              <a:rPr b="0" i="0" lang="en-US" sz="1550" u="none" cap="none" strike="noStrike">
                <a:solidFill>
                  <a:srgbClr val="1F272E"/>
                </a:solidFill>
                <a:latin typeface="Arial"/>
                <a:ea typeface="Arial"/>
                <a:cs typeface="Arial"/>
                <a:sym typeface="Arial"/>
              </a:rPr>
              <a:t>• Dies gilt für QLIKE-Loss und MSE.</a:t>
            </a:r>
            <a:endParaRPr/>
          </a:p>
          <a:p>
            <a:pPr indent="0" lvl="0" marL="0" marR="0" rtl="0" algn="l">
              <a:lnSpc>
                <a:spcPct val="105000"/>
              </a:lnSpc>
              <a:spcBef>
                <a:spcPts val="1200"/>
              </a:spcBef>
              <a:spcAft>
                <a:spcPts val="0"/>
              </a:spcAft>
              <a:buNone/>
            </a:pPr>
            <a:r>
              <a:rPr b="0" i="0" lang="en-US" sz="1550" u="none" cap="none" strike="noStrike">
                <a:solidFill>
                  <a:srgbClr val="1F272E"/>
                </a:solidFill>
                <a:latin typeface="Arial"/>
                <a:ea typeface="Arial"/>
                <a:cs typeface="Arial"/>
                <a:sym typeface="Arial"/>
              </a:rPr>
              <a:t>• Die Unterschiede sind laut DMW-Test signifikant.</a:t>
            </a:r>
            <a:endParaRPr/>
          </a:p>
        </p:txBody>
      </p:sp>
      <p:graphicFrame>
        <p:nvGraphicFramePr>
          <p:cNvPr id="417" name="Google Shape;417;p27"/>
          <p:cNvGraphicFramePr/>
          <p:nvPr/>
        </p:nvGraphicFramePr>
        <p:xfrm>
          <a:off x="6400800" y="2057400"/>
          <a:ext cx="3000000" cy="3000000"/>
        </p:xfrm>
        <a:graphic>
          <a:graphicData uri="http://schemas.openxmlformats.org/drawingml/2006/table">
            <a:tbl>
              <a:tblPr bandRow="1" firstRow="1">
                <a:noFill/>
                <a:tableStyleId>{D3A934A1-0ABE-447B-9D28-3A02A5DD8A76}</a:tableStyleId>
              </a:tblPr>
              <a:tblGrid>
                <a:gridCol w="1645925"/>
                <a:gridCol w="1280150"/>
                <a:gridCol w="1280150"/>
              </a:tblGrid>
              <a:tr h="491500">
                <a:tc>
                  <a:txBody>
                    <a:bodyPr/>
                    <a:lstStyle/>
                    <a:p>
                      <a:pPr indent="0" lvl="0" marL="0" marR="0" rtl="0" algn="l">
                        <a:spcBef>
                          <a:spcPts val="0"/>
                        </a:spcBef>
                        <a:spcAft>
                          <a:spcPts val="0"/>
                        </a:spcAft>
                        <a:buNone/>
                      </a:pPr>
                      <a:r>
                        <a:rPr b="1" lang="en-US" sz="1220" u="none" cap="none" strike="noStrike">
                          <a:solidFill>
                            <a:srgbClr val="FFFFFF"/>
                          </a:solidFill>
                          <a:latin typeface="Arial"/>
                          <a:ea typeface="Arial"/>
                          <a:cs typeface="Arial"/>
                          <a:sym typeface="Arial"/>
                        </a:rPr>
                        <a:t>Kovarianz-Matrix</a:t>
                      </a:r>
                      <a:endParaRPr/>
                    </a:p>
                  </a:txBody>
                  <a:tcPr marT="45725" marB="45725" marR="64000" marL="64000">
                    <a:solidFill>
                      <a:srgbClr val="0F2D4B"/>
                    </a:solidFill>
                  </a:tcPr>
                </a:tc>
                <a:tc>
                  <a:txBody>
                    <a:bodyPr/>
                    <a:lstStyle/>
                    <a:p>
                      <a:pPr indent="0" lvl="0" marL="0" marR="0" rtl="0" algn="ctr">
                        <a:spcBef>
                          <a:spcPts val="0"/>
                        </a:spcBef>
                        <a:spcAft>
                          <a:spcPts val="0"/>
                        </a:spcAft>
                        <a:buNone/>
                      </a:pPr>
                      <a:r>
                        <a:rPr b="1" lang="en-US" sz="1220" u="none" cap="none" strike="noStrike">
                          <a:solidFill>
                            <a:srgbClr val="FFFFFF"/>
                          </a:solidFill>
                          <a:latin typeface="Arial"/>
                          <a:ea typeface="Arial"/>
                          <a:cs typeface="Arial"/>
                          <a:sym typeface="Arial"/>
                        </a:rPr>
                        <a:t>QLIKE-Loss</a:t>
                      </a:r>
                      <a:endParaRPr/>
                    </a:p>
                  </a:txBody>
                  <a:tcPr marT="45725" marB="45725" marR="64000" marL="64000">
                    <a:solidFill>
                      <a:srgbClr val="0F2D4B"/>
                    </a:solidFill>
                  </a:tcPr>
                </a:tc>
                <a:tc>
                  <a:txBody>
                    <a:bodyPr/>
                    <a:lstStyle/>
                    <a:p>
                      <a:pPr indent="0" lvl="0" marL="0" marR="0" rtl="0" algn="ctr">
                        <a:spcBef>
                          <a:spcPts val="0"/>
                        </a:spcBef>
                        <a:spcAft>
                          <a:spcPts val="0"/>
                        </a:spcAft>
                        <a:buNone/>
                      </a:pPr>
                      <a:r>
                        <a:rPr b="1" lang="en-US" sz="1220" u="none" cap="none" strike="noStrike">
                          <a:solidFill>
                            <a:srgbClr val="FFFFFF"/>
                          </a:solidFill>
                          <a:latin typeface="Arial"/>
                          <a:ea typeface="Arial"/>
                          <a:cs typeface="Arial"/>
                          <a:sym typeface="Arial"/>
                        </a:rPr>
                        <a:t>MSE (×10⁻⁷)</a:t>
                      </a:r>
                      <a:endParaRPr/>
                    </a:p>
                  </a:txBody>
                  <a:tcPr marT="45725" marB="45725" marR="64000" marL="64000">
                    <a:solidFill>
                      <a:srgbClr val="0F2D4B"/>
                    </a:solidFill>
                  </a:tcPr>
                </a:tc>
              </a:tr>
              <a:tr h="491500">
                <a:tc>
                  <a:txBody>
                    <a:bodyPr/>
                    <a:lstStyle/>
                    <a:p>
                      <a:pPr indent="0" lvl="0" marL="0" marR="0" rtl="0" algn="l">
                        <a:spcBef>
                          <a:spcPts val="0"/>
                        </a:spcBef>
                        <a:spcAft>
                          <a:spcPts val="0"/>
                        </a:spcAft>
                        <a:buNone/>
                      </a:pPr>
                      <a:r>
                        <a:rPr b="0" lang="en-US" sz="1300" u="none" cap="none" strike="noStrike">
                          <a:solidFill>
                            <a:srgbClr val="1F272E"/>
                          </a:solidFill>
                          <a:latin typeface="Arial"/>
                          <a:ea typeface="Arial"/>
                          <a:cs typeface="Arial"/>
                          <a:sym typeface="Arial"/>
                        </a:rPr>
                        <a:t>Historisch</a:t>
                      </a:r>
                      <a:endParaRPr/>
                    </a:p>
                  </a:txBody>
                  <a:tcPr marT="45725" marB="45725" marR="64000" marL="64000">
                    <a:solidFill>
                      <a:srgbClr val="FFFFFF"/>
                    </a:solidFill>
                  </a:tcPr>
                </a:tc>
                <a:tc>
                  <a:txBody>
                    <a:bodyPr/>
                    <a:lstStyle/>
                    <a:p>
                      <a:pPr indent="0" lvl="0" marL="0" marR="0" rtl="0" algn="ctr">
                        <a:spcBef>
                          <a:spcPts val="0"/>
                        </a:spcBef>
                        <a:spcAft>
                          <a:spcPts val="0"/>
                        </a:spcAft>
                        <a:buNone/>
                      </a:pPr>
                      <a:r>
                        <a:rPr b="0" lang="en-US" sz="1300" u="none" cap="none" strike="noStrike">
                          <a:solidFill>
                            <a:srgbClr val="1F272E"/>
                          </a:solidFill>
                          <a:latin typeface="Arial"/>
                          <a:ea typeface="Arial"/>
                          <a:cs typeface="Arial"/>
                          <a:sym typeface="Arial"/>
                        </a:rPr>
                        <a:t>-149,07</a:t>
                      </a:r>
                      <a:endParaRPr/>
                    </a:p>
                  </a:txBody>
                  <a:tcPr marT="45725" marB="45725" marR="64000" marL="64000">
                    <a:solidFill>
                      <a:srgbClr val="FFFFFF"/>
                    </a:solidFill>
                  </a:tcPr>
                </a:tc>
                <a:tc>
                  <a:txBody>
                    <a:bodyPr/>
                    <a:lstStyle/>
                    <a:p>
                      <a:pPr indent="0" lvl="0" marL="0" marR="0" rtl="0" algn="ctr">
                        <a:spcBef>
                          <a:spcPts val="0"/>
                        </a:spcBef>
                        <a:spcAft>
                          <a:spcPts val="0"/>
                        </a:spcAft>
                        <a:buNone/>
                      </a:pPr>
                      <a:r>
                        <a:rPr b="0" lang="en-US" sz="1300" u="none" cap="none" strike="noStrike">
                          <a:solidFill>
                            <a:srgbClr val="1F272E"/>
                          </a:solidFill>
                          <a:latin typeface="Arial"/>
                          <a:ea typeface="Arial"/>
                          <a:cs typeface="Arial"/>
                          <a:sym typeface="Arial"/>
                        </a:rPr>
                        <a:t>4,46</a:t>
                      </a:r>
                      <a:endParaRPr/>
                    </a:p>
                  </a:txBody>
                  <a:tcPr marT="45725" marB="45725" marR="64000" marL="64000">
                    <a:solidFill>
                      <a:srgbClr val="FFFFFF"/>
                    </a:solidFill>
                  </a:tcPr>
                </a:tc>
              </a:tr>
              <a:tr h="491500">
                <a:tc>
                  <a:txBody>
                    <a:bodyPr/>
                    <a:lstStyle/>
                    <a:p>
                      <a:pPr indent="0" lvl="0" marL="0" marR="0" rtl="0" algn="l">
                        <a:spcBef>
                          <a:spcPts val="0"/>
                        </a:spcBef>
                        <a:spcAft>
                          <a:spcPts val="0"/>
                        </a:spcAft>
                        <a:buNone/>
                      </a:pPr>
                      <a:r>
                        <a:rPr b="0" lang="en-US" sz="1300" u="none" cap="none" strike="noStrike">
                          <a:solidFill>
                            <a:srgbClr val="1F272E"/>
                          </a:solidFill>
                          <a:latin typeface="Arial"/>
                          <a:ea typeface="Arial"/>
                          <a:cs typeface="Arial"/>
                          <a:sym typeface="Arial"/>
                        </a:rPr>
                        <a:t>GARCH</a:t>
                      </a:r>
                      <a:endParaRPr/>
                    </a:p>
                  </a:txBody>
                  <a:tcPr marT="45725" marB="45725" marR="64000" marL="64000">
                    <a:solidFill>
                      <a:srgbClr val="FFFFFF"/>
                    </a:solidFill>
                  </a:tcPr>
                </a:tc>
                <a:tc>
                  <a:txBody>
                    <a:bodyPr/>
                    <a:lstStyle/>
                    <a:p>
                      <a:pPr indent="0" lvl="0" marL="0" marR="0" rtl="0" algn="ctr">
                        <a:spcBef>
                          <a:spcPts val="0"/>
                        </a:spcBef>
                        <a:spcAft>
                          <a:spcPts val="0"/>
                        </a:spcAft>
                        <a:buNone/>
                      </a:pPr>
                      <a:r>
                        <a:rPr b="0" lang="en-US" sz="1300" u="none" cap="none" strike="noStrike">
                          <a:solidFill>
                            <a:srgbClr val="1F272E"/>
                          </a:solidFill>
                          <a:latin typeface="Arial"/>
                          <a:ea typeface="Arial"/>
                          <a:cs typeface="Arial"/>
                          <a:sym typeface="Arial"/>
                        </a:rPr>
                        <a:t>-152,76</a:t>
                      </a:r>
                      <a:endParaRPr/>
                    </a:p>
                  </a:txBody>
                  <a:tcPr marT="45725" marB="45725" marR="64000" marL="64000">
                    <a:solidFill>
                      <a:srgbClr val="FFFFFF"/>
                    </a:solidFill>
                  </a:tcPr>
                </a:tc>
                <a:tc>
                  <a:txBody>
                    <a:bodyPr/>
                    <a:lstStyle/>
                    <a:p>
                      <a:pPr indent="0" lvl="0" marL="0" marR="0" rtl="0" algn="ctr">
                        <a:spcBef>
                          <a:spcPts val="0"/>
                        </a:spcBef>
                        <a:spcAft>
                          <a:spcPts val="0"/>
                        </a:spcAft>
                        <a:buNone/>
                      </a:pPr>
                      <a:r>
                        <a:rPr b="0" lang="en-US" sz="1300" u="none" cap="none" strike="noStrike">
                          <a:solidFill>
                            <a:srgbClr val="1F272E"/>
                          </a:solidFill>
                          <a:latin typeface="Arial"/>
                          <a:ea typeface="Arial"/>
                          <a:cs typeface="Arial"/>
                          <a:sym typeface="Arial"/>
                        </a:rPr>
                        <a:t>3,64</a:t>
                      </a:r>
                      <a:endParaRPr/>
                    </a:p>
                  </a:txBody>
                  <a:tcPr marT="45725" marB="45725" marR="64000" marL="64000">
                    <a:solidFill>
                      <a:srgbClr val="FFFFFF"/>
                    </a:solidFill>
                  </a:tcPr>
                </a:tc>
              </a:tr>
              <a:tr h="491500">
                <a:tc>
                  <a:txBody>
                    <a:bodyPr/>
                    <a:lstStyle/>
                    <a:p>
                      <a:pPr indent="0" lvl="0" marL="0" marR="0" rtl="0" algn="l">
                        <a:spcBef>
                          <a:spcPts val="0"/>
                        </a:spcBef>
                        <a:spcAft>
                          <a:spcPts val="0"/>
                        </a:spcAft>
                        <a:buNone/>
                      </a:pPr>
                      <a:r>
                        <a:rPr b="0" lang="en-US" sz="1300" u="none" cap="none" strike="noStrike">
                          <a:solidFill>
                            <a:srgbClr val="1F272E"/>
                          </a:solidFill>
                          <a:latin typeface="Arial"/>
                          <a:ea typeface="Arial"/>
                          <a:cs typeface="Arial"/>
                          <a:sym typeface="Arial"/>
                        </a:rPr>
                        <a:t>DCC-GARCH</a:t>
                      </a:r>
                      <a:endParaRPr/>
                    </a:p>
                  </a:txBody>
                  <a:tcPr marT="45725" marB="45725" marR="64000" marL="64000">
                    <a:solidFill>
                      <a:srgbClr val="FFFFFF"/>
                    </a:solidFill>
                  </a:tcPr>
                </a:tc>
                <a:tc>
                  <a:txBody>
                    <a:bodyPr/>
                    <a:lstStyle/>
                    <a:p>
                      <a:pPr indent="0" lvl="0" marL="0" marR="0" rtl="0" algn="ctr">
                        <a:spcBef>
                          <a:spcPts val="0"/>
                        </a:spcBef>
                        <a:spcAft>
                          <a:spcPts val="0"/>
                        </a:spcAft>
                        <a:buNone/>
                      </a:pPr>
                      <a:r>
                        <a:rPr b="0" lang="en-US" sz="1300" u="none" cap="none" strike="noStrike">
                          <a:solidFill>
                            <a:srgbClr val="1F272E"/>
                          </a:solidFill>
                          <a:latin typeface="Arial"/>
                          <a:ea typeface="Arial"/>
                          <a:cs typeface="Arial"/>
                          <a:sym typeface="Arial"/>
                        </a:rPr>
                        <a:t>-153,62</a:t>
                      </a:r>
                      <a:endParaRPr/>
                    </a:p>
                  </a:txBody>
                  <a:tcPr marT="45725" marB="45725" marR="64000" marL="64000">
                    <a:solidFill>
                      <a:srgbClr val="FFFFFF"/>
                    </a:solidFill>
                  </a:tcPr>
                </a:tc>
                <a:tc>
                  <a:txBody>
                    <a:bodyPr/>
                    <a:lstStyle/>
                    <a:p>
                      <a:pPr indent="0" lvl="0" marL="0" marR="0" rtl="0" algn="ctr">
                        <a:spcBef>
                          <a:spcPts val="0"/>
                        </a:spcBef>
                        <a:spcAft>
                          <a:spcPts val="0"/>
                        </a:spcAft>
                        <a:buNone/>
                      </a:pPr>
                      <a:r>
                        <a:rPr b="0" lang="en-US" sz="1300" u="none" cap="none" strike="noStrike">
                          <a:solidFill>
                            <a:srgbClr val="1F272E"/>
                          </a:solidFill>
                          <a:latin typeface="Arial"/>
                          <a:ea typeface="Arial"/>
                          <a:cs typeface="Arial"/>
                          <a:sym typeface="Arial"/>
                        </a:rPr>
                        <a:t>3,56</a:t>
                      </a:r>
                      <a:endParaRPr/>
                    </a:p>
                  </a:txBody>
                  <a:tcPr marT="45725" marB="45725" marR="64000" marL="64000">
                    <a:solidFill>
                      <a:srgbClr val="FFFFFF"/>
                    </a:solidFill>
                  </a:tcPr>
                </a:tc>
              </a:tr>
            </a:tbl>
          </a:graphicData>
        </a:graphic>
      </p:graphicFrame>
      <p:sp>
        <p:nvSpPr>
          <p:cNvPr id="418" name="Google Shape;418;p27"/>
          <p:cNvSpPr txBox="1"/>
          <p:nvPr/>
        </p:nvSpPr>
        <p:spPr>
          <a:xfrm>
            <a:off x="6400800" y="4297680"/>
            <a:ext cx="4206240" cy="529376"/>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0" i="0" lang="en-US" sz="1600" u="none" cap="none" strike="noStrike">
                <a:solidFill>
                  <a:srgbClr val="76808A"/>
                </a:solidFill>
                <a:latin typeface="Arial"/>
                <a:ea typeface="Arial"/>
                <a:cs typeface="Arial"/>
                <a:sym typeface="Arial"/>
              </a:rPr>
              <a:t>Niedrigere Werte bedeuten hier eine bessere Prognosequalität.</a:t>
            </a:r>
            <a:endParaRPr/>
          </a:p>
        </p:txBody>
      </p:sp>
      <p:sp>
        <p:nvSpPr>
          <p:cNvPr id="419" name="Google Shape;419;p27"/>
          <p:cNvSpPr/>
          <p:nvPr/>
        </p:nvSpPr>
        <p:spPr>
          <a:xfrm>
            <a:off x="1920240" y="5806440"/>
            <a:ext cx="8321100" cy="502800"/>
          </a:xfrm>
          <a:prstGeom prst="roundRect">
            <a:avLst>
              <a:gd fmla="val 16667" name="adj"/>
            </a:avLst>
          </a:prstGeom>
          <a:solidFill>
            <a:srgbClr val="FFEBF0"/>
          </a:solidFill>
          <a:ln cap="flat" cmpd="sng" w="10150">
            <a:solidFill>
              <a:srgbClr val="EEF1F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20" name="Google Shape;420;p27"/>
          <p:cNvSpPr txBox="1"/>
          <p:nvPr/>
        </p:nvSpPr>
        <p:spPr>
          <a:xfrm>
            <a:off x="2103120" y="5843503"/>
            <a:ext cx="7955400" cy="529500"/>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n-US" sz="1600" u="none" cap="none" strike="noStrike">
                <a:solidFill>
                  <a:srgbClr val="0F2D4B"/>
                </a:solidFill>
                <a:latin typeface="Arial"/>
                <a:ea typeface="Arial"/>
                <a:cs typeface="Arial"/>
                <a:sym typeface="Arial"/>
              </a:rPr>
              <a:t>• Interpretation: ökonomische Performance und statistische Prognosequalität können auseinanderfallen.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28"/>
          <p:cNvSpPr/>
          <p:nvPr/>
        </p:nvSpPr>
        <p:spPr>
          <a:xfrm>
            <a:off x="0" y="0"/>
            <a:ext cx="12191999" cy="6858000"/>
          </a:xfrm>
          <a:prstGeom prst="rect">
            <a:avLst/>
          </a:prstGeom>
          <a:solidFill>
            <a:srgbClr val="F9FA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26" name="Google Shape;426;p28"/>
          <p:cNvSpPr/>
          <p:nvPr/>
        </p:nvSpPr>
        <p:spPr>
          <a:xfrm>
            <a:off x="0" y="0"/>
            <a:ext cx="12191999" cy="64008"/>
          </a:xfrm>
          <a:prstGeom prst="rect">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image1.png" id="427" name="Google Shape;427;p28"/>
          <p:cNvPicPr preferRelativeResize="0"/>
          <p:nvPr/>
        </p:nvPicPr>
        <p:blipFill rotWithShape="1">
          <a:blip r:embed="rId3">
            <a:alphaModFix/>
          </a:blip>
          <a:srcRect b="0" l="0" r="0" t="0"/>
          <a:stretch/>
        </p:blipFill>
        <p:spPr>
          <a:xfrm>
            <a:off x="329184" y="182880"/>
            <a:ext cx="987552" cy="355661"/>
          </a:xfrm>
          <a:prstGeom prst="rect">
            <a:avLst/>
          </a:prstGeom>
          <a:noFill/>
          <a:ln>
            <a:noFill/>
          </a:ln>
        </p:spPr>
      </p:pic>
      <p:sp>
        <p:nvSpPr>
          <p:cNvPr id="428" name="Google Shape;428;p28"/>
          <p:cNvSpPr txBox="1"/>
          <p:nvPr/>
        </p:nvSpPr>
        <p:spPr>
          <a:xfrm>
            <a:off x="8641080" y="201168"/>
            <a:ext cx="3063240" cy="228600"/>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0" i="0" lang="en-US" sz="750" u="none" cap="none" strike="noStrike">
                <a:solidFill>
                  <a:srgbClr val="76808A"/>
                </a:solidFill>
                <a:latin typeface="Arial"/>
                <a:ea typeface="Arial"/>
                <a:cs typeface="Arial"/>
                <a:sym typeface="Arial"/>
              </a:rPr>
              <a:t>Risikobasierte Portfoliooptimierung mit GARCH-Modellen</a:t>
            </a:r>
            <a:endParaRPr/>
          </a:p>
        </p:txBody>
      </p:sp>
      <p:sp>
        <p:nvSpPr>
          <p:cNvPr id="429" name="Google Shape;429;p28"/>
          <p:cNvSpPr txBox="1"/>
          <p:nvPr/>
        </p:nvSpPr>
        <p:spPr>
          <a:xfrm>
            <a:off x="777240" y="786384"/>
            <a:ext cx="10287000" cy="438912"/>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2900" u="none" cap="none" strike="noStrike">
                <a:solidFill>
                  <a:srgbClr val="0F2D4B"/>
                </a:solidFill>
                <a:latin typeface="Arial"/>
                <a:ea typeface="Arial"/>
                <a:cs typeface="Arial"/>
                <a:sym typeface="Arial"/>
              </a:rPr>
              <a:t>Ergebnisse für verschiedene Zeitfenster</a:t>
            </a:r>
            <a:endParaRPr/>
          </a:p>
        </p:txBody>
      </p:sp>
      <p:sp>
        <p:nvSpPr>
          <p:cNvPr id="430" name="Google Shape;430;p28"/>
          <p:cNvSpPr/>
          <p:nvPr/>
        </p:nvSpPr>
        <p:spPr>
          <a:xfrm>
            <a:off x="777240" y="1307592"/>
            <a:ext cx="1005840" cy="45720"/>
          </a:xfrm>
          <a:prstGeom prst="rect">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31" name="Google Shape;431;p28"/>
          <p:cNvSpPr/>
          <p:nvPr/>
        </p:nvSpPr>
        <p:spPr>
          <a:xfrm>
            <a:off x="777240" y="6473952"/>
            <a:ext cx="10652760" cy="10972"/>
          </a:xfrm>
          <a:prstGeom prst="rect">
            <a:avLst/>
          </a:prstGeom>
          <a:solidFill>
            <a:srgbClr val="EEF1F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32" name="Google Shape;432;p28"/>
          <p:cNvSpPr txBox="1"/>
          <p:nvPr/>
        </p:nvSpPr>
        <p:spPr>
          <a:xfrm>
            <a:off x="11135937" y="6519672"/>
            <a:ext cx="320100" cy="160200"/>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0" i="0" lang="en-US" sz="800" u="none" cap="none" strike="noStrike">
                <a:solidFill>
                  <a:srgbClr val="76808A"/>
                </a:solidFill>
                <a:latin typeface="Arial"/>
                <a:ea typeface="Arial"/>
                <a:cs typeface="Arial"/>
                <a:sym typeface="Arial"/>
              </a:rPr>
              <a:t>1</a:t>
            </a:r>
            <a:r>
              <a:rPr lang="en-US" sz="800">
                <a:solidFill>
                  <a:srgbClr val="76808A"/>
                </a:solidFill>
              </a:rPr>
              <a:t>5</a:t>
            </a:r>
            <a:endParaRPr/>
          </a:p>
        </p:txBody>
      </p:sp>
      <p:sp>
        <p:nvSpPr>
          <p:cNvPr id="433" name="Google Shape;433;p28"/>
          <p:cNvSpPr/>
          <p:nvPr/>
        </p:nvSpPr>
        <p:spPr>
          <a:xfrm>
            <a:off x="868680" y="1600200"/>
            <a:ext cx="10378440" cy="4343400"/>
          </a:xfrm>
          <a:prstGeom prst="roundRect">
            <a:avLst>
              <a:gd fmla="val 16667" name="adj"/>
            </a:avLst>
          </a:prstGeom>
          <a:solidFill>
            <a:srgbClr val="FFFFFF"/>
          </a:solidFill>
          <a:ln cap="flat" cmpd="sng" w="10150">
            <a:solidFill>
              <a:srgbClr val="EEF1F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34" name="Google Shape;434;p28"/>
          <p:cNvSpPr txBox="1"/>
          <p:nvPr/>
        </p:nvSpPr>
        <p:spPr>
          <a:xfrm>
            <a:off x="1069848" y="1764792"/>
            <a:ext cx="9976104" cy="283154"/>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600" u="none" cap="none" strike="noStrike">
                <a:solidFill>
                  <a:srgbClr val="0F2D4B"/>
                </a:solidFill>
                <a:latin typeface="Arial"/>
                <a:ea typeface="Arial"/>
                <a:cs typeface="Arial"/>
                <a:sym typeface="Arial"/>
              </a:rPr>
              <a:t>Robustheitsprüfung</a:t>
            </a:r>
            <a:endParaRPr b="0" i="0" sz="1600" u="none" cap="none" strike="noStrike">
              <a:solidFill>
                <a:schemeClr val="dk1"/>
              </a:solidFill>
              <a:latin typeface="Calibri"/>
              <a:ea typeface="Calibri"/>
              <a:cs typeface="Calibri"/>
              <a:sym typeface="Calibri"/>
            </a:endParaRPr>
          </a:p>
        </p:txBody>
      </p:sp>
      <p:sp>
        <p:nvSpPr>
          <p:cNvPr id="435" name="Google Shape;435;p28"/>
          <p:cNvSpPr txBox="1"/>
          <p:nvPr/>
        </p:nvSpPr>
        <p:spPr>
          <a:xfrm>
            <a:off x="1143000" y="2148840"/>
            <a:ext cx="9829800" cy="2389500"/>
          </a:xfrm>
          <a:prstGeom prst="rect">
            <a:avLst/>
          </a:prstGeom>
          <a:noFill/>
          <a:ln>
            <a:noFill/>
          </a:ln>
        </p:spPr>
        <p:txBody>
          <a:bodyPr anchorCtr="0" anchor="t" bIns="18275" lIns="45700" spcFirstLastPara="1" rIns="45700" wrap="square" tIns="18275">
            <a:spAutoFit/>
          </a:bodyPr>
          <a:lstStyle/>
          <a:p>
            <a:pPr indent="0" lvl="0" marL="0" marR="0" rtl="0" algn="l">
              <a:lnSpc>
                <a:spcPct val="200000"/>
              </a:lnSpc>
              <a:spcBef>
                <a:spcPts val="0"/>
              </a:spcBef>
              <a:spcAft>
                <a:spcPts val="0"/>
              </a:spcAft>
              <a:buNone/>
            </a:pPr>
            <a:r>
              <a:rPr b="0" i="0" lang="en-US" sz="1550" u="none" cap="none" strike="noStrike">
                <a:solidFill>
                  <a:srgbClr val="1F272E"/>
                </a:solidFill>
                <a:latin typeface="Arial"/>
                <a:ea typeface="Arial"/>
                <a:cs typeface="Arial"/>
                <a:sym typeface="Arial"/>
              </a:rPr>
              <a:t>• Die Muster bleiben bei anderen Kombinationen aus Trainings- und Prognosefenstern weitgehend bestehen.</a:t>
            </a:r>
            <a:endParaRPr/>
          </a:p>
          <a:p>
            <a:pPr indent="0" lvl="0" marL="0" marR="0" rtl="0" algn="l">
              <a:lnSpc>
                <a:spcPct val="200000"/>
              </a:lnSpc>
              <a:spcBef>
                <a:spcPts val="400"/>
              </a:spcBef>
              <a:spcAft>
                <a:spcPts val="0"/>
              </a:spcAft>
              <a:buNone/>
            </a:pPr>
            <a:r>
              <a:rPr b="0" i="0" lang="en-US" sz="1550" u="none" cap="none" strike="noStrike">
                <a:solidFill>
                  <a:srgbClr val="1F272E"/>
                </a:solidFill>
                <a:latin typeface="Arial"/>
                <a:ea typeface="Arial"/>
                <a:cs typeface="Arial"/>
                <a:sym typeface="Arial"/>
              </a:rPr>
              <a:t>• HRP und ERC schlagen gemessen an der Sharpe-Ratio fast immer das 1/N-Portfolio.</a:t>
            </a:r>
            <a:endParaRPr/>
          </a:p>
          <a:p>
            <a:pPr indent="0" lvl="0" marL="0" marR="0" rtl="0" algn="l">
              <a:lnSpc>
                <a:spcPct val="200000"/>
              </a:lnSpc>
              <a:spcBef>
                <a:spcPts val="400"/>
              </a:spcBef>
              <a:spcAft>
                <a:spcPts val="0"/>
              </a:spcAft>
              <a:buNone/>
            </a:pPr>
            <a:r>
              <a:rPr b="0" i="0" lang="en-US" sz="1550" u="none" cap="none" strike="noStrike">
                <a:solidFill>
                  <a:srgbClr val="1F272E"/>
                </a:solidFill>
                <a:latin typeface="Arial"/>
                <a:ea typeface="Arial"/>
                <a:cs typeface="Arial"/>
                <a:sym typeface="Arial"/>
              </a:rPr>
              <a:t>• MVP liegt teilweise unter dem 1/N-Portfolio.</a:t>
            </a:r>
            <a:endParaRPr b="0" i="0" sz="1550" u="none" cap="none" strike="noStrike">
              <a:solidFill>
                <a:srgbClr val="1F272E"/>
              </a:solidFill>
              <a:latin typeface="Arial"/>
              <a:ea typeface="Arial"/>
              <a:cs typeface="Arial"/>
              <a:sym typeface="Arial"/>
            </a:endParaRPr>
          </a:p>
          <a:p>
            <a:pPr indent="0" lvl="0" marL="0" rtl="0" algn="l">
              <a:lnSpc>
                <a:spcPct val="200000"/>
              </a:lnSpc>
              <a:spcBef>
                <a:spcPts val="400"/>
              </a:spcBef>
              <a:spcAft>
                <a:spcPts val="0"/>
              </a:spcAft>
              <a:buClr>
                <a:schemeClr val="dk1"/>
              </a:buClr>
              <a:buFont typeface="Arial"/>
              <a:buNone/>
            </a:pPr>
            <a:r>
              <a:rPr lang="en-US" sz="1550">
                <a:solidFill>
                  <a:srgbClr val="1F272E"/>
                </a:solidFill>
              </a:rPr>
              <a:t>• Teilweise sind die GARCH-Modelle beim MVP vorteilhaft.</a:t>
            </a:r>
            <a:endParaRPr sz="1550">
              <a:solidFill>
                <a:srgbClr val="1F272E"/>
              </a:solidFill>
            </a:endParaRPr>
          </a:p>
          <a:p>
            <a:pPr indent="0" lvl="0" marL="0" marR="0" rtl="0" algn="l">
              <a:lnSpc>
                <a:spcPct val="200000"/>
              </a:lnSpc>
              <a:spcBef>
                <a:spcPts val="400"/>
              </a:spcBef>
              <a:spcAft>
                <a:spcPts val="0"/>
              </a:spcAft>
              <a:buNone/>
            </a:pPr>
            <a:r>
              <a:rPr b="0" i="0" lang="en-US" sz="1550" u="none" cap="none" strike="noStrike">
                <a:solidFill>
                  <a:srgbClr val="1F272E"/>
                </a:solidFill>
                <a:latin typeface="Arial"/>
                <a:ea typeface="Arial"/>
                <a:cs typeface="Arial"/>
                <a:sym typeface="Arial"/>
              </a:rPr>
              <a:t>• Der Vorteil von GARCH-Modellen hängt von den Trainings- und Testperioden ab.</a:t>
            </a:r>
            <a:endParaRPr sz="1550">
              <a:solidFill>
                <a:srgbClr val="1F272E"/>
              </a:solidFill>
            </a:endParaRPr>
          </a:p>
        </p:txBody>
      </p:sp>
      <p:sp>
        <p:nvSpPr>
          <p:cNvPr id="436" name="Google Shape;436;p28"/>
          <p:cNvSpPr/>
          <p:nvPr/>
        </p:nvSpPr>
        <p:spPr>
          <a:xfrm>
            <a:off x="1885186" y="5376672"/>
            <a:ext cx="8421623" cy="502920"/>
          </a:xfrm>
          <a:prstGeom prst="roundRect">
            <a:avLst>
              <a:gd fmla="val 16667" name="adj"/>
            </a:avLst>
          </a:prstGeom>
          <a:solidFill>
            <a:srgbClr val="E8F2FA"/>
          </a:solidFill>
          <a:ln cap="flat" cmpd="sng" w="10150">
            <a:solidFill>
              <a:srgbClr val="EEF1F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37" name="Google Shape;437;p28"/>
          <p:cNvSpPr txBox="1"/>
          <p:nvPr/>
        </p:nvSpPr>
        <p:spPr>
          <a:xfrm>
            <a:off x="1885186" y="5486865"/>
            <a:ext cx="8421624" cy="283154"/>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n-US" sz="1600" u="none" cap="none" strike="noStrike">
                <a:solidFill>
                  <a:srgbClr val="0F2D4B"/>
                </a:solidFill>
                <a:latin typeface="Arial"/>
                <a:ea typeface="Arial"/>
                <a:cs typeface="Arial"/>
                <a:sym typeface="Arial"/>
              </a:rPr>
              <a:t>Statistisch bleiben GARCH und DCC-GARCH </a:t>
            </a:r>
            <a:r>
              <a:rPr b="1" lang="en-US" sz="1600">
                <a:solidFill>
                  <a:srgbClr val="0F2D4B"/>
                </a:solidFill>
              </a:rPr>
              <a:t>präziser</a:t>
            </a:r>
            <a:r>
              <a:rPr b="1" i="0" lang="en-US" sz="1600" u="none" cap="none" strike="noStrike">
                <a:solidFill>
                  <a:srgbClr val="0F2D4B"/>
                </a:solidFill>
                <a:latin typeface="Arial"/>
                <a:ea typeface="Arial"/>
                <a:cs typeface="Arial"/>
                <a:sym typeface="Arial"/>
              </a:rPr>
              <a:t> als die historische Schätzung.</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29"/>
          <p:cNvSpPr/>
          <p:nvPr/>
        </p:nvSpPr>
        <p:spPr>
          <a:xfrm>
            <a:off x="0" y="0"/>
            <a:ext cx="12191999" cy="6858000"/>
          </a:xfrm>
          <a:prstGeom prst="rect">
            <a:avLst/>
          </a:prstGeom>
          <a:solidFill>
            <a:srgbClr val="F9FA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43" name="Google Shape;443;p29"/>
          <p:cNvSpPr/>
          <p:nvPr/>
        </p:nvSpPr>
        <p:spPr>
          <a:xfrm>
            <a:off x="0" y="0"/>
            <a:ext cx="12191999" cy="64008"/>
          </a:xfrm>
          <a:prstGeom prst="rect">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image1.png" id="444" name="Google Shape;444;p29"/>
          <p:cNvPicPr preferRelativeResize="0"/>
          <p:nvPr/>
        </p:nvPicPr>
        <p:blipFill rotWithShape="1">
          <a:blip r:embed="rId3">
            <a:alphaModFix/>
          </a:blip>
          <a:srcRect b="0" l="0" r="0" t="0"/>
          <a:stretch/>
        </p:blipFill>
        <p:spPr>
          <a:xfrm>
            <a:off x="329184" y="182880"/>
            <a:ext cx="987552" cy="355661"/>
          </a:xfrm>
          <a:prstGeom prst="rect">
            <a:avLst/>
          </a:prstGeom>
          <a:noFill/>
          <a:ln>
            <a:noFill/>
          </a:ln>
        </p:spPr>
      </p:pic>
      <p:sp>
        <p:nvSpPr>
          <p:cNvPr id="445" name="Google Shape;445;p29"/>
          <p:cNvSpPr txBox="1"/>
          <p:nvPr/>
        </p:nvSpPr>
        <p:spPr>
          <a:xfrm>
            <a:off x="8641080" y="201168"/>
            <a:ext cx="3063240" cy="228600"/>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0" i="0" lang="en-US" sz="750" u="none" cap="none" strike="noStrike">
                <a:solidFill>
                  <a:srgbClr val="76808A"/>
                </a:solidFill>
                <a:latin typeface="Arial"/>
                <a:ea typeface="Arial"/>
                <a:cs typeface="Arial"/>
                <a:sym typeface="Arial"/>
              </a:rPr>
              <a:t>Risikobasierte Portfoliooptimierung mit GARCH-Modellen</a:t>
            </a:r>
            <a:endParaRPr/>
          </a:p>
        </p:txBody>
      </p:sp>
      <p:sp>
        <p:nvSpPr>
          <p:cNvPr id="446" name="Google Shape;446;p29"/>
          <p:cNvSpPr txBox="1"/>
          <p:nvPr/>
        </p:nvSpPr>
        <p:spPr>
          <a:xfrm>
            <a:off x="777240" y="786384"/>
            <a:ext cx="10287000" cy="438912"/>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2900" u="none" cap="none" strike="noStrike">
                <a:solidFill>
                  <a:srgbClr val="0F2D4B"/>
                </a:solidFill>
                <a:latin typeface="Arial"/>
                <a:ea typeface="Arial"/>
                <a:cs typeface="Arial"/>
                <a:sym typeface="Arial"/>
              </a:rPr>
              <a:t>Robustheit: Trainingszeitraum</a:t>
            </a:r>
            <a:endParaRPr/>
          </a:p>
        </p:txBody>
      </p:sp>
      <p:sp>
        <p:nvSpPr>
          <p:cNvPr id="447" name="Google Shape;447;p29"/>
          <p:cNvSpPr/>
          <p:nvPr/>
        </p:nvSpPr>
        <p:spPr>
          <a:xfrm>
            <a:off x="777240" y="1307592"/>
            <a:ext cx="1005840" cy="45720"/>
          </a:xfrm>
          <a:prstGeom prst="rect">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48" name="Google Shape;448;p29"/>
          <p:cNvSpPr/>
          <p:nvPr/>
        </p:nvSpPr>
        <p:spPr>
          <a:xfrm>
            <a:off x="777240" y="6473952"/>
            <a:ext cx="10652760" cy="10972"/>
          </a:xfrm>
          <a:prstGeom prst="rect">
            <a:avLst/>
          </a:prstGeom>
          <a:solidFill>
            <a:srgbClr val="EEF1F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49" name="Google Shape;449;p29"/>
          <p:cNvSpPr txBox="1"/>
          <p:nvPr/>
        </p:nvSpPr>
        <p:spPr>
          <a:xfrm>
            <a:off x="11122949" y="6519672"/>
            <a:ext cx="320100" cy="160200"/>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0" i="0" lang="en-US" sz="800" u="none" cap="none" strike="noStrike">
                <a:solidFill>
                  <a:srgbClr val="76808A"/>
                </a:solidFill>
                <a:latin typeface="Arial"/>
                <a:ea typeface="Arial"/>
                <a:cs typeface="Arial"/>
                <a:sym typeface="Arial"/>
              </a:rPr>
              <a:t>1</a:t>
            </a:r>
            <a:r>
              <a:rPr lang="en-US" sz="800">
                <a:solidFill>
                  <a:srgbClr val="76808A"/>
                </a:solidFill>
              </a:rPr>
              <a:t>6</a:t>
            </a:r>
            <a:endParaRPr/>
          </a:p>
        </p:txBody>
      </p:sp>
      <p:pic>
        <p:nvPicPr>
          <p:cNvPr id="450" name="Google Shape;450;p29" title="pred_1.png"/>
          <p:cNvPicPr preferRelativeResize="0"/>
          <p:nvPr/>
        </p:nvPicPr>
        <p:blipFill rotWithShape="1">
          <a:blip r:embed="rId4">
            <a:alphaModFix/>
          </a:blip>
          <a:srcRect b="0" l="0" r="0" t="0"/>
          <a:stretch/>
        </p:blipFill>
        <p:spPr>
          <a:xfrm>
            <a:off x="914400" y="2103120"/>
            <a:ext cx="9875520" cy="3291840"/>
          </a:xfrm>
          <a:prstGeom prst="rect">
            <a:avLst/>
          </a:prstGeom>
          <a:noFill/>
          <a:ln cap="flat" cmpd="sng" w="9525">
            <a:solidFill>
              <a:srgbClr val="EEF1F4"/>
            </a:solidFill>
            <a:prstDash val="solid"/>
            <a:round/>
            <a:headEnd len="sm" w="sm" type="none"/>
            <a:tailEnd len="sm" w="sm" type="none"/>
          </a:ln>
        </p:spPr>
      </p:pic>
      <p:sp>
        <p:nvSpPr>
          <p:cNvPr id="451" name="Google Shape;451;p29"/>
          <p:cNvSpPr txBox="1"/>
          <p:nvPr/>
        </p:nvSpPr>
        <p:spPr>
          <a:xfrm>
            <a:off x="1325880" y="5897880"/>
            <a:ext cx="9327000" cy="283200"/>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lang="en-US" sz="1600">
                <a:solidFill>
                  <a:srgbClr val="76808A"/>
                </a:solidFill>
              </a:rPr>
              <a:t>ERC und HRP erweisen sich als robuster im Vergleich mit dem MVP.</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30"/>
          <p:cNvSpPr/>
          <p:nvPr/>
        </p:nvSpPr>
        <p:spPr>
          <a:xfrm>
            <a:off x="0" y="0"/>
            <a:ext cx="12191999" cy="6858000"/>
          </a:xfrm>
          <a:prstGeom prst="rect">
            <a:avLst/>
          </a:prstGeom>
          <a:solidFill>
            <a:srgbClr val="F9FA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57" name="Google Shape;457;p30"/>
          <p:cNvSpPr/>
          <p:nvPr/>
        </p:nvSpPr>
        <p:spPr>
          <a:xfrm>
            <a:off x="0" y="0"/>
            <a:ext cx="12191999" cy="64008"/>
          </a:xfrm>
          <a:prstGeom prst="rect">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image1.png" id="458" name="Google Shape;458;p30"/>
          <p:cNvPicPr preferRelativeResize="0"/>
          <p:nvPr/>
        </p:nvPicPr>
        <p:blipFill rotWithShape="1">
          <a:blip r:embed="rId3">
            <a:alphaModFix/>
          </a:blip>
          <a:srcRect b="0" l="0" r="0" t="0"/>
          <a:stretch/>
        </p:blipFill>
        <p:spPr>
          <a:xfrm>
            <a:off x="329184" y="182880"/>
            <a:ext cx="987552" cy="355661"/>
          </a:xfrm>
          <a:prstGeom prst="rect">
            <a:avLst/>
          </a:prstGeom>
          <a:noFill/>
          <a:ln>
            <a:noFill/>
          </a:ln>
        </p:spPr>
      </p:pic>
      <p:sp>
        <p:nvSpPr>
          <p:cNvPr id="459" name="Google Shape;459;p30"/>
          <p:cNvSpPr txBox="1"/>
          <p:nvPr/>
        </p:nvSpPr>
        <p:spPr>
          <a:xfrm>
            <a:off x="8641080" y="201168"/>
            <a:ext cx="3063240" cy="228600"/>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0" i="0" lang="en-US" sz="750" u="none" cap="none" strike="noStrike">
                <a:solidFill>
                  <a:srgbClr val="76808A"/>
                </a:solidFill>
                <a:latin typeface="Arial"/>
                <a:ea typeface="Arial"/>
                <a:cs typeface="Arial"/>
                <a:sym typeface="Arial"/>
              </a:rPr>
              <a:t>Risikobasierte Portfoliooptimierung mit GARCH-Modellen</a:t>
            </a:r>
            <a:endParaRPr/>
          </a:p>
        </p:txBody>
      </p:sp>
      <p:sp>
        <p:nvSpPr>
          <p:cNvPr id="460" name="Google Shape;460;p30"/>
          <p:cNvSpPr txBox="1"/>
          <p:nvPr/>
        </p:nvSpPr>
        <p:spPr>
          <a:xfrm>
            <a:off x="777240" y="786384"/>
            <a:ext cx="10287000" cy="438912"/>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2900" u="none" cap="none" strike="noStrike">
                <a:solidFill>
                  <a:srgbClr val="0F2D4B"/>
                </a:solidFill>
                <a:latin typeface="Arial"/>
                <a:ea typeface="Arial"/>
                <a:cs typeface="Arial"/>
                <a:sym typeface="Arial"/>
              </a:rPr>
              <a:t>Robustheit: Prognosehorizont</a:t>
            </a:r>
            <a:endParaRPr/>
          </a:p>
        </p:txBody>
      </p:sp>
      <p:sp>
        <p:nvSpPr>
          <p:cNvPr id="461" name="Google Shape;461;p30"/>
          <p:cNvSpPr/>
          <p:nvPr/>
        </p:nvSpPr>
        <p:spPr>
          <a:xfrm>
            <a:off x="777240" y="1307592"/>
            <a:ext cx="1005840" cy="45720"/>
          </a:xfrm>
          <a:prstGeom prst="rect">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62" name="Google Shape;462;p30"/>
          <p:cNvSpPr/>
          <p:nvPr/>
        </p:nvSpPr>
        <p:spPr>
          <a:xfrm>
            <a:off x="777240" y="6473952"/>
            <a:ext cx="10652760" cy="10972"/>
          </a:xfrm>
          <a:prstGeom prst="rect">
            <a:avLst/>
          </a:prstGeom>
          <a:solidFill>
            <a:srgbClr val="EEF1F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63" name="Google Shape;463;p30"/>
          <p:cNvSpPr txBox="1"/>
          <p:nvPr/>
        </p:nvSpPr>
        <p:spPr>
          <a:xfrm>
            <a:off x="11109960" y="6519672"/>
            <a:ext cx="320100" cy="160200"/>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0" i="0" lang="en-US" sz="800" u="none" cap="none" strike="noStrike">
                <a:solidFill>
                  <a:srgbClr val="76808A"/>
                </a:solidFill>
                <a:latin typeface="Arial"/>
                <a:ea typeface="Arial"/>
                <a:cs typeface="Arial"/>
                <a:sym typeface="Arial"/>
              </a:rPr>
              <a:t>1</a:t>
            </a:r>
            <a:r>
              <a:rPr lang="en-US" sz="800">
                <a:solidFill>
                  <a:srgbClr val="76808A"/>
                </a:solidFill>
              </a:rPr>
              <a:t>7</a:t>
            </a:r>
            <a:endParaRPr/>
          </a:p>
        </p:txBody>
      </p:sp>
      <p:pic>
        <p:nvPicPr>
          <p:cNvPr id="464" name="Google Shape;464;p30" title="vs_prediction.png"/>
          <p:cNvPicPr preferRelativeResize="0"/>
          <p:nvPr/>
        </p:nvPicPr>
        <p:blipFill rotWithShape="1">
          <a:blip r:embed="rId4">
            <a:alphaModFix/>
          </a:blip>
          <a:srcRect b="0" l="0" r="0" t="0"/>
          <a:stretch/>
        </p:blipFill>
        <p:spPr>
          <a:xfrm>
            <a:off x="914400" y="2103120"/>
            <a:ext cx="9875520" cy="3291840"/>
          </a:xfrm>
          <a:prstGeom prst="rect">
            <a:avLst/>
          </a:prstGeom>
          <a:noFill/>
          <a:ln cap="flat" cmpd="sng" w="9525">
            <a:solidFill>
              <a:srgbClr val="EEF1F4"/>
            </a:solidFill>
            <a:prstDash val="solid"/>
            <a:round/>
            <a:headEnd len="sm" w="sm" type="none"/>
            <a:tailEnd len="sm" w="sm" type="none"/>
          </a:ln>
        </p:spPr>
      </p:pic>
      <p:sp>
        <p:nvSpPr>
          <p:cNvPr id="465" name="Google Shape;465;p30"/>
          <p:cNvSpPr txBox="1"/>
          <p:nvPr/>
        </p:nvSpPr>
        <p:spPr>
          <a:xfrm>
            <a:off x="1325880" y="5897880"/>
            <a:ext cx="9327000" cy="283200"/>
          </a:xfrm>
          <a:prstGeom prst="rect">
            <a:avLst/>
          </a:prstGeom>
          <a:noFill/>
          <a:ln>
            <a:noFill/>
          </a:ln>
        </p:spPr>
        <p:txBody>
          <a:bodyPr anchorCtr="0" anchor="t" bIns="18275" lIns="18275" spcFirstLastPara="1" rIns="18275" wrap="square" tIns="18275">
            <a:spAutoFit/>
          </a:bodyPr>
          <a:lstStyle/>
          <a:p>
            <a:pPr indent="0" lvl="0" marL="0" rtl="0" algn="ctr">
              <a:spcBef>
                <a:spcPts val="0"/>
              </a:spcBef>
              <a:spcAft>
                <a:spcPts val="0"/>
              </a:spcAft>
              <a:buNone/>
            </a:pPr>
            <a:r>
              <a:rPr lang="en-US" sz="1600">
                <a:solidFill>
                  <a:srgbClr val="76808A"/>
                </a:solidFill>
              </a:rPr>
              <a:t>Die Sharpe-Ratio-Muster bleiben über unterschiedliche Prognosezeiträume weitgehend erhalten.</a:t>
            </a:r>
            <a:endParaRPr sz="1600">
              <a:solidFill>
                <a:srgbClr val="76808A"/>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31"/>
          <p:cNvSpPr/>
          <p:nvPr/>
        </p:nvSpPr>
        <p:spPr>
          <a:xfrm>
            <a:off x="0" y="0"/>
            <a:ext cx="12191999" cy="6858000"/>
          </a:xfrm>
          <a:prstGeom prst="rect">
            <a:avLst/>
          </a:prstGeom>
          <a:solidFill>
            <a:srgbClr val="F9FA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71" name="Google Shape;471;p31"/>
          <p:cNvSpPr/>
          <p:nvPr/>
        </p:nvSpPr>
        <p:spPr>
          <a:xfrm>
            <a:off x="0" y="0"/>
            <a:ext cx="12191999" cy="64008"/>
          </a:xfrm>
          <a:prstGeom prst="rect">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image1.png" id="472" name="Google Shape;472;p31"/>
          <p:cNvPicPr preferRelativeResize="0"/>
          <p:nvPr/>
        </p:nvPicPr>
        <p:blipFill rotWithShape="1">
          <a:blip r:embed="rId3">
            <a:alphaModFix/>
          </a:blip>
          <a:srcRect b="0" l="0" r="0" t="0"/>
          <a:stretch/>
        </p:blipFill>
        <p:spPr>
          <a:xfrm>
            <a:off x="329184" y="182880"/>
            <a:ext cx="987552" cy="355661"/>
          </a:xfrm>
          <a:prstGeom prst="rect">
            <a:avLst/>
          </a:prstGeom>
          <a:noFill/>
          <a:ln>
            <a:noFill/>
          </a:ln>
        </p:spPr>
      </p:pic>
      <p:sp>
        <p:nvSpPr>
          <p:cNvPr id="473" name="Google Shape;473;p31"/>
          <p:cNvSpPr txBox="1"/>
          <p:nvPr/>
        </p:nvSpPr>
        <p:spPr>
          <a:xfrm>
            <a:off x="8641080" y="201168"/>
            <a:ext cx="3063240" cy="228600"/>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0" i="0" lang="en-US" sz="750" u="none" cap="none" strike="noStrike">
                <a:solidFill>
                  <a:srgbClr val="76808A"/>
                </a:solidFill>
                <a:latin typeface="Arial"/>
                <a:ea typeface="Arial"/>
                <a:cs typeface="Arial"/>
                <a:sym typeface="Arial"/>
              </a:rPr>
              <a:t>Risikobasierte Portfoliooptimierung mit GARCH-Modellen</a:t>
            </a:r>
            <a:endParaRPr/>
          </a:p>
        </p:txBody>
      </p:sp>
      <p:sp>
        <p:nvSpPr>
          <p:cNvPr id="474" name="Google Shape;474;p31"/>
          <p:cNvSpPr txBox="1"/>
          <p:nvPr/>
        </p:nvSpPr>
        <p:spPr>
          <a:xfrm>
            <a:off x="777240" y="786384"/>
            <a:ext cx="10287000" cy="438912"/>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2900" u="none" cap="none" strike="noStrike">
                <a:solidFill>
                  <a:srgbClr val="0F2D4B"/>
                </a:solidFill>
                <a:latin typeface="Arial"/>
                <a:ea typeface="Arial"/>
                <a:cs typeface="Arial"/>
                <a:sym typeface="Arial"/>
              </a:rPr>
              <a:t>QLIKE-Loss: Trainingszeitraum und Prognosehorizont</a:t>
            </a:r>
            <a:endParaRPr/>
          </a:p>
        </p:txBody>
      </p:sp>
      <p:sp>
        <p:nvSpPr>
          <p:cNvPr id="475" name="Google Shape;475;p31"/>
          <p:cNvSpPr/>
          <p:nvPr/>
        </p:nvSpPr>
        <p:spPr>
          <a:xfrm>
            <a:off x="777240" y="1307592"/>
            <a:ext cx="1005840" cy="45720"/>
          </a:xfrm>
          <a:prstGeom prst="rect">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76" name="Google Shape;476;p31"/>
          <p:cNvSpPr/>
          <p:nvPr/>
        </p:nvSpPr>
        <p:spPr>
          <a:xfrm>
            <a:off x="777240" y="6473952"/>
            <a:ext cx="10652760" cy="10972"/>
          </a:xfrm>
          <a:prstGeom prst="rect">
            <a:avLst/>
          </a:prstGeom>
          <a:solidFill>
            <a:srgbClr val="EEF1F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77" name="Google Shape;477;p31"/>
          <p:cNvSpPr txBox="1"/>
          <p:nvPr/>
        </p:nvSpPr>
        <p:spPr>
          <a:xfrm>
            <a:off x="11109960" y="6519672"/>
            <a:ext cx="320100" cy="160200"/>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lang="en-US" sz="800">
                <a:solidFill>
                  <a:srgbClr val="76808A"/>
                </a:solidFill>
              </a:rPr>
              <a:t>18</a:t>
            </a:r>
            <a:endParaRPr/>
          </a:p>
        </p:txBody>
      </p:sp>
      <p:sp>
        <p:nvSpPr>
          <p:cNvPr id="478" name="Google Shape;478;p31"/>
          <p:cNvSpPr/>
          <p:nvPr/>
        </p:nvSpPr>
        <p:spPr>
          <a:xfrm>
            <a:off x="731520" y="1508760"/>
            <a:ext cx="5440680" cy="4343400"/>
          </a:xfrm>
          <a:prstGeom prst="roundRect">
            <a:avLst>
              <a:gd fmla="val 16667" name="adj"/>
            </a:avLst>
          </a:prstGeom>
          <a:solidFill>
            <a:srgbClr val="FFFFFF"/>
          </a:solidFill>
          <a:ln cap="flat" cmpd="sng" w="10150">
            <a:solidFill>
              <a:srgbClr val="EEF1F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79" name="Google Shape;479;p31"/>
          <p:cNvSpPr txBox="1"/>
          <p:nvPr/>
        </p:nvSpPr>
        <p:spPr>
          <a:xfrm>
            <a:off x="932688" y="1673351"/>
            <a:ext cx="5038344" cy="27432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500" u="none" cap="none" strike="noStrike">
                <a:solidFill>
                  <a:srgbClr val="0F2D4B"/>
                </a:solidFill>
                <a:latin typeface="Arial"/>
                <a:ea typeface="Arial"/>
                <a:cs typeface="Arial"/>
                <a:sym typeface="Arial"/>
              </a:rPr>
              <a:t>Trainingszeitraum</a:t>
            </a:r>
            <a:endParaRPr/>
          </a:p>
        </p:txBody>
      </p:sp>
      <p:pic>
        <p:nvPicPr>
          <p:cNvPr id="480" name="Google Shape;480;p31" title="pred_1.png"/>
          <p:cNvPicPr preferRelativeResize="0"/>
          <p:nvPr/>
        </p:nvPicPr>
        <p:blipFill rotWithShape="1">
          <a:blip r:embed="rId4">
            <a:alphaModFix/>
          </a:blip>
          <a:srcRect b="0" l="0" r="0" t="0"/>
          <a:stretch/>
        </p:blipFill>
        <p:spPr>
          <a:xfrm>
            <a:off x="960120" y="2168842"/>
            <a:ext cx="4983480" cy="3114675"/>
          </a:xfrm>
          <a:prstGeom prst="rect">
            <a:avLst/>
          </a:prstGeom>
          <a:noFill/>
          <a:ln cap="flat" cmpd="sng" w="9525">
            <a:solidFill>
              <a:srgbClr val="EEF1F4"/>
            </a:solidFill>
            <a:prstDash val="solid"/>
            <a:round/>
            <a:headEnd len="sm" w="sm" type="none"/>
            <a:tailEnd len="sm" w="sm" type="none"/>
          </a:ln>
        </p:spPr>
      </p:pic>
      <p:sp>
        <p:nvSpPr>
          <p:cNvPr id="481" name="Google Shape;481;p31"/>
          <p:cNvSpPr/>
          <p:nvPr/>
        </p:nvSpPr>
        <p:spPr>
          <a:xfrm>
            <a:off x="6263640" y="1508760"/>
            <a:ext cx="5166360" cy="4343400"/>
          </a:xfrm>
          <a:prstGeom prst="roundRect">
            <a:avLst>
              <a:gd fmla="val 16667" name="adj"/>
            </a:avLst>
          </a:prstGeom>
          <a:solidFill>
            <a:srgbClr val="FFFFFF"/>
          </a:solidFill>
          <a:ln cap="flat" cmpd="sng" w="10150">
            <a:solidFill>
              <a:srgbClr val="EEF1F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82" name="Google Shape;482;p31"/>
          <p:cNvSpPr txBox="1"/>
          <p:nvPr/>
        </p:nvSpPr>
        <p:spPr>
          <a:xfrm>
            <a:off x="6464807" y="1673351"/>
            <a:ext cx="4764024" cy="27432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500" u="none" cap="none" strike="noStrike">
                <a:solidFill>
                  <a:srgbClr val="0F2D4B"/>
                </a:solidFill>
                <a:latin typeface="Arial"/>
                <a:ea typeface="Arial"/>
                <a:cs typeface="Arial"/>
                <a:sym typeface="Arial"/>
              </a:rPr>
              <a:t>Prognosehorizont</a:t>
            </a:r>
            <a:endParaRPr/>
          </a:p>
        </p:txBody>
      </p:sp>
      <p:pic>
        <p:nvPicPr>
          <p:cNvPr id="483" name="Google Shape;483;p31" title="vs_prediction.png"/>
          <p:cNvPicPr preferRelativeResize="0"/>
          <p:nvPr/>
        </p:nvPicPr>
        <p:blipFill rotWithShape="1">
          <a:blip r:embed="rId5">
            <a:alphaModFix/>
          </a:blip>
          <a:srcRect b="0" l="0" r="0" t="0"/>
          <a:stretch/>
        </p:blipFill>
        <p:spPr>
          <a:xfrm>
            <a:off x="6492240" y="2254567"/>
            <a:ext cx="4709160" cy="2943225"/>
          </a:xfrm>
          <a:prstGeom prst="rect">
            <a:avLst/>
          </a:prstGeom>
          <a:noFill/>
          <a:ln cap="flat" cmpd="sng" w="9525">
            <a:solidFill>
              <a:srgbClr val="EEF1F4"/>
            </a:solidFill>
            <a:prstDash val="solid"/>
            <a:round/>
            <a:headEnd len="sm" w="sm" type="none"/>
            <a:tailEnd len="sm" w="sm" type="none"/>
          </a:ln>
        </p:spPr>
      </p:pic>
      <p:sp>
        <p:nvSpPr>
          <p:cNvPr id="484" name="Google Shape;484;p31"/>
          <p:cNvSpPr txBox="1"/>
          <p:nvPr/>
        </p:nvSpPr>
        <p:spPr>
          <a:xfrm>
            <a:off x="1421296" y="5989320"/>
            <a:ext cx="9559455" cy="529376"/>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0" i="0" lang="en-US" sz="1600" u="none" cap="none" strike="noStrike">
                <a:solidFill>
                  <a:srgbClr val="76808A"/>
                </a:solidFill>
                <a:latin typeface="Arial"/>
                <a:ea typeface="Arial"/>
                <a:cs typeface="Arial"/>
                <a:sym typeface="Arial"/>
              </a:rPr>
              <a:t>DCC-GARCH und GARCH schneiden bei QLIKE besser ab als historische Schätzungen; DCC-GARCH ist meist am stärksten.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32"/>
          <p:cNvSpPr/>
          <p:nvPr/>
        </p:nvSpPr>
        <p:spPr>
          <a:xfrm>
            <a:off x="0" y="0"/>
            <a:ext cx="12191999" cy="6858000"/>
          </a:xfrm>
          <a:prstGeom prst="rect">
            <a:avLst/>
          </a:prstGeom>
          <a:solidFill>
            <a:srgbClr val="F9FA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90" name="Google Shape;490;p32"/>
          <p:cNvSpPr/>
          <p:nvPr/>
        </p:nvSpPr>
        <p:spPr>
          <a:xfrm>
            <a:off x="0" y="0"/>
            <a:ext cx="12191999" cy="64008"/>
          </a:xfrm>
          <a:prstGeom prst="rect">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image1.png" id="491" name="Google Shape;491;p32"/>
          <p:cNvPicPr preferRelativeResize="0"/>
          <p:nvPr/>
        </p:nvPicPr>
        <p:blipFill rotWithShape="1">
          <a:blip r:embed="rId3">
            <a:alphaModFix/>
          </a:blip>
          <a:srcRect b="0" l="0" r="0" t="0"/>
          <a:stretch/>
        </p:blipFill>
        <p:spPr>
          <a:xfrm>
            <a:off x="329184" y="182880"/>
            <a:ext cx="987552" cy="355661"/>
          </a:xfrm>
          <a:prstGeom prst="rect">
            <a:avLst/>
          </a:prstGeom>
          <a:noFill/>
          <a:ln>
            <a:noFill/>
          </a:ln>
        </p:spPr>
      </p:pic>
      <p:sp>
        <p:nvSpPr>
          <p:cNvPr id="492" name="Google Shape;492;p32"/>
          <p:cNvSpPr txBox="1"/>
          <p:nvPr/>
        </p:nvSpPr>
        <p:spPr>
          <a:xfrm>
            <a:off x="8641080" y="201168"/>
            <a:ext cx="3063240" cy="228600"/>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0" i="0" lang="en-US" sz="750" u="none" cap="none" strike="noStrike">
                <a:solidFill>
                  <a:srgbClr val="76808A"/>
                </a:solidFill>
                <a:latin typeface="Arial"/>
                <a:ea typeface="Arial"/>
                <a:cs typeface="Arial"/>
                <a:sym typeface="Arial"/>
              </a:rPr>
              <a:t>Risikobasierte Portfoliooptimierung mit GARCH-Modellen</a:t>
            </a:r>
            <a:endParaRPr/>
          </a:p>
        </p:txBody>
      </p:sp>
      <p:sp>
        <p:nvSpPr>
          <p:cNvPr id="493" name="Google Shape;493;p32"/>
          <p:cNvSpPr txBox="1"/>
          <p:nvPr/>
        </p:nvSpPr>
        <p:spPr>
          <a:xfrm>
            <a:off x="777240" y="786384"/>
            <a:ext cx="10287000" cy="438912"/>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2900" u="none" cap="none" strike="noStrike">
                <a:solidFill>
                  <a:srgbClr val="0F2D4B"/>
                </a:solidFill>
                <a:latin typeface="Arial"/>
                <a:ea typeface="Arial"/>
                <a:cs typeface="Arial"/>
                <a:sym typeface="Arial"/>
              </a:rPr>
              <a:t>Fazit</a:t>
            </a:r>
            <a:endParaRPr/>
          </a:p>
        </p:txBody>
      </p:sp>
      <p:sp>
        <p:nvSpPr>
          <p:cNvPr id="494" name="Google Shape;494;p32"/>
          <p:cNvSpPr/>
          <p:nvPr/>
        </p:nvSpPr>
        <p:spPr>
          <a:xfrm>
            <a:off x="777240" y="1307592"/>
            <a:ext cx="1005840" cy="45720"/>
          </a:xfrm>
          <a:prstGeom prst="rect">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95" name="Google Shape;495;p32"/>
          <p:cNvSpPr/>
          <p:nvPr/>
        </p:nvSpPr>
        <p:spPr>
          <a:xfrm>
            <a:off x="777240" y="6473952"/>
            <a:ext cx="10652760" cy="10972"/>
          </a:xfrm>
          <a:prstGeom prst="rect">
            <a:avLst/>
          </a:prstGeom>
          <a:solidFill>
            <a:srgbClr val="EEF1F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96" name="Google Shape;496;p32"/>
          <p:cNvSpPr txBox="1"/>
          <p:nvPr/>
        </p:nvSpPr>
        <p:spPr>
          <a:xfrm>
            <a:off x="11122949" y="6519672"/>
            <a:ext cx="320100" cy="160200"/>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lang="en-US" sz="800">
                <a:solidFill>
                  <a:srgbClr val="76808A"/>
                </a:solidFill>
              </a:rPr>
              <a:t>19</a:t>
            </a:r>
            <a:endParaRPr/>
          </a:p>
        </p:txBody>
      </p:sp>
      <p:sp>
        <p:nvSpPr>
          <p:cNvPr id="497" name="Google Shape;497;p32"/>
          <p:cNvSpPr/>
          <p:nvPr/>
        </p:nvSpPr>
        <p:spPr>
          <a:xfrm>
            <a:off x="868680" y="1600200"/>
            <a:ext cx="4983480" cy="4251960"/>
          </a:xfrm>
          <a:prstGeom prst="roundRect">
            <a:avLst>
              <a:gd fmla="val 16667" name="adj"/>
            </a:avLst>
          </a:prstGeom>
          <a:solidFill>
            <a:srgbClr val="FFFFFF"/>
          </a:solidFill>
          <a:ln cap="flat" cmpd="sng" w="10150">
            <a:solidFill>
              <a:srgbClr val="EEF1F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98" name="Google Shape;498;p32"/>
          <p:cNvSpPr txBox="1"/>
          <p:nvPr/>
        </p:nvSpPr>
        <p:spPr>
          <a:xfrm>
            <a:off x="1069848" y="1764792"/>
            <a:ext cx="4581144" cy="283154"/>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600" u="none" cap="none" strike="noStrike">
                <a:solidFill>
                  <a:srgbClr val="0F2D4B"/>
                </a:solidFill>
                <a:latin typeface="Arial"/>
                <a:ea typeface="Arial"/>
                <a:cs typeface="Arial"/>
                <a:sym typeface="Arial"/>
              </a:rPr>
              <a:t>Frage 1: Portfoliooptimierung</a:t>
            </a:r>
            <a:endParaRPr b="0" i="0" sz="1600" u="none" cap="none" strike="noStrike">
              <a:solidFill>
                <a:schemeClr val="dk1"/>
              </a:solidFill>
              <a:latin typeface="Calibri"/>
              <a:ea typeface="Calibri"/>
              <a:cs typeface="Calibri"/>
              <a:sym typeface="Calibri"/>
            </a:endParaRPr>
          </a:p>
        </p:txBody>
      </p:sp>
      <p:sp>
        <p:nvSpPr>
          <p:cNvPr id="499" name="Google Shape;499;p32"/>
          <p:cNvSpPr txBox="1"/>
          <p:nvPr/>
        </p:nvSpPr>
        <p:spPr>
          <a:xfrm>
            <a:off x="1069847" y="2148840"/>
            <a:ext cx="4526400" cy="1335000"/>
          </a:xfrm>
          <a:prstGeom prst="rect">
            <a:avLst/>
          </a:prstGeom>
          <a:noFill/>
          <a:ln>
            <a:noFill/>
          </a:ln>
        </p:spPr>
        <p:txBody>
          <a:bodyPr anchorCtr="0" anchor="t" bIns="18275" lIns="45700" spcFirstLastPara="1" rIns="45700" wrap="square" tIns="18275">
            <a:spAutoFit/>
          </a:bodyPr>
          <a:lstStyle/>
          <a:p>
            <a:pPr indent="0" lvl="0" marL="0" marR="0" rtl="0" algn="l">
              <a:lnSpc>
                <a:spcPct val="105000"/>
              </a:lnSpc>
              <a:spcBef>
                <a:spcPts val="0"/>
              </a:spcBef>
              <a:spcAft>
                <a:spcPts val="0"/>
              </a:spcAft>
              <a:buNone/>
            </a:pPr>
            <a:r>
              <a:rPr b="0" i="0" lang="en-US" sz="1550" u="none" cap="none" strike="noStrike">
                <a:solidFill>
                  <a:srgbClr val="1F272E"/>
                </a:solidFill>
                <a:latin typeface="Arial"/>
                <a:ea typeface="Arial"/>
                <a:cs typeface="Arial"/>
                <a:sym typeface="Arial"/>
              </a:rPr>
              <a:t>• Risikobasierte Portfoliooptimierung kann das naive 1/N-Portfolio schlagen.</a:t>
            </a:r>
            <a:endParaRPr/>
          </a:p>
          <a:p>
            <a:pPr indent="0" lvl="0" marL="0" marR="0" rtl="0" algn="l">
              <a:lnSpc>
                <a:spcPct val="105000"/>
              </a:lnSpc>
              <a:spcBef>
                <a:spcPts val="1200"/>
              </a:spcBef>
              <a:spcAft>
                <a:spcPts val="0"/>
              </a:spcAft>
              <a:buNone/>
            </a:pPr>
            <a:r>
              <a:rPr b="0" i="0" lang="en-US" sz="1550" u="none" cap="none" strike="noStrike">
                <a:solidFill>
                  <a:srgbClr val="1F272E"/>
                </a:solidFill>
                <a:latin typeface="Arial"/>
                <a:ea typeface="Arial"/>
                <a:cs typeface="Arial"/>
                <a:sym typeface="Arial"/>
              </a:rPr>
              <a:t>• HRP und ERC erweisen sich als robust.</a:t>
            </a:r>
            <a:endParaRPr/>
          </a:p>
          <a:p>
            <a:pPr indent="0" lvl="0" marL="0" marR="0" rtl="0" algn="l">
              <a:lnSpc>
                <a:spcPct val="105000"/>
              </a:lnSpc>
              <a:spcBef>
                <a:spcPts val="1200"/>
              </a:spcBef>
              <a:spcAft>
                <a:spcPts val="0"/>
              </a:spcAft>
              <a:buNone/>
            </a:pPr>
            <a:r>
              <a:rPr b="0" i="0" lang="en-US" sz="1550" u="none" cap="none" strike="noStrike">
                <a:solidFill>
                  <a:srgbClr val="1F272E"/>
                </a:solidFill>
                <a:latin typeface="Arial"/>
                <a:ea typeface="Arial"/>
                <a:cs typeface="Arial"/>
                <a:sym typeface="Arial"/>
              </a:rPr>
              <a:t>• MVP ist nur teilweise vorteilhaft</a:t>
            </a:r>
            <a:r>
              <a:rPr lang="en-US" sz="1550">
                <a:solidFill>
                  <a:srgbClr val="1F272E"/>
                </a:solidFill>
              </a:rPr>
              <a:t>.</a:t>
            </a:r>
            <a:endParaRPr/>
          </a:p>
        </p:txBody>
      </p:sp>
      <p:sp>
        <p:nvSpPr>
          <p:cNvPr id="500" name="Google Shape;500;p32"/>
          <p:cNvSpPr/>
          <p:nvPr/>
        </p:nvSpPr>
        <p:spPr>
          <a:xfrm>
            <a:off x="6263640" y="1600200"/>
            <a:ext cx="4983480" cy="4251960"/>
          </a:xfrm>
          <a:prstGeom prst="roundRect">
            <a:avLst>
              <a:gd fmla="val 16667" name="adj"/>
            </a:avLst>
          </a:prstGeom>
          <a:solidFill>
            <a:srgbClr val="FFFFFF"/>
          </a:solidFill>
          <a:ln cap="flat" cmpd="sng" w="10150">
            <a:solidFill>
              <a:srgbClr val="EEF1F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01" name="Google Shape;501;p32"/>
          <p:cNvSpPr txBox="1"/>
          <p:nvPr/>
        </p:nvSpPr>
        <p:spPr>
          <a:xfrm>
            <a:off x="6464807" y="1764792"/>
            <a:ext cx="4581144" cy="283154"/>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600" u="none" cap="none" strike="noStrike">
                <a:solidFill>
                  <a:srgbClr val="0F2D4B"/>
                </a:solidFill>
                <a:latin typeface="Arial"/>
                <a:ea typeface="Arial"/>
                <a:cs typeface="Arial"/>
                <a:sym typeface="Arial"/>
              </a:rPr>
              <a:t>Frage 2: GARCH-Prognosen</a:t>
            </a:r>
            <a:endParaRPr/>
          </a:p>
        </p:txBody>
      </p:sp>
      <p:sp>
        <p:nvSpPr>
          <p:cNvPr id="502" name="Google Shape;502;p32"/>
          <p:cNvSpPr txBox="1"/>
          <p:nvPr/>
        </p:nvSpPr>
        <p:spPr>
          <a:xfrm>
            <a:off x="6464807" y="2148840"/>
            <a:ext cx="4526280" cy="1579663"/>
          </a:xfrm>
          <a:prstGeom prst="rect">
            <a:avLst/>
          </a:prstGeom>
          <a:noFill/>
          <a:ln>
            <a:noFill/>
          </a:ln>
        </p:spPr>
        <p:txBody>
          <a:bodyPr anchorCtr="0" anchor="t" bIns="18275" lIns="45700" spcFirstLastPara="1" rIns="45700" wrap="square" tIns="18275">
            <a:spAutoFit/>
          </a:bodyPr>
          <a:lstStyle/>
          <a:p>
            <a:pPr indent="0" lvl="0" marL="0" marR="0" rtl="0" algn="l">
              <a:lnSpc>
                <a:spcPct val="105000"/>
              </a:lnSpc>
              <a:spcBef>
                <a:spcPts val="0"/>
              </a:spcBef>
              <a:spcAft>
                <a:spcPts val="0"/>
              </a:spcAft>
              <a:buNone/>
            </a:pPr>
            <a:r>
              <a:rPr b="0" i="0" lang="en-US" sz="1550" u="none" cap="none" strike="noStrike">
                <a:solidFill>
                  <a:srgbClr val="1F272E"/>
                </a:solidFill>
                <a:latin typeface="Arial"/>
                <a:ea typeface="Arial"/>
                <a:cs typeface="Arial"/>
                <a:sym typeface="Arial"/>
              </a:rPr>
              <a:t>• GARCH-Modelle überzeugen statistisch.</a:t>
            </a:r>
            <a:endParaRPr/>
          </a:p>
          <a:p>
            <a:pPr indent="0" lvl="0" marL="0" marR="0" rtl="0" algn="l">
              <a:lnSpc>
                <a:spcPct val="105000"/>
              </a:lnSpc>
              <a:spcBef>
                <a:spcPts val="1200"/>
              </a:spcBef>
              <a:spcAft>
                <a:spcPts val="0"/>
              </a:spcAft>
              <a:buNone/>
            </a:pPr>
            <a:r>
              <a:rPr b="0" i="0" lang="en-US" sz="1550" u="none" cap="none" strike="noStrike">
                <a:solidFill>
                  <a:srgbClr val="1F272E"/>
                </a:solidFill>
                <a:latin typeface="Arial"/>
                <a:ea typeface="Arial"/>
                <a:cs typeface="Arial"/>
                <a:sym typeface="Arial"/>
              </a:rPr>
              <a:t>• Sie schlagen historische Schätzungen bei QLIKE und MSE.</a:t>
            </a:r>
            <a:endParaRPr/>
          </a:p>
          <a:p>
            <a:pPr indent="0" lvl="0" marL="0" marR="0" rtl="0" algn="l">
              <a:lnSpc>
                <a:spcPct val="105000"/>
              </a:lnSpc>
              <a:spcBef>
                <a:spcPts val="1200"/>
              </a:spcBef>
              <a:spcAft>
                <a:spcPts val="0"/>
              </a:spcAft>
              <a:buNone/>
            </a:pPr>
            <a:r>
              <a:rPr b="0" i="0" lang="en-US" sz="1550" u="none" cap="none" strike="noStrike">
                <a:solidFill>
                  <a:srgbClr val="1F272E"/>
                </a:solidFill>
                <a:latin typeface="Arial"/>
                <a:ea typeface="Arial"/>
                <a:cs typeface="Arial"/>
                <a:sym typeface="Arial"/>
              </a:rPr>
              <a:t>• Der statistische Vorteil ist jedoch nicht immer ökonomisch relevant.</a:t>
            </a:r>
            <a:endParaRPr/>
          </a:p>
        </p:txBody>
      </p:sp>
      <p:sp>
        <p:nvSpPr>
          <p:cNvPr id="503" name="Google Shape;503;p32"/>
          <p:cNvSpPr/>
          <p:nvPr/>
        </p:nvSpPr>
        <p:spPr>
          <a:xfrm>
            <a:off x="983974" y="5989320"/>
            <a:ext cx="10080266" cy="475488"/>
          </a:xfrm>
          <a:prstGeom prst="roundRect">
            <a:avLst>
              <a:gd fmla="val 16667" name="adj"/>
            </a:avLst>
          </a:prstGeom>
          <a:solidFill>
            <a:srgbClr val="FFEBF0"/>
          </a:solidFill>
          <a:ln cap="flat" cmpd="sng" w="10150">
            <a:solidFill>
              <a:srgbClr val="EEF1F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04" name="Google Shape;504;p32"/>
          <p:cNvSpPr txBox="1"/>
          <p:nvPr/>
        </p:nvSpPr>
        <p:spPr>
          <a:xfrm>
            <a:off x="864704" y="6086084"/>
            <a:ext cx="10416209" cy="283154"/>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n-US" sz="1600" u="none" cap="none" strike="noStrike">
                <a:solidFill>
                  <a:srgbClr val="0F2D4B"/>
                </a:solidFill>
                <a:latin typeface="Arial"/>
                <a:ea typeface="Arial"/>
                <a:cs typeface="Arial"/>
                <a:sym typeface="Arial"/>
              </a:rPr>
              <a:t>Kernaussage: Bessere Risikoprognosen führen nicht automatisch zu besserer Portfolio-Performance.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33"/>
          <p:cNvSpPr/>
          <p:nvPr/>
        </p:nvSpPr>
        <p:spPr>
          <a:xfrm>
            <a:off x="0" y="0"/>
            <a:ext cx="12191999" cy="6858000"/>
          </a:xfrm>
          <a:prstGeom prst="rect">
            <a:avLst/>
          </a:prstGeom>
          <a:solidFill>
            <a:srgbClr val="F9FA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10" name="Google Shape;510;p33"/>
          <p:cNvSpPr/>
          <p:nvPr/>
        </p:nvSpPr>
        <p:spPr>
          <a:xfrm>
            <a:off x="0" y="0"/>
            <a:ext cx="12191999" cy="64008"/>
          </a:xfrm>
          <a:prstGeom prst="rect">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image1.png" id="511" name="Google Shape;511;p33"/>
          <p:cNvPicPr preferRelativeResize="0"/>
          <p:nvPr/>
        </p:nvPicPr>
        <p:blipFill rotWithShape="1">
          <a:blip r:embed="rId3">
            <a:alphaModFix/>
          </a:blip>
          <a:srcRect b="0" l="0" r="0" t="0"/>
          <a:stretch/>
        </p:blipFill>
        <p:spPr>
          <a:xfrm>
            <a:off x="329184" y="182880"/>
            <a:ext cx="987552" cy="355661"/>
          </a:xfrm>
          <a:prstGeom prst="rect">
            <a:avLst/>
          </a:prstGeom>
          <a:noFill/>
          <a:ln>
            <a:noFill/>
          </a:ln>
        </p:spPr>
      </p:pic>
      <p:sp>
        <p:nvSpPr>
          <p:cNvPr id="512" name="Google Shape;512;p33"/>
          <p:cNvSpPr txBox="1"/>
          <p:nvPr/>
        </p:nvSpPr>
        <p:spPr>
          <a:xfrm>
            <a:off x="8641080" y="201168"/>
            <a:ext cx="3063240" cy="228600"/>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0" i="0" lang="en-US" sz="750" u="none" cap="none" strike="noStrike">
                <a:solidFill>
                  <a:srgbClr val="76808A"/>
                </a:solidFill>
                <a:latin typeface="Arial"/>
                <a:ea typeface="Arial"/>
                <a:cs typeface="Arial"/>
                <a:sym typeface="Arial"/>
              </a:rPr>
              <a:t>Risikobasierte Portfoliooptimierung mit GARCH-Modellen</a:t>
            </a:r>
            <a:endParaRPr/>
          </a:p>
        </p:txBody>
      </p:sp>
      <p:sp>
        <p:nvSpPr>
          <p:cNvPr id="513" name="Google Shape;513;p33"/>
          <p:cNvSpPr txBox="1"/>
          <p:nvPr/>
        </p:nvSpPr>
        <p:spPr>
          <a:xfrm>
            <a:off x="777240" y="786384"/>
            <a:ext cx="10287000" cy="438912"/>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2900" u="none" cap="none" strike="noStrike">
                <a:solidFill>
                  <a:srgbClr val="0F2D4B"/>
                </a:solidFill>
                <a:latin typeface="Arial"/>
                <a:ea typeface="Arial"/>
                <a:cs typeface="Arial"/>
                <a:sym typeface="Arial"/>
              </a:rPr>
              <a:t>Weitergehende Forschung</a:t>
            </a:r>
            <a:endParaRPr/>
          </a:p>
        </p:txBody>
      </p:sp>
      <p:sp>
        <p:nvSpPr>
          <p:cNvPr id="514" name="Google Shape;514;p33"/>
          <p:cNvSpPr/>
          <p:nvPr/>
        </p:nvSpPr>
        <p:spPr>
          <a:xfrm>
            <a:off x="777240" y="1307592"/>
            <a:ext cx="1005840" cy="45720"/>
          </a:xfrm>
          <a:prstGeom prst="rect">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15" name="Google Shape;515;p33"/>
          <p:cNvSpPr/>
          <p:nvPr/>
        </p:nvSpPr>
        <p:spPr>
          <a:xfrm>
            <a:off x="777240" y="6473952"/>
            <a:ext cx="10652760" cy="10972"/>
          </a:xfrm>
          <a:prstGeom prst="rect">
            <a:avLst/>
          </a:prstGeom>
          <a:solidFill>
            <a:srgbClr val="EEF1F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16" name="Google Shape;516;p33"/>
          <p:cNvSpPr txBox="1"/>
          <p:nvPr/>
        </p:nvSpPr>
        <p:spPr>
          <a:xfrm>
            <a:off x="11109960" y="6519672"/>
            <a:ext cx="320100" cy="160200"/>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0" i="0" lang="en-US" sz="800" u="none" cap="none" strike="noStrike">
                <a:solidFill>
                  <a:srgbClr val="76808A"/>
                </a:solidFill>
                <a:latin typeface="Arial"/>
                <a:ea typeface="Arial"/>
                <a:cs typeface="Arial"/>
                <a:sym typeface="Arial"/>
              </a:rPr>
              <a:t>2</a:t>
            </a:r>
            <a:r>
              <a:rPr lang="en-US" sz="800">
                <a:solidFill>
                  <a:srgbClr val="76808A"/>
                </a:solidFill>
              </a:rPr>
              <a:t>0</a:t>
            </a:r>
            <a:endParaRPr/>
          </a:p>
        </p:txBody>
      </p:sp>
      <p:sp>
        <p:nvSpPr>
          <p:cNvPr id="517" name="Google Shape;517;p33"/>
          <p:cNvSpPr/>
          <p:nvPr/>
        </p:nvSpPr>
        <p:spPr>
          <a:xfrm>
            <a:off x="960120" y="1600200"/>
            <a:ext cx="10195560" cy="4297680"/>
          </a:xfrm>
          <a:prstGeom prst="roundRect">
            <a:avLst>
              <a:gd fmla="val 16667" name="adj"/>
            </a:avLst>
          </a:prstGeom>
          <a:solidFill>
            <a:srgbClr val="FFFFFF"/>
          </a:solidFill>
          <a:ln cap="flat" cmpd="sng" w="10150">
            <a:solidFill>
              <a:srgbClr val="EEF1F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18" name="Google Shape;518;p33"/>
          <p:cNvSpPr txBox="1"/>
          <p:nvPr/>
        </p:nvSpPr>
        <p:spPr>
          <a:xfrm>
            <a:off x="1161288" y="1764792"/>
            <a:ext cx="9793224" cy="283154"/>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600" u="none" cap="none" strike="noStrike">
                <a:solidFill>
                  <a:srgbClr val="0F2D4B"/>
                </a:solidFill>
                <a:latin typeface="Arial"/>
                <a:ea typeface="Arial"/>
                <a:cs typeface="Arial"/>
                <a:sym typeface="Arial"/>
              </a:rPr>
              <a:t>Mögliche Erweiterungen</a:t>
            </a:r>
            <a:endParaRPr b="0" i="0" sz="1600" u="none" cap="none" strike="noStrike">
              <a:solidFill>
                <a:schemeClr val="dk1"/>
              </a:solidFill>
              <a:latin typeface="Calibri"/>
              <a:ea typeface="Calibri"/>
              <a:cs typeface="Calibri"/>
              <a:sym typeface="Calibri"/>
            </a:endParaRPr>
          </a:p>
        </p:txBody>
      </p:sp>
      <p:sp>
        <p:nvSpPr>
          <p:cNvPr id="519" name="Google Shape;519;p33"/>
          <p:cNvSpPr txBox="1"/>
          <p:nvPr/>
        </p:nvSpPr>
        <p:spPr>
          <a:xfrm>
            <a:off x="1188720" y="2194560"/>
            <a:ext cx="9646800" cy="1584600"/>
          </a:xfrm>
          <a:prstGeom prst="rect">
            <a:avLst/>
          </a:prstGeom>
          <a:noFill/>
          <a:ln>
            <a:noFill/>
          </a:ln>
        </p:spPr>
        <p:txBody>
          <a:bodyPr anchorCtr="0" anchor="t" bIns="18275" lIns="45700" spcFirstLastPara="1" rIns="45700" wrap="square" tIns="18275">
            <a:spAutoFit/>
          </a:bodyPr>
          <a:lstStyle/>
          <a:p>
            <a:pPr indent="0" lvl="0" marL="0" marR="0" rtl="0" algn="l">
              <a:lnSpc>
                <a:spcPct val="105000"/>
              </a:lnSpc>
              <a:spcBef>
                <a:spcPts val="0"/>
              </a:spcBef>
              <a:spcAft>
                <a:spcPts val="0"/>
              </a:spcAft>
              <a:buNone/>
            </a:pPr>
            <a:r>
              <a:rPr b="0" i="0" lang="en-US" sz="1700" u="none" cap="none" strike="noStrike">
                <a:solidFill>
                  <a:srgbClr val="1F272E"/>
                </a:solidFill>
                <a:latin typeface="Arial"/>
                <a:ea typeface="Arial"/>
                <a:cs typeface="Arial"/>
                <a:sym typeface="Arial"/>
              </a:rPr>
              <a:t>• Überprüfung der Ergebnisse auf anderen Datensätzen.</a:t>
            </a:r>
            <a:endParaRPr/>
          </a:p>
          <a:p>
            <a:pPr indent="0" lvl="0" marL="0" marR="0" rtl="0" algn="l">
              <a:lnSpc>
                <a:spcPct val="105000"/>
              </a:lnSpc>
              <a:spcBef>
                <a:spcPts val="1200"/>
              </a:spcBef>
              <a:spcAft>
                <a:spcPts val="0"/>
              </a:spcAft>
              <a:buNone/>
            </a:pPr>
            <a:r>
              <a:rPr b="0" i="0" lang="en-US" sz="1700" u="none" cap="none" strike="noStrike">
                <a:solidFill>
                  <a:srgbClr val="1F272E"/>
                </a:solidFill>
                <a:latin typeface="Arial"/>
                <a:ea typeface="Arial"/>
                <a:cs typeface="Arial"/>
                <a:sym typeface="Arial"/>
              </a:rPr>
              <a:t>• Verwendung weiterer GARCH-Modelle, z.B. höhere Ordnung, GJR-GARCH oder GARCH-MIDAS.</a:t>
            </a:r>
            <a:endParaRPr/>
          </a:p>
          <a:p>
            <a:pPr indent="0" lvl="0" marL="0" marR="0" rtl="0" algn="l">
              <a:lnSpc>
                <a:spcPct val="105000"/>
              </a:lnSpc>
              <a:spcBef>
                <a:spcPts val="1200"/>
              </a:spcBef>
              <a:spcAft>
                <a:spcPts val="0"/>
              </a:spcAft>
              <a:buNone/>
            </a:pPr>
            <a:r>
              <a:rPr b="0" i="0" lang="en-US" sz="1700" u="none" cap="none" strike="noStrike">
                <a:solidFill>
                  <a:srgbClr val="1F272E"/>
                </a:solidFill>
                <a:latin typeface="Arial"/>
                <a:ea typeface="Arial"/>
                <a:cs typeface="Arial"/>
                <a:sym typeface="Arial"/>
              </a:rPr>
              <a:t>• Vergleich mit weiteren Optimierungsmodellen, z.B. HERC oder NCO.</a:t>
            </a:r>
            <a:endParaRPr/>
          </a:p>
          <a:p>
            <a:pPr indent="0" lvl="0" marL="0" marR="0" rtl="0" algn="l">
              <a:lnSpc>
                <a:spcPct val="105000"/>
              </a:lnSpc>
              <a:spcBef>
                <a:spcPts val="1200"/>
              </a:spcBef>
              <a:spcAft>
                <a:spcPts val="0"/>
              </a:spcAft>
              <a:buNone/>
            </a:pPr>
            <a:r>
              <a:rPr b="0" i="0" lang="en-US" sz="1700" u="none" cap="none" strike="noStrike">
                <a:solidFill>
                  <a:srgbClr val="1F272E"/>
                </a:solidFill>
                <a:latin typeface="Arial"/>
                <a:ea typeface="Arial"/>
                <a:cs typeface="Arial"/>
                <a:sym typeface="Arial"/>
              </a:rPr>
              <a:t>• Einbezug realistischer Transaktionskosten.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34"/>
          <p:cNvSpPr/>
          <p:nvPr/>
        </p:nvSpPr>
        <p:spPr>
          <a:xfrm>
            <a:off x="0" y="0"/>
            <a:ext cx="12191999" cy="6858000"/>
          </a:xfrm>
          <a:prstGeom prst="rect">
            <a:avLst/>
          </a:prstGeom>
          <a:solidFill>
            <a:srgbClr val="F9FA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25" name="Google Shape;525;p34"/>
          <p:cNvSpPr/>
          <p:nvPr/>
        </p:nvSpPr>
        <p:spPr>
          <a:xfrm>
            <a:off x="0" y="0"/>
            <a:ext cx="12191999" cy="64008"/>
          </a:xfrm>
          <a:prstGeom prst="rect">
            <a:avLst/>
          </a:prstGeom>
          <a:solidFill>
            <a:srgbClr val="E200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26" name="Google Shape;526;p34"/>
          <p:cNvSpPr txBox="1"/>
          <p:nvPr/>
        </p:nvSpPr>
        <p:spPr>
          <a:xfrm>
            <a:off x="998219" y="3041201"/>
            <a:ext cx="10195560" cy="775597"/>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4800" u="none" cap="none" strike="noStrike">
                <a:solidFill>
                  <a:srgbClr val="0F2D4B"/>
                </a:solidFill>
                <a:latin typeface="Arial"/>
                <a:ea typeface="Arial"/>
                <a:cs typeface="Arial"/>
                <a:sym typeface="Arial"/>
              </a:rPr>
              <a:t>Vielen Dank.</a:t>
            </a:r>
            <a:endParaRPr b="0" i="0" sz="48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35"/>
          <p:cNvSpPr/>
          <p:nvPr/>
        </p:nvSpPr>
        <p:spPr>
          <a:xfrm>
            <a:off x="0" y="0"/>
            <a:ext cx="12192000" cy="6858000"/>
          </a:xfrm>
          <a:prstGeom prst="rect">
            <a:avLst/>
          </a:prstGeom>
          <a:solidFill>
            <a:srgbClr val="F9FAF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32" name="Google Shape;532;p35"/>
          <p:cNvSpPr/>
          <p:nvPr/>
        </p:nvSpPr>
        <p:spPr>
          <a:xfrm>
            <a:off x="0" y="0"/>
            <a:ext cx="12192000" cy="63900"/>
          </a:xfrm>
          <a:prstGeom prst="rect">
            <a:avLst/>
          </a:prstGeom>
          <a:solidFill>
            <a:srgbClr val="E2003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image1.png" id="533" name="Google Shape;533;p35"/>
          <p:cNvPicPr preferRelativeResize="0"/>
          <p:nvPr/>
        </p:nvPicPr>
        <p:blipFill rotWithShape="1">
          <a:blip r:embed="rId3">
            <a:alphaModFix/>
          </a:blip>
          <a:srcRect b="0" l="0" r="0" t="0"/>
          <a:stretch/>
        </p:blipFill>
        <p:spPr>
          <a:xfrm>
            <a:off x="329184" y="182880"/>
            <a:ext cx="987551" cy="355660"/>
          </a:xfrm>
          <a:prstGeom prst="rect">
            <a:avLst/>
          </a:prstGeom>
          <a:noFill/>
          <a:ln>
            <a:noFill/>
          </a:ln>
        </p:spPr>
      </p:pic>
      <p:sp>
        <p:nvSpPr>
          <p:cNvPr id="534" name="Google Shape;534;p35"/>
          <p:cNvSpPr txBox="1"/>
          <p:nvPr/>
        </p:nvSpPr>
        <p:spPr>
          <a:xfrm>
            <a:off x="8641080" y="201168"/>
            <a:ext cx="3063300" cy="152400"/>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0" i="0" lang="en-US" sz="750" u="none" cap="none" strike="noStrike">
                <a:solidFill>
                  <a:srgbClr val="76808A"/>
                </a:solidFill>
                <a:latin typeface="Arial"/>
                <a:ea typeface="Arial"/>
                <a:cs typeface="Arial"/>
                <a:sym typeface="Arial"/>
              </a:rPr>
              <a:t>Risikobasierte Portfoliooptimierung mit GARCH-Modellen</a:t>
            </a:r>
            <a:endParaRPr/>
          </a:p>
        </p:txBody>
      </p:sp>
      <p:sp>
        <p:nvSpPr>
          <p:cNvPr id="535" name="Google Shape;535;p35"/>
          <p:cNvSpPr txBox="1"/>
          <p:nvPr/>
        </p:nvSpPr>
        <p:spPr>
          <a:xfrm>
            <a:off x="777240" y="786384"/>
            <a:ext cx="10287000" cy="48330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lang="en-US" sz="2900">
                <a:solidFill>
                  <a:srgbClr val="0F2D4B"/>
                </a:solidFill>
              </a:rPr>
              <a:t>Literatur</a:t>
            </a:r>
            <a:endParaRPr/>
          </a:p>
        </p:txBody>
      </p:sp>
      <p:sp>
        <p:nvSpPr>
          <p:cNvPr id="536" name="Google Shape;536;p35"/>
          <p:cNvSpPr/>
          <p:nvPr/>
        </p:nvSpPr>
        <p:spPr>
          <a:xfrm>
            <a:off x="777240" y="1307592"/>
            <a:ext cx="1005900" cy="45600"/>
          </a:xfrm>
          <a:prstGeom prst="rect">
            <a:avLst/>
          </a:prstGeom>
          <a:solidFill>
            <a:srgbClr val="E2003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37" name="Google Shape;537;p35"/>
          <p:cNvSpPr/>
          <p:nvPr/>
        </p:nvSpPr>
        <p:spPr>
          <a:xfrm>
            <a:off x="777240" y="6473952"/>
            <a:ext cx="10652700" cy="11100"/>
          </a:xfrm>
          <a:prstGeom prst="rect">
            <a:avLst/>
          </a:prstGeom>
          <a:solidFill>
            <a:srgbClr val="EEF1F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38" name="Google Shape;538;p35"/>
          <p:cNvSpPr txBox="1"/>
          <p:nvPr/>
        </p:nvSpPr>
        <p:spPr>
          <a:xfrm>
            <a:off x="11109960" y="6519672"/>
            <a:ext cx="320100" cy="160200"/>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0" i="0" lang="en-US" sz="800" u="none" cap="none" strike="noStrike">
                <a:solidFill>
                  <a:srgbClr val="76808A"/>
                </a:solidFill>
                <a:latin typeface="Arial"/>
                <a:ea typeface="Arial"/>
                <a:cs typeface="Arial"/>
                <a:sym typeface="Arial"/>
              </a:rPr>
              <a:t>22</a:t>
            </a:r>
            <a:endParaRPr/>
          </a:p>
        </p:txBody>
      </p:sp>
      <p:sp>
        <p:nvSpPr>
          <p:cNvPr id="539" name="Google Shape;539;p35"/>
          <p:cNvSpPr txBox="1"/>
          <p:nvPr/>
        </p:nvSpPr>
        <p:spPr>
          <a:xfrm>
            <a:off x="1956725" y="1702471"/>
            <a:ext cx="9646800" cy="4634700"/>
          </a:xfrm>
          <a:prstGeom prst="rect">
            <a:avLst/>
          </a:prstGeom>
          <a:noFill/>
          <a:ln>
            <a:noFill/>
          </a:ln>
        </p:spPr>
        <p:txBody>
          <a:bodyPr anchorCtr="0" anchor="t" bIns="18275" lIns="45700" spcFirstLastPara="1" rIns="45700" wrap="square" tIns="18275">
            <a:spAutoFit/>
          </a:bodyPr>
          <a:lstStyle/>
          <a:p>
            <a:pPr indent="-457200" lvl="0" marL="0" rtl="0" algn="l">
              <a:lnSpc>
                <a:spcPct val="200000"/>
              </a:lnSpc>
              <a:spcBef>
                <a:spcPts val="0"/>
              </a:spcBef>
              <a:spcAft>
                <a:spcPts val="0"/>
              </a:spcAft>
              <a:buClr>
                <a:schemeClr val="dk1"/>
              </a:buClr>
              <a:buSzPts val="853"/>
              <a:buFont typeface="Arial"/>
              <a:buNone/>
            </a:pPr>
            <a:r>
              <a:rPr lang="en-US" sz="1030">
                <a:solidFill>
                  <a:schemeClr val="dk1"/>
                </a:solidFill>
                <a:latin typeface="Times New Roman"/>
                <a:ea typeface="Times New Roman"/>
                <a:cs typeface="Times New Roman"/>
                <a:sym typeface="Times New Roman"/>
              </a:rPr>
              <a:t>Ardia, D., Bolliger, G., Boudt, K., &amp; Gagnon-Fleury, J. (2017). The impact of covariance misspecification in risk-based portfolios. </a:t>
            </a:r>
            <a:r>
              <a:rPr i="1" lang="en-US" sz="1030">
                <a:solidFill>
                  <a:schemeClr val="dk1"/>
                </a:solidFill>
                <a:latin typeface="Times New Roman"/>
                <a:ea typeface="Times New Roman"/>
                <a:cs typeface="Times New Roman"/>
                <a:sym typeface="Times New Roman"/>
              </a:rPr>
              <a:t>Annals of Operations Research</a:t>
            </a:r>
            <a:r>
              <a:rPr lang="en-US" sz="1030">
                <a:solidFill>
                  <a:schemeClr val="dk1"/>
                </a:solidFill>
                <a:latin typeface="Times New Roman"/>
                <a:ea typeface="Times New Roman"/>
                <a:cs typeface="Times New Roman"/>
                <a:sym typeface="Times New Roman"/>
              </a:rPr>
              <a:t>, </a:t>
            </a:r>
            <a:r>
              <a:rPr i="1" lang="en-US" sz="1030">
                <a:solidFill>
                  <a:schemeClr val="dk1"/>
                </a:solidFill>
                <a:latin typeface="Times New Roman"/>
                <a:ea typeface="Times New Roman"/>
                <a:cs typeface="Times New Roman"/>
                <a:sym typeface="Times New Roman"/>
              </a:rPr>
              <a:t>254</a:t>
            </a:r>
            <a:r>
              <a:rPr lang="en-US" sz="1030">
                <a:solidFill>
                  <a:schemeClr val="dk1"/>
                </a:solidFill>
                <a:latin typeface="Times New Roman"/>
                <a:ea typeface="Times New Roman"/>
                <a:cs typeface="Times New Roman"/>
                <a:sym typeface="Times New Roman"/>
              </a:rPr>
              <a:t>(1–2), 1–16. https://doi.org/10.1007/s10479-017-2474-7</a:t>
            </a:r>
            <a:endParaRPr sz="1030">
              <a:solidFill>
                <a:schemeClr val="dk1"/>
              </a:solidFill>
              <a:latin typeface="Times New Roman"/>
              <a:ea typeface="Times New Roman"/>
              <a:cs typeface="Times New Roman"/>
              <a:sym typeface="Times New Roman"/>
            </a:endParaRPr>
          </a:p>
          <a:p>
            <a:pPr indent="-457200" lvl="0" marL="0" rtl="0" algn="l">
              <a:lnSpc>
                <a:spcPct val="200000"/>
              </a:lnSpc>
              <a:spcBef>
                <a:spcPts val="0"/>
              </a:spcBef>
              <a:spcAft>
                <a:spcPts val="0"/>
              </a:spcAft>
              <a:buClr>
                <a:schemeClr val="dk1"/>
              </a:buClr>
              <a:buSzPts val="853"/>
              <a:buFont typeface="Arial"/>
              <a:buNone/>
            </a:pPr>
            <a:r>
              <a:rPr lang="en-US" sz="1030">
                <a:solidFill>
                  <a:schemeClr val="dk1"/>
                </a:solidFill>
                <a:latin typeface="Times New Roman"/>
                <a:ea typeface="Times New Roman"/>
                <a:cs typeface="Times New Roman"/>
                <a:sym typeface="Times New Roman"/>
              </a:rPr>
              <a:t>Behr, P., Güttler, A., &amp; Miebs, F. (2008). </a:t>
            </a:r>
            <a:r>
              <a:rPr i="1" lang="en-US" sz="1030">
                <a:solidFill>
                  <a:schemeClr val="dk1"/>
                </a:solidFill>
                <a:latin typeface="Times New Roman"/>
                <a:ea typeface="Times New Roman"/>
                <a:cs typeface="Times New Roman"/>
                <a:sym typeface="Times New Roman"/>
              </a:rPr>
              <a:t>Is minimum-variance investing really worth the while? An analysis with robust performance inference</a:t>
            </a:r>
            <a:r>
              <a:rPr lang="en-US" sz="1030">
                <a:solidFill>
                  <a:schemeClr val="dk1"/>
                </a:solidFill>
                <a:latin typeface="Times New Roman"/>
                <a:ea typeface="Times New Roman"/>
                <a:cs typeface="Times New Roman"/>
                <a:sym typeface="Times New Roman"/>
              </a:rPr>
              <a:t> [EDHC-Risk]. https://www.cfr-cologne.de/download/kolloquium/2009/behr_et_al.pdf</a:t>
            </a:r>
            <a:endParaRPr sz="1030">
              <a:solidFill>
                <a:schemeClr val="dk1"/>
              </a:solidFill>
              <a:latin typeface="Times New Roman"/>
              <a:ea typeface="Times New Roman"/>
              <a:cs typeface="Times New Roman"/>
              <a:sym typeface="Times New Roman"/>
            </a:endParaRPr>
          </a:p>
          <a:p>
            <a:pPr indent="-457200" lvl="0" marL="0" rtl="0" algn="l">
              <a:lnSpc>
                <a:spcPct val="200000"/>
              </a:lnSpc>
              <a:spcBef>
                <a:spcPts val="0"/>
              </a:spcBef>
              <a:spcAft>
                <a:spcPts val="0"/>
              </a:spcAft>
              <a:buClr>
                <a:schemeClr val="dk1"/>
              </a:buClr>
              <a:buSzPts val="853"/>
              <a:buFont typeface="Arial"/>
              <a:buNone/>
            </a:pPr>
            <a:r>
              <a:rPr lang="en-US" sz="1030">
                <a:solidFill>
                  <a:schemeClr val="dk1"/>
                </a:solidFill>
                <a:latin typeface="Times New Roman"/>
                <a:ea typeface="Times New Roman"/>
                <a:cs typeface="Times New Roman"/>
                <a:sym typeface="Times New Roman"/>
              </a:rPr>
              <a:t>Chaves, D., Hsu, J., Li, F., &amp; Shakernia, O. (2011). Risk Parity Portfolio vs. Other Asset Allocation Heuristic Portfolios. </a:t>
            </a:r>
            <a:r>
              <a:rPr i="1" lang="en-US" sz="1030">
                <a:solidFill>
                  <a:schemeClr val="dk1"/>
                </a:solidFill>
                <a:latin typeface="Times New Roman"/>
                <a:ea typeface="Times New Roman"/>
                <a:cs typeface="Times New Roman"/>
                <a:sym typeface="Times New Roman"/>
              </a:rPr>
              <a:t>The Journal of Investing</a:t>
            </a:r>
            <a:r>
              <a:rPr lang="en-US" sz="1030">
                <a:solidFill>
                  <a:schemeClr val="dk1"/>
                </a:solidFill>
                <a:latin typeface="Times New Roman"/>
                <a:ea typeface="Times New Roman"/>
                <a:cs typeface="Times New Roman"/>
                <a:sym typeface="Times New Roman"/>
              </a:rPr>
              <a:t>, </a:t>
            </a:r>
            <a:r>
              <a:rPr i="1" lang="en-US" sz="1030">
                <a:solidFill>
                  <a:schemeClr val="dk1"/>
                </a:solidFill>
                <a:latin typeface="Times New Roman"/>
                <a:ea typeface="Times New Roman"/>
                <a:cs typeface="Times New Roman"/>
                <a:sym typeface="Times New Roman"/>
              </a:rPr>
              <a:t>20</a:t>
            </a:r>
            <a:r>
              <a:rPr lang="en-US" sz="1030">
                <a:solidFill>
                  <a:schemeClr val="dk1"/>
                </a:solidFill>
                <a:latin typeface="Times New Roman"/>
                <a:ea typeface="Times New Roman"/>
                <a:cs typeface="Times New Roman"/>
                <a:sym typeface="Times New Roman"/>
              </a:rPr>
              <a:t>(1), 108–118. https://doi.org/10.3905/joi.2011.20.1.108</a:t>
            </a:r>
            <a:endParaRPr sz="1030">
              <a:solidFill>
                <a:schemeClr val="dk1"/>
              </a:solidFill>
              <a:latin typeface="Times New Roman"/>
              <a:ea typeface="Times New Roman"/>
              <a:cs typeface="Times New Roman"/>
              <a:sym typeface="Times New Roman"/>
            </a:endParaRPr>
          </a:p>
          <a:p>
            <a:pPr indent="-457200" lvl="0" marL="0" rtl="0" algn="l">
              <a:lnSpc>
                <a:spcPct val="200000"/>
              </a:lnSpc>
              <a:spcBef>
                <a:spcPts val="0"/>
              </a:spcBef>
              <a:spcAft>
                <a:spcPts val="0"/>
              </a:spcAft>
              <a:buClr>
                <a:schemeClr val="dk1"/>
              </a:buClr>
              <a:buSzPts val="853"/>
              <a:buFont typeface="Arial"/>
              <a:buNone/>
            </a:pPr>
            <a:r>
              <a:rPr lang="en-US" sz="1030">
                <a:solidFill>
                  <a:schemeClr val="dk1"/>
                </a:solidFill>
                <a:latin typeface="Times New Roman"/>
                <a:ea typeface="Times New Roman"/>
                <a:cs typeface="Times New Roman"/>
                <a:sym typeface="Times New Roman"/>
              </a:rPr>
              <a:t>De Prado, M. L. (2016). Building Diversified Portfolios that Outperform Out of Sample. </a:t>
            </a:r>
            <a:r>
              <a:rPr i="1" lang="en-US" sz="1030">
                <a:solidFill>
                  <a:schemeClr val="dk1"/>
                </a:solidFill>
                <a:latin typeface="Times New Roman"/>
                <a:ea typeface="Times New Roman"/>
                <a:cs typeface="Times New Roman"/>
                <a:sym typeface="Times New Roman"/>
              </a:rPr>
              <a:t>The Journal of Portfolio Management</a:t>
            </a:r>
            <a:r>
              <a:rPr lang="en-US" sz="1030">
                <a:solidFill>
                  <a:schemeClr val="dk1"/>
                </a:solidFill>
                <a:latin typeface="Times New Roman"/>
                <a:ea typeface="Times New Roman"/>
                <a:cs typeface="Times New Roman"/>
                <a:sym typeface="Times New Roman"/>
              </a:rPr>
              <a:t>, </a:t>
            </a:r>
            <a:r>
              <a:rPr i="1" lang="en-US" sz="1030">
                <a:solidFill>
                  <a:schemeClr val="dk1"/>
                </a:solidFill>
                <a:latin typeface="Times New Roman"/>
                <a:ea typeface="Times New Roman"/>
                <a:cs typeface="Times New Roman"/>
                <a:sym typeface="Times New Roman"/>
              </a:rPr>
              <a:t>42</a:t>
            </a:r>
            <a:r>
              <a:rPr lang="en-US" sz="1030">
                <a:solidFill>
                  <a:schemeClr val="dk1"/>
                </a:solidFill>
                <a:latin typeface="Times New Roman"/>
                <a:ea typeface="Times New Roman"/>
                <a:cs typeface="Times New Roman"/>
                <a:sym typeface="Times New Roman"/>
              </a:rPr>
              <a:t>(4), 59–69. https://doi.org/10.3905/jpm.2016.42.4.059</a:t>
            </a:r>
            <a:endParaRPr sz="1030">
              <a:solidFill>
                <a:schemeClr val="dk1"/>
              </a:solidFill>
              <a:latin typeface="Times New Roman"/>
              <a:ea typeface="Times New Roman"/>
              <a:cs typeface="Times New Roman"/>
              <a:sym typeface="Times New Roman"/>
            </a:endParaRPr>
          </a:p>
          <a:p>
            <a:pPr indent="-457200" lvl="0" marL="0" rtl="0" algn="l">
              <a:lnSpc>
                <a:spcPct val="200000"/>
              </a:lnSpc>
              <a:spcBef>
                <a:spcPts val="0"/>
              </a:spcBef>
              <a:spcAft>
                <a:spcPts val="0"/>
              </a:spcAft>
              <a:buClr>
                <a:schemeClr val="dk1"/>
              </a:buClr>
              <a:buSzPts val="853"/>
              <a:buFont typeface="Arial"/>
              <a:buNone/>
            </a:pPr>
            <a:r>
              <a:rPr lang="en-US" sz="1030">
                <a:solidFill>
                  <a:schemeClr val="dk1"/>
                </a:solidFill>
                <a:latin typeface="Times New Roman"/>
                <a:ea typeface="Times New Roman"/>
                <a:cs typeface="Times New Roman"/>
                <a:sym typeface="Times New Roman"/>
              </a:rPr>
              <a:t>Engle, R., &amp; Colacito, R. (2006). Testing and valuing dynamic correlations for asset allocation. </a:t>
            </a:r>
            <a:r>
              <a:rPr i="1" lang="en-US" sz="1030">
                <a:solidFill>
                  <a:schemeClr val="dk1"/>
                </a:solidFill>
                <a:latin typeface="Times New Roman"/>
                <a:ea typeface="Times New Roman"/>
                <a:cs typeface="Times New Roman"/>
                <a:sym typeface="Times New Roman"/>
              </a:rPr>
              <a:t>Journal of Business and Economic Statistics</a:t>
            </a:r>
            <a:r>
              <a:rPr lang="en-US" sz="1030">
                <a:solidFill>
                  <a:schemeClr val="dk1"/>
                </a:solidFill>
                <a:latin typeface="Times New Roman"/>
                <a:ea typeface="Times New Roman"/>
                <a:cs typeface="Times New Roman"/>
                <a:sym typeface="Times New Roman"/>
              </a:rPr>
              <a:t>, </a:t>
            </a:r>
            <a:r>
              <a:rPr i="1" lang="en-US" sz="1030">
                <a:solidFill>
                  <a:schemeClr val="dk1"/>
                </a:solidFill>
                <a:latin typeface="Times New Roman"/>
                <a:ea typeface="Times New Roman"/>
                <a:cs typeface="Times New Roman"/>
                <a:sym typeface="Times New Roman"/>
              </a:rPr>
              <a:t>24</a:t>
            </a:r>
            <a:r>
              <a:rPr lang="en-US" sz="1030">
                <a:solidFill>
                  <a:schemeClr val="dk1"/>
                </a:solidFill>
                <a:latin typeface="Times New Roman"/>
                <a:ea typeface="Times New Roman"/>
                <a:cs typeface="Times New Roman"/>
                <a:sym typeface="Times New Roman"/>
              </a:rPr>
              <a:t>(2), 238–253. https://doi.org/10.1198/073500106000000017</a:t>
            </a:r>
            <a:endParaRPr sz="1030">
              <a:solidFill>
                <a:schemeClr val="dk1"/>
              </a:solidFill>
              <a:latin typeface="Times New Roman"/>
              <a:ea typeface="Times New Roman"/>
              <a:cs typeface="Times New Roman"/>
              <a:sym typeface="Times New Roman"/>
            </a:endParaRPr>
          </a:p>
          <a:p>
            <a:pPr indent="-457200" lvl="0" marL="0" rtl="0" algn="l">
              <a:lnSpc>
                <a:spcPct val="200000"/>
              </a:lnSpc>
              <a:spcBef>
                <a:spcPts val="0"/>
              </a:spcBef>
              <a:spcAft>
                <a:spcPts val="0"/>
              </a:spcAft>
              <a:buClr>
                <a:schemeClr val="dk1"/>
              </a:buClr>
              <a:buSzPts val="853"/>
              <a:buFont typeface="Arial"/>
              <a:buNone/>
            </a:pPr>
            <a:r>
              <a:rPr lang="en-US" sz="1030">
                <a:solidFill>
                  <a:schemeClr val="dk1"/>
                </a:solidFill>
                <a:latin typeface="Times New Roman"/>
                <a:ea typeface="Times New Roman"/>
                <a:cs typeface="Times New Roman"/>
                <a:sym typeface="Times New Roman"/>
              </a:rPr>
              <a:t>Lee, W. (2011). Risk-Based Asset Allocation: a new answer to an old question? </a:t>
            </a:r>
            <a:r>
              <a:rPr i="1" lang="en-US" sz="1030">
                <a:solidFill>
                  <a:schemeClr val="dk1"/>
                </a:solidFill>
                <a:latin typeface="Times New Roman"/>
                <a:ea typeface="Times New Roman"/>
                <a:cs typeface="Times New Roman"/>
                <a:sym typeface="Times New Roman"/>
              </a:rPr>
              <a:t>The Journal of Portfolio Management</a:t>
            </a:r>
            <a:r>
              <a:rPr lang="en-US" sz="1030">
                <a:solidFill>
                  <a:schemeClr val="dk1"/>
                </a:solidFill>
                <a:latin typeface="Times New Roman"/>
                <a:ea typeface="Times New Roman"/>
                <a:cs typeface="Times New Roman"/>
                <a:sym typeface="Times New Roman"/>
              </a:rPr>
              <a:t>, </a:t>
            </a:r>
            <a:r>
              <a:rPr i="1" lang="en-US" sz="1030">
                <a:solidFill>
                  <a:schemeClr val="dk1"/>
                </a:solidFill>
                <a:latin typeface="Times New Roman"/>
                <a:ea typeface="Times New Roman"/>
                <a:cs typeface="Times New Roman"/>
                <a:sym typeface="Times New Roman"/>
              </a:rPr>
              <a:t>37</a:t>
            </a:r>
            <a:r>
              <a:rPr lang="en-US" sz="1030">
                <a:solidFill>
                  <a:schemeClr val="dk1"/>
                </a:solidFill>
                <a:latin typeface="Times New Roman"/>
                <a:ea typeface="Times New Roman"/>
                <a:cs typeface="Times New Roman"/>
                <a:sym typeface="Times New Roman"/>
              </a:rPr>
              <a:t>(4), 11–28. https://doi.org/10.3905/jpm.2011.37.4.011</a:t>
            </a:r>
            <a:endParaRPr sz="1030">
              <a:solidFill>
                <a:schemeClr val="dk1"/>
              </a:solidFill>
              <a:latin typeface="Times New Roman"/>
              <a:ea typeface="Times New Roman"/>
              <a:cs typeface="Times New Roman"/>
              <a:sym typeface="Times New Roman"/>
            </a:endParaRPr>
          </a:p>
          <a:p>
            <a:pPr indent="-457200" lvl="0" marL="0" rtl="0" algn="l">
              <a:lnSpc>
                <a:spcPct val="200000"/>
              </a:lnSpc>
              <a:spcBef>
                <a:spcPts val="0"/>
              </a:spcBef>
              <a:spcAft>
                <a:spcPts val="0"/>
              </a:spcAft>
              <a:buClr>
                <a:schemeClr val="dk1"/>
              </a:buClr>
              <a:buSzPts val="853"/>
              <a:buFont typeface="Arial"/>
              <a:buNone/>
            </a:pPr>
            <a:r>
              <a:rPr lang="en-US" sz="1030">
                <a:solidFill>
                  <a:schemeClr val="dk1"/>
                </a:solidFill>
                <a:latin typeface="Times New Roman"/>
                <a:ea typeface="Times New Roman"/>
                <a:cs typeface="Times New Roman"/>
                <a:sym typeface="Times New Roman"/>
              </a:rPr>
              <a:t>Moura, G. V., Santos, A. A., &amp; Ruiz, E. (2020). Comparing high-dimensional conditional covariance matrices: Implications for portfolio selection. </a:t>
            </a:r>
            <a:r>
              <a:rPr i="1" lang="en-US" sz="1030">
                <a:solidFill>
                  <a:schemeClr val="dk1"/>
                </a:solidFill>
                <a:latin typeface="Times New Roman"/>
                <a:ea typeface="Times New Roman"/>
                <a:cs typeface="Times New Roman"/>
                <a:sym typeface="Times New Roman"/>
              </a:rPr>
              <a:t>Journal of Banking &amp; Finance</a:t>
            </a:r>
            <a:r>
              <a:rPr lang="en-US" sz="1030">
                <a:solidFill>
                  <a:schemeClr val="dk1"/>
                </a:solidFill>
                <a:latin typeface="Times New Roman"/>
                <a:ea typeface="Times New Roman"/>
                <a:cs typeface="Times New Roman"/>
                <a:sym typeface="Times New Roman"/>
              </a:rPr>
              <a:t>, </a:t>
            </a:r>
            <a:r>
              <a:rPr i="1" lang="en-US" sz="1030">
                <a:solidFill>
                  <a:schemeClr val="dk1"/>
                </a:solidFill>
                <a:latin typeface="Times New Roman"/>
                <a:ea typeface="Times New Roman"/>
                <a:cs typeface="Times New Roman"/>
                <a:sym typeface="Times New Roman"/>
              </a:rPr>
              <a:t>118</a:t>
            </a:r>
            <a:r>
              <a:rPr lang="en-US" sz="1030">
                <a:solidFill>
                  <a:schemeClr val="dk1"/>
                </a:solidFill>
                <a:latin typeface="Times New Roman"/>
                <a:ea typeface="Times New Roman"/>
                <a:cs typeface="Times New Roman"/>
                <a:sym typeface="Times New Roman"/>
              </a:rPr>
              <a:t>, 105882. https://doi.org/10.1016/j.jbankfin.2020.105882</a:t>
            </a:r>
            <a:endParaRPr sz="1030">
              <a:solidFill>
                <a:schemeClr val="dk1"/>
              </a:solidFill>
              <a:latin typeface="Times New Roman"/>
              <a:ea typeface="Times New Roman"/>
              <a:cs typeface="Times New Roman"/>
              <a:sym typeface="Times New Roman"/>
            </a:endParaRPr>
          </a:p>
          <a:p>
            <a:pPr indent="-457200" lvl="0" marL="0" rtl="0" algn="l">
              <a:lnSpc>
                <a:spcPct val="200000"/>
              </a:lnSpc>
              <a:spcBef>
                <a:spcPts val="0"/>
              </a:spcBef>
              <a:spcAft>
                <a:spcPts val="0"/>
              </a:spcAft>
              <a:buClr>
                <a:schemeClr val="dk1"/>
              </a:buClr>
              <a:buSzPts val="853"/>
              <a:buFont typeface="Arial"/>
              <a:buNone/>
            </a:pPr>
            <a:r>
              <a:rPr lang="en-US" sz="1030">
                <a:solidFill>
                  <a:schemeClr val="dk1"/>
                </a:solidFill>
                <a:latin typeface="Times New Roman"/>
                <a:ea typeface="Times New Roman"/>
                <a:cs typeface="Times New Roman"/>
                <a:sym typeface="Times New Roman"/>
              </a:rPr>
              <a:t>Patton, A. J. (2011). Volatility forecast comparison using imperfect volatility proxies. </a:t>
            </a:r>
            <a:r>
              <a:rPr i="1" lang="en-US" sz="1030">
                <a:solidFill>
                  <a:schemeClr val="dk1"/>
                </a:solidFill>
                <a:latin typeface="Times New Roman"/>
                <a:ea typeface="Times New Roman"/>
                <a:cs typeface="Times New Roman"/>
                <a:sym typeface="Times New Roman"/>
              </a:rPr>
              <a:t>Journal of Econometrics</a:t>
            </a:r>
            <a:r>
              <a:rPr lang="en-US" sz="1030">
                <a:solidFill>
                  <a:schemeClr val="dk1"/>
                </a:solidFill>
                <a:latin typeface="Times New Roman"/>
                <a:ea typeface="Times New Roman"/>
                <a:cs typeface="Times New Roman"/>
                <a:sym typeface="Times New Roman"/>
              </a:rPr>
              <a:t>, </a:t>
            </a:r>
            <a:r>
              <a:rPr i="1" lang="en-US" sz="1030">
                <a:solidFill>
                  <a:schemeClr val="dk1"/>
                </a:solidFill>
                <a:latin typeface="Times New Roman"/>
                <a:ea typeface="Times New Roman"/>
                <a:cs typeface="Times New Roman"/>
                <a:sym typeface="Times New Roman"/>
              </a:rPr>
              <a:t>160</a:t>
            </a:r>
            <a:r>
              <a:rPr lang="en-US" sz="1030">
                <a:solidFill>
                  <a:schemeClr val="dk1"/>
                </a:solidFill>
                <a:latin typeface="Times New Roman"/>
                <a:ea typeface="Times New Roman"/>
                <a:cs typeface="Times New Roman"/>
                <a:sym typeface="Times New Roman"/>
              </a:rPr>
              <a:t>(1), 246–256. https://doi.org/10.1016/j.jeconom.2010.03.034</a:t>
            </a:r>
            <a:endParaRPr sz="1030">
              <a:solidFill>
                <a:schemeClr val="dk1"/>
              </a:solidFill>
              <a:latin typeface="Times New Roman"/>
              <a:ea typeface="Times New Roman"/>
              <a:cs typeface="Times New Roman"/>
              <a:sym typeface="Times New Roman"/>
            </a:endParaRPr>
          </a:p>
          <a:p>
            <a:pPr indent="-457200" lvl="0" marL="0" rtl="0" algn="l">
              <a:lnSpc>
                <a:spcPct val="200000"/>
              </a:lnSpc>
              <a:spcBef>
                <a:spcPts val="0"/>
              </a:spcBef>
              <a:spcAft>
                <a:spcPts val="0"/>
              </a:spcAft>
              <a:buClr>
                <a:schemeClr val="dk1"/>
              </a:buClr>
              <a:buSzPts val="853"/>
              <a:buFont typeface="Arial"/>
              <a:buNone/>
            </a:pPr>
            <a:r>
              <a:rPr lang="en-US" sz="1030">
                <a:solidFill>
                  <a:schemeClr val="dk1"/>
                </a:solidFill>
                <a:latin typeface="Times New Roman"/>
                <a:ea typeface="Times New Roman"/>
                <a:cs typeface="Times New Roman"/>
                <a:sym typeface="Times New Roman"/>
              </a:rPr>
              <a:t>Sen, J., Mehtab, S., Dutta, A., &amp; Mondal, S. (2022). Hierarchical risk parity and minimum variance portfolio design on NIFTY 50 stocks. </a:t>
            </a:r>
            <a:r>
              <a:rPr i="1" lang="en-US" sz="1030">
                <a:solidFill>
                  <a:schemeClr val="dk1"/>
                </a:solidFill>
                <a:latin typeface="Times New Roman"/>
                <a:ea typeface="Times New Roman"/>
                <a:cs typeface="Times New Roman"/>
                <a:sym typeface="Times New Roman"/>
              </a:rPr>
              <a:t>arXiv (Cornell University)</a:t>
            </a:r>
            <a:r>
              <a:rPr lang="en-US" sz="1030">
                <a:solidFill>
                  <a:schemeClr val="dk1"/>
                </a:solidFill>
                <a:latin typeface="Times New Roman"/>
                <a:ea typeface="Times New Roman"/>
                <a:cs typeface="Times New Roman"/>
                <a:sym typeface="Times New Roman"/>
              </a:rPr>
              <a:t>. https://doi.org/10.48550/arxiv.2202.02728</a:t>
            </a:r>
            <a:endParaRPr sz="1700">
              <a:solidFill>
                <a:srgbClr val="1F272E"/>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36"/>
          <p:cNvSpPr/>
          <p:nvPr/>
        </p:nvSpPr>
        <p:spPr>
          <a:xfrm>
            <a:off x="0" y="0"/>
            <a:ext cx="12192000" cy="6858000"/>
          </a:xfrm>
          <a:prstGeom prst="rect">
            <a:avLst/>
          </a:prstGeom>
          <a:solidFill>
            <a:srgbClr val="F9FAF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45" name="Google Shape;545;p36"/>
          <p:cNvSpPr/>
          <p:nvPr/>
        </p:nvSpPr>
        <p:spPr>
          <a:xfrm>
            <a:off x="0" y="0"/>
            <a:ext cx="12192000" cy="63900"/>
          </a:xfrm>
          <a:prstGeom prst="rect">
            <a:avLst/>
          </a:prstGeom>
          <a:solidFill>
            <a:srgbClr val="E2003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image1.png" id="546" name="Google Shape;546;p36"/>
          <p:cNvPicPr preferRelativeResize="0"/>
          <p:nvPr/>
        </p:nvPicPr>
        <p:blipFill rotWithShape="1">
          <a:blip r:embed="rId3">
            <a:alphaModFix/>
          </a:blip>
          <a:srcRect b="0" l="0" r="0" t="0"/>
          <a:stretch/>
        </p:blipFill>
        <p:spPr>
          <a:xfrm>
            <a:off x="329184" y="182880"/>
            <a:ext cx="987551" cy="355660"/>
          </a:xfrm>
          <a:prstGeom prst="rect">
            <a:avLst/>
          </a:prstGeom>
          <a:noFill/>
          <a:ln>
            <a:noFill/>
          </a:ln>
        </p:spPr>
      </p:pic>
      <p:sp>
        <p:nvSpPr>
          <p:cNvPr id="547" name="Google Shape;547;p36"/>
          <p:cNvSpPr txBox="1"/>
          <p:nvPr/>
        </p:nvSpPr>
        <p:spPr>
          <a:xfrm>
            <a:off x="8641080" y="201168"/>
            <a:ext cx="3063300" cy="152400"/>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0" i="0" lang="en-US" sz="750" u="none" cap="none" strike="noStrike">
                <a:solidFill>
                  <a:srgbClr val="76808A"/>
                </a:solidFill>
                <a:latin typeface="Arial"/>
                <a:ea typeface="Arial"/>
                <a:cs typeface="Arial"/>
                <a:sym typeface="Arial"/>
              </a:rPr>
              <a:t>Risikobasierte Portfoliooptimierung mit GARCH-Modellen</a:t>
            </a:r>
            <a:endParaRPr/>
          </a:p>
        </p:txBody>
      </p:sp>
      <p:sp>
        <p:nvSpPr>
          <p:cNvPr id="548" name="Google Shape;548;p36"/>
          <p:cNvSpPr txBox="1"/>
          <p:nvPr/>
        </p:nvSpPr>
        <p:spPr>
          <a:xfrm>
            <a:off x="777240" y="786384"/>
            <a:ext cx="10287000" cy="48330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lang="en-US" sz="2900">
                <a:solidFill>
                  <a:srgbClr val="0F2D4B"/>
                </a:solidFill>
              </a:rPr>
              <a:t>Validierung - Monte Carlo</a:t>
            </a:r>
            <a:endParaRPr/>
          </a:p>
        </p:txBody>
      </p:sp>
      <p:sp>
        <p:nvSpPr>
          <p:cNvPr id="549" name="Google Shape;549;p36"/>
          <p:cNvSpPr/>
          <p:nvPr/>
        </p:nvSpPr>
        <p:spPr>
          <a:xfrm>
            <a:off x="777240" y="1307592"/>
            <a:ext cx="1005900" cy="45600"/>
          </a:xfrm>
          <a:prstGeom prst="rect">
            <a:avLst/>
          </a:prstGeom>
          <a:solidFill>
            <a:srgbClr val="E2003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50" name="Google Shape;550;p36"/>
          <p:cNvSpPr/>
          <p:nvPr/>
        </p:nvSpPr>
        <p:spPr>
          <a:xfrm>
            <a:off x="777240" y="6473952"/>
            <a:ext cx="10652700" cy="11100"/>
          </a:xfrm>
          <a:prstGeom prst="rect">
            <a:avLst/>
          </a:prstGeom>
          <a:solidFill>
            <a:srgbClr val="EEF1F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51" name="Google Shape;551;p36"/>
          <p:cNvSpPr txBox="1"/>
          <p:nvPr/>
        </p:nvSpPr>
        <p:spPr>
          <a:xfrm>
            <a:off x="11109960" y="6519672"/>
            <a:ext cx="320100" cy="160200"/>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0" i="0" lang="en-US" sz="800" u="none" cap="none" strike="noStrike">
                <a:solidFill>
                  <a:srgbClr val="76808A"/>
                </a:solidFill>
                <a:latin typeface="Arial"/>
                <a:ea typeface="Arial"/>
                <a:cs typeface="Arial"/>
                <a:sym typeface="Arial"/>
              </a:rPr>
              <a:t>15</a:t>
            </a:r>
            <a:endParaRPr/>
          </a:p>
        </p:txBody>
      </p:sp>
      <p:pic>
        <p:nvPicPr>
          <p:cNvPr id="552" name="Google Shape;552;p36" title="sharpe_bar_rf.png"/>
          <p:cNvPicPr preferRelativeResize="0"/>
          <p:nvPr/>
        </p:nvPicPr>
        <p:blipFill rotWithShape="1">
          <a:blip r:embed="rId4">
            <a:alphaModFix/>
          </a:blip>
          <a:srcRect b="0" l="0" r="0" t="0"/>
          <a:stretch/>
        </p:blipFill>
        <p:spPr>
          <a:xfrm>
            <a:off x="1042415" y="1600200"/>
            <a:ext cx="7653528" cy="4251960"/>
          </a:xfrm>
          <a:prstGeom prst="rect">
            <a:avLst/>
          </a:prstGeom>
          <a:noFill/>
          <a:ln cap="flat" cmpd="sng" w="9525">
            <a:solidFill>
              <a:srgbClr val="EEF1F4"/>
            </a:solidFill>
            <a:prstDash val="solid"/>
            <a:round/>
            <a:headEnd len="sm" w="sm" type="none"/>
            <a:tailEnd len="sm" w="sm" type="none"/>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37"/>
          <p:cNvSpPr/>
          <p:nvPr/>
        </p:nvSpPr>
        <p:spPr>
          <a:xfrm>
            <a:off x="0" y="0"/>
            <a:ext cx="12192000" cy="6858000"/>
          </a:xfrm>
          <a:prstGeom prst="rect">
            <a:avLst/>
          </a:prstGeom>
          <a:solidFill>
            <a:srgbClr val="F9FAF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58" name="Google Shape;558;p37"/>
          <p:cNvSpPr/>
          <p:nvPr/>
        </p:nvSpPr>
        <p:spPr>
          <a:xfrm>
            <a:off x="0" y="0"/>
            <a:ext cx="12192000" cy="63900"/>
          </a:xfrm>
          <a:prstGeom prst="rect">
            <a:avLst/>
          </a:prstGeom>
          <a:solidFill>
            <a:srgbClr val="E2003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image1.png" id="559" name="Google Shape;559;p37"/>
          <p:cNvPicPr preferRelativeResize="0"/>
          <p:nvPr/>
        </p:nvPicPr>
        <p:blipFill rotWithShape="1">
          <a:blip r:embed="rId3">
            <a:alphaModFix/>
          </a:blip>
          <a:srcRect b="0" l="0" r="0" t="0"/>
          <a:stretch/>
        </p:blipFill>
        <p:spPr>
          <a:xfrm>
            <a:off x="329184" y="182880"/>
            <a:ext cx="987551" cy="355660"/>
          </a:xfrm>
          <a:prstGeom prst="rect">
            <a:avLst/>
          </a:prstGeom>
          <a:noFill/>
          <a:ln>
            <a:noFill/>
          </a:ln>
        </p:spPr>
      </p:pic>
      <p:sp>
        <p:nvSpPr>
          <p:cNvPr id="560" name="Google Shape;560;p37"/>
          <p:cNvSpPr txBox="1"/>
          <p:nvPr/>
        </p:nvSpPr>
        <p:spPr>
          <a:xfrm>
            <a:off x="8641080" y="201168"/>
            <a:ext cx="3063300" cy="152400"/>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0" i="0" lang="en-US" sz="750" u="none" cap="none" strike="noStrike">
                <a:solidFill>
                  <a:srgbClr val="76808A"/>
                </a:solidFill>
                <a:latin typeface="Arial"/>
                <a:ea typeface="Arial"/>
                <a:cs typeface="Arial"/>
                <a:sym typeface="Arial"/>
              </a:rPr>
              <a:t>Risikobasierte Portfoliooptimierung mit GARCH-Modellen</a:t>
            </a:r>
            <a:endParaRPr/>
          </a:p>
        </p:txBody>
      </p:sp>
      <p:sp>
        <p:nvSpPr>
          <p:cNvPr id="561" name="Google Shape;561;p37"/>
          <p:cNvSpPr txBox="1"/>
          <p:nvPr/>
        </p:nvSpPr>
        <p:spPr>
          <a:xfrm>
            <a:off x="777240" y="786384"/>
            <a:ext cx="10287000" cy="48330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lang="en-US" sz="2900">
                <a:solidFill>
                  <a:srgbClr val="0F2D4B"/>
                </a:solidFill>
              </a:rPr>
              <a:t>Validierung - Garch</a:t>
            </a:r>
            <a:endParaRPr/>
          </a:p>
        </p:txBody>
      </p:sp>
      <p:sp>
        <p:nvSpPr>
          <p:cNvPr id="562" name="Google Shape;562;p37"/>
          <p:cNvSpPr/>
          <p:nvPr/>
        </p:nvSpPr>
        <p:spPr>
          <a:xfrm>
            <a:off x="777240" y="1307592"/>
            <a:ext cx="1005900" cy="45600"/>
          </a:xfrm>
          <a:prstGeom prst="rect">
            <a:avLst/>
          </a:prstGeom>
          <a:solidFill>
            <a:srgbClr val="E2003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63" name="Google Shape;563;p37"/>
          <p:cNvSpPr/>
          <p:nvPr/>
        </p:nvSpPr>
        <p:spPr>
          <a:xfrm>
            <a:off x="777240" y="6473952"/>
            <a:ext cx="10652700" cy="11100"/>
          </a:xfrm>
          <a:prstGeom prst="rect">
            <a:avLst/>
          </a:prstGeom>
          <a:solidFill>
            <a:srgbClr val="EEF1F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64" name="Google Shape;564;p37"/>
          <p:cNvSpPr txBox="1"/>
          <p:nvPr/>
        </p:nvSpPr>
        <p:spPr>
          <a:xfrm>
            <a:off x="11109960" y="6519672"/>
            <a:ext cx="320100" cy="160200"/>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0" i="0" lang="en-US" sz="800" u="none" cap="none" strike="noStrike">
                <a:solidFill>
                  <a:srgbClr val="76808A"/>
                </a:solidFill>
                <a:latin typeface="Arial"/>
                <a:ea typeface="Arial"/>
                <a:cs typeface="Arial"/>
                <a:sym typeface="Arial"/>
              </a:rPr>
              <a:t>15</a:t>
            </a:r>
            <a:endParaRPr/>
          </a:p>
        </p:txBody>
      </p:sp>
      <p:pic>
        <p:nvPicPr>
          <p:cNvPr id="565" name="Google Shape;565;p37" title="sharpe_bar_rf.png"/>
          <p:cNvPicPr preferRelativeResize="0"/>
          <p:nvPr/>
        </p:nvPicPr>
        <p:blipFill rotWithShape="1">
          <a:blip r:embed="rId4">
            <a:alphaModFix/>
          </a:blip>
          <a:srcRect b="0" l="0" r="0" t="0"/>
          <a:stretch/>
        </p:blipFill>
        <p:spPr>
          <a:xfrm>
            <a:off x="1042415" y="1600200"/>
            <a:ext cx="7653528" cy="4251960"/>
          </a:xfrm>
          <a:prstGeom prst="rect">
            <a:avLst/>
          </a:prstGeom>
          <a:noFill/>
          <a:ln cap="flat" cmpd="sng" w="9525">
            <a:solidFill>
              <a:srgbClr val="EEF1F4"/>
            </a:solidFill>
            <a:prstDash val="solid"/>
            <a:round/>
            <a:headEnd len="sm" w="sm" type="none"/>
            <a:tailEnd len="sm" w="sm" type="none"/>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38"/>
          <p:cNvSpPr/>
          <p:nvPr/>
        </p:nvSpPr>
        <p:spPr>
          <a:xfrm>
            <a:off x="0" y="0"/>
            <a:ext cx="12192000" cy="6858000"/>
          </a:xfrm>
          <a:prstGeom prst="rect">
            <a:avLst/>
          </a:prstGeom>
          <a:solidFill>
            <a:srgbClr val="F9FAF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71" name="Google Shape;571;p38"/>
          <p:cNvSpPr/>
          <p:nvPr/>
        </p:nvSpPr>
        <p:spPr>
          <a:xfrm>
            <a:off x="0" y="0"/>
            <a:ext cx="12192000" cy="63900"/>
          </a:xfrm>
          <a:prstGeom prst="rect">
            <a:avLst/>
          </a:prstGeom>
          <a:solidFill>
            <a:srgbClr val="E2003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image1.png" id="572" name="Google Shape;572;p38"/>
          <p:cNvPicPr preferRelativeResize="0"/>
          <p:nvPr/>
        </p:nvPicPr>
        <p:blipFill rotWithShape="1">
          <a:blip r:embed="rId3">
            <a:alphaModFix/>
          </a:blip>
          <a:srcRect b="0" l="0" r="0" t="0"/>
          <a:stretch/>
        </p:blipFill>
        <p:spPr>
          <a:xfrm>
            <a:off x="329184" y="182880"/>
            <a:ext cx="987551" cy="355660"/>
          </a:xfrm>
          <a:prstGeom prst="rect">
            <a:avLst/>
          </a:prstGeom>
          <a:noFill/>
          <a:ln>
            <a:noFill/>
          </a:ln>
        </p:spPr>
      </p:pic>
      <p:sp>
        <p:nvSpPr>
          <p:cNvPr id="573" name="Google Shape;573;p38"/>
          <p:cNvSpPr txBox="1"/>
          <p:nvPr/>
        </p:nvSpPr>
        <p:spPr>
          <a:xfrm>
            <a:off x="8641080" y="201168"/>
            <a:ext cx="3063300" cy="152400"/>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0" i="0" lang="en-US" sz="750" u="none" cap="none" strike="noStrike">
                <a:solidFill>
                  <a:srgbClr val="76808A"/>
                </a:solidFill>
                <a:latin typeface="Arial"/>
                <a:ea typeface="Arial"/>
                <a:cs typeface="Arial"/>
                <a:sym typeface="Arial"/>
              </a:rPr>
              <a:t>Risikobasierte Portfoliooptimierung mit GARCH-Modellen</a:t>
            </a:r>
            <a:endParaRPr/>
          </a:p>
        </p:txBody>
      </p:sp>
      <p:sp>
        <p:nvSpPr>
          <p:cNvPr id="574" name="Google Shape;574;p38"/>
          <p:cNvSpPr txBox="1"/>
          <p:nvPr/>
        </p:nvSpPr>
        <p:spPr>
          <a:xfrm>
            <a:off x="777240" y="786384"/>
            <a:ext cx="10287000" cy="48330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lang="en-US" sz="2900">
                <a:solidFill>
                  <a:srgbClr val="0F2D4B"/>
                </a:solidFill>
              </a:rPr>
              <a:t>Validierung - DCC-Garch</a:t>
            </a:r>
            <a:endParaRPr/>
          </a:p>
        </p:txBody>
      </p:sp>
      <p:sp>
        <p:nvSpPr>
          <p:cNvPr id="575" name="Google Shape;575;p38"/>
          <p:cNvSpPr/>
          <p:nvPr/>
        </p:nvSpPr>
        <p:spPr>
          <a:xfrm>
            <a:off x="777240" y="1307592"/>
            <a:ext cx="1005900" cy="45600"/>
          </a:xfrm>
          <a:prstGeom prst="rect">
            <a:avLst/>
          </a:prstGeom>
          <a:solidFill>
            <a:srgbClr val="E2003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76" name="Google Shape;576;p38"/>
          <p:cNvSpPr/>
          <p:nvPr/>
        </p:nvSpPr>
        <p:spPr>
          <a:xfrm>
            <a:off x="777240" y="6473952"/>
            <a:ext cx="10652700" cy="11100"/>
          </a:xfrm>
          <a:prstGeom prst="rect">
            <a:avLst/>
          </a:prstGeom>
          <a:solidFill>
            <a:srgbClr val="EEF1F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77" name="Google Shape;577;p38"/>
          <p:cNvSpPr txBox="1"/>
          <p:nvPr/>
        </p:nvSpPr>
        <p:spPr>
          <a:xfrm>
            <a:off x="11109960" y="6519672"/>
            <a:ext cx="320100" cy="160200"/>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0" i="0" lang="en-US" sz="800" u="none" cap="none" strike="noStrike">
                <a:solidFill>
                  <a:srgbClr val="76808A"/>
                </a:solidFill>
                <a:latin typeface="Arial"/>
                <a:ea typeface="Arial"/>
                <a:cs typeface="Arial"/>
                <a:sym typeface="Arial"/>
              </a:rPr>
              <a:t>15</a:t>
            </a:r>
            <a:endParaRPr/>
          </a:p>
        </p:txBody>
      </p:sp>
      <p:pic>
        <p:nvPicPr>
          <p:cNvPr id="578" name="Google Shape;578;p38" title="sharpe_bar_rf.png"/>
          <p:cNvPicPr preferRelativeResize="0"/>
          <p:nvPr/>
        </p:nvPicPr>
        <p:blipFill rotWithShape="1">
          <a:blip r:embed="rId4">
            <a:alphaModFix/>
          </a:blip>
          <a:srcRect b="0" l="0" r="0" t="0"/>
          <a:stretch/>
        </p:blipFill>
        <p:spPr>
          <a:xfrm>
            <a:off x="1042415" y="1600200"/>
            <a:ext cx="7653528" cy="4251960"/>
          </a:xfrm>
          <a:prstGeom prst="rect">
            <a:avLst/>
          </a:prstGeom>
          <a:noFill/>
          <a:ln cap="flat" cmpd="sng" w="9525">
            <a:solidFill>
              <a:srgbClr val="EEF1F4"/>
            </a:solidFill>
            <a:prstDash val="solid"/>
            <a:round/>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